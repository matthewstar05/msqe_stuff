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2" r:id="rId7"/>
    <p:sldId id="263" r:id="rId8"/>
    <p:sldId id="270" r:id="rId9"/>
    <p:sldId id="271" r:id="rId10"/>
    <p:sldId id="274" r:id="rId11"/>
    <p:sldId id="265" r:id="rId12"/>
    <p:sldId id="276" r:id="rId13"/>
    <p:sldId id="264" r:id="rId14"/>
    <p:sldId id="266" r:id="rId15"/>
    <p:sldId id="267" r:id="rId16"/>
    <p:sldId id="305" r:id="rId17"/>
    <p:sldId id="303" r:id="rId18"/>
    <p:sldId id="268" r:id="rId19"/>
    <p:sldId id="269" r:id="rId20"/>
    <p:sldId id="307" r:id="rId21"/>
    <p:sldId id="277" r:id="rId22"/>
    <p:sldId id="279" r:id="rId23"/>
    <p:sldId id="278" r:id="rId24"/>
    <p:sldId id="280" r:id="rId25"/>
    <p:sldId id="308"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304" r:id="rId44"/>
    <p:sldId id="275" r:id="rId45"/>
    <p:sldId id="298" r:id="rId46"/>
    <p:sldId id="299" r:id="rId47"/>
    <p:sldId id="300" r:id="rId48"/>
    <p:sldId id="302" r:id="rId49"/>
    <p:sldId id="301"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B8F2D-E2CE-40B7-BC41-BC458DF3E68D}" v="3" dt="2024-11-12T18:45:03.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6" autoAdjust="0"/>
    <p:restoredTop sz="94660"/>
  </p:normalViewPr>
  <p:slideViewPr>
    <p:cSldViewPr snapToGrid="0">
      <p:cViewPr varScale="1">
        <p:scale>
          <a:sx n="67" d="100"/>
          <a:sy n="67" d="100"/>
        </p:scale>
        <p:origin x="42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c P. Shafran" userId="b021f175-2a5f-4649-9d0b-6ba6b924ac79" providerId="ADAL" clId="{1C0B8F2D-E2CE-40B7-BC41-BC458DF3E68D}"/>
    <pc:docChg chg="undo custSel addSld delSld modSld">
      <pc:chgData name="Aric P. Shafran" userId="b021f175-2a5f-4649-9d0b-6ba6b924ac79" providerId="ADAL" clId="{1C0B8F2D-E2CE-40B7-BC41-BC458DF3E68D}" dt="2024-11-12T18:50:02.498" v="68" actId="20577"/>
      <pc:docMkLst>
        <pc:docMk/>
      </pc:docMkLst>
      <pc:sldChg chg="addSp delSp mod">
        <pc:chgData name="Aric P. Shafran" userId="b021f175-2a5f-4649-9d0b-6ba6b924ac79" providerId="ADAL" clId="{1C0B8F2D-E2CE-40B7-BC41-BC458DF3E68D}" dt="2024-11-12T18:40:47.803" v="1" actId="22"/>
        <pc:sldMkLst>
          <pc:docMk/>
          <pc:sldMk cId="3525817023" sldId="269"/>
        </pc:sldMkLst>
        <pc:spChg chg="add del">
          <ac:chgData name="Aric P. Shafran" userId="b021f175-2a5f-4649-9d0b-6ba6b924ac79" providerId="ADAL" clId="{1C0B8F2D-E2CE-40B7-BC41-BC458DF3E68D}" dt="2024-11-12T18:40:47.803" v="1" actId="22"/>
          <ac:spMkLst>
            <pc:docMk/>
            <pc:sldMk cId="3525817023" sldId="269"/>
            <ac:spMk id="5" creationId="{C8B8F797-83FF-34B2-86F0-1051A9C00540}"/>
          </ac:spMkLst>
        </pc:spChg>
      </pc:sldChg>
      <pc:sldChg chg="new del">
        <pc:chgData name="Aric P. Shafran" userId="b021f175-2a5f-4649-9d0b-6ba6b924ac79" providerId="ADAL" clId="{1C0B8F2D-E2CE-40B7-BC41-BC458DF3E68D}" dt="2024-11-12T18:41:05.651" v="4" actId="47"/>
        <pc:sldMkLst>
          <pc:docMk/>
          <pc:sldMk cId="324320121" sldId="306"/>
        </pc:sldMkLst>
      </pc:sldChg>
      <pc:sldChg chg="add">
        <pc:chgData name="Aric P. Shafran" userId="b021f175-2a5f-4649-9d0b-6ba6b924ac79" providerId="ADAL" clId="{1C0B8F2D-E2CE-40B7-BC41-BC458DF3E68D}" dt="2024-11-12T18:41:03.410" v="3"/>
        <pc:sldMkLst>
          <pc:docMk/>
          <pc:sldMk cId="143607820" sldId="307"/>
        </pc:sldMkLst>
      </pc:sldChg>
      <pc:sldChg chg="addSp modSp add mod">
        <pc:chgData name="Aric P. Shafran" userId="b021f175-2a5f-4649-9d0b-6ba6b924ac79" providerId="ADAL" clId="{1C0B8F2D-E2CE-40B7-BC41-BC458DF3E68D}" dt="2024-11-12T18:50:02.498" v="68" actId="20577"/>
        <pc:sldMkLst>
          <pc:docMk/>
          <pc:sldMk cId="2034121723" sldId="308"/>
        </pc:sldMkLst>
        <pc:spChg chg="add mod">
          <ac:chgData name="Aric P. Shafran" userId="b021f175-2a5f-4649-9d0b-6ba6b924ac79" providerId="ADAL" clId="{1C0B8F2D-E2CE-40B7-BC41-BC458DF3E68D}" dt="2024-11-12T18:50:02.498" v="68" actId="20577"/>
          <ac:spMkLst>
            <pc:docMk/>
            <pc:sldMk cId="2034121723" sldId="308"/>
            <ac:spMk id="3" creationId="{41FF14CC-3BEB-6A62-3AF8-AB0A5FE33C8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7DB0A9-72C4-435F-8C35-2A5BCDB5ABE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9104CB-6993-457F-AF9A-81D87E13229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022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7DB0A9-72C4-435F-8C35-2A5BCDB5ABE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2302344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7DB0A9-72C4-435F-8C35-2A5BCDB5ABE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9104CB-6993-457F-AF9A-81D87E13229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562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7DB0A9-72C4-435F-8C35-2A5BCDB5ABE3}"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519949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7DB0A9-72C4-435F-8C35-2A5BCDB5ABE3}"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3570858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7DB0A9-72C4-435F-8C35-2A5BCDB5ABE3}"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3591502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C7DB0A9-72C4-435F-8C35-2A5BCDB5ABE3}" type="datetimeFigureOut">
              <a:rPr lang="en-US" smtClean="0"/>
              <a:t>11/12/2024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587958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C7DB0A9-72C4-435F-8C35-2A5BCDB5ABE3}" type="datetimeFigureOut">
              <a:rPr lang="en-US" smtClean="0"/>
              <a:t>11/12/2024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E9104CB-6993-457F-AF9A-81D87E132292}" type="slidenum">
              <a:rPr lang="en-US" smtClean="0"/>
              <a:t>‹#›</a:t>
            </a:fld>
            <a:endParaRPr lang="en-US"/>
          </a:p>
        </p:txBody>
      </p:sp>
    </p:spTree>
    <p:extLst>
      <p:ext uri="{BB962C8B-B14F-4D97-AF65-F5344CB8AC3E}">
        <p14:creationId xmlns:p14="http://schemas.microsoft.com/office/powerpoint/2010/main" val="3365240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7DB0A9-72C4-435F-8C35-2A5BCDB5ABE3}"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3882884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7DB0A9-72C4-435F-8C35-2A5BCDB5ABE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4212043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7DB0A9-72C4-435F-8C35-2A5BCDB5ABE3}"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9104CB-6993-457F-AF9A-81D87E132292}" type="slidenum">
              <a:rPr lang="en-US" smtClean="0"/>
              <a:t>‹#›</a:t>
            </a:fld>
            <a:endParaRPr lang="en-US"/>
          </a:p>
        </p:txBody>
      </p:sp>
    </p:spTree>
    <p:extLst>
      <p:ext uri="{BB962C8B-B14F-4D97-AF65-F5344CB8AC3E}">
        <p14:creationId xmlns:p14="http://schemas.microsoft.com/office/powerpoint/2010/main" val="1484794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C7DB0A9-72C4-435F-8C35-2A5BCDB5ABE3}" type="datetimeFigureOut">
              <a:rPr lang="en-US" smtClean="0"/>
              <a:t>11/12/2024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E9104CB-6993-457F-AF9A-81D87E13229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253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Databases</a:t>
            </a:r>
          </a:p>
        </p:txBody>
      </p:sp>
      <p:sp>
        <p:nvSpPr>
          <p:cNvPr id="3" name="Subtitle 2"/>
          <p:cNvSpPr>
            <a:spLocks noGrp="1"/>
          </p:cNvSpPr>
          <p:nvPr>
            <p:ph type="subTitle" idx="1"/>
          </p:nvPr>
        </p:nvSpPr>
        <p:spPr/>
        <p:txBody>
          <a:bodyPr/>
          <a:lstStyle/>
          <a:p>
            <a:r>
              <a:rPr lang="en-US" dirty="0"/>
              <a:t>Econ 524</a:t>
            </a:r>
          </a:p>
        </p:txBody>
      </p:sp>
    </p:spTree>
    <p:extLst>
      <p:ext uri="{BB962C8B-B14F-4D97-AF65-F5344CB8AC3E}">
        <p14:creationId xmlns:p14="http://schemas.microsoft.com/office/powerpoint/2010/main" val="96133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database?</a:t>
            </a:r>
          </a:p>
        </p:txBody>
      </p:sp>
      <p:sp>
        <p:nvSpPr>
          <p:cNvPr id="3" name="Content Placeholder 2"/>
          <p:cNvSpPr>
            <a:spLocks noGrp="1"/>
          </p:cNvSpPr>
          <p:nvPr>
            <p:ph idx="1"/>
          </p:nvPr>
        </p:nvSpPr>
        <p:spPr/>
        <p:txBody>
          <a:bodyPr/>
          <a:lstStyle/>
          <a:p>
            <a:r>
              <a:rPr lang="en-US" dirty="0"/>
              <a:t>A database is structured way of storing large amounts of data that is fast, secure, and reliable.</a:t>
            </a:r>
          </a:p>
          <a:p>
            <a:r>
              <a:rPr lang="en-US" dirty="0"/>
              <a:t>Databases are used everywhere:</a:t>
            </a:r>
          </a:p>
          <a:p>
            <a:pPr lvl="1"/>
            <a:r>
              <a:rPr lang="en-US" dirty="0"/>
              <a:t>sales</a:t>
            </a:r>
          </a:p>
          <a:p>
            <a:pPr lvl="1"/>
            <a:r>
              <a:rPr lang="en-US" dirty="0"/>
              <a:t>employees</a:t>
            </a:r>
          </a:p>
          <a:p>
            <a:pPr lvl="1"/>
            <a:r>
              <a:rPr lang="en-US" dirty="0"/>
              <a:t>customer info</a:t>
            </a:r>
          </a:p>
          <a:p>
            <a:pPr lvl="1"/>
            <a:r>
              <a:rPr lang="en-US" dirty="0"/>
              <a:t>course registration at Cal Poly</a:t>
            </a:r>
          </a:p>
          <a:p>
            <a:pPr lvl="1"/>
            <a:r>
              <a:rPr lang="en-US" dirty="0"/>
              <a:t>student directory at Cal Poly</a:t>
            </a:r>
          </a:p>
          <a:p>
            <a:pPr lvl="1"/>
            <a:r>
              <a:rPr lang="en-US" dirty="0"/>
              <a:t>etc. </a:t>
            </a:r>
          </a:p>
        </p:txBody>
      </p:sp>
    </p:spTree>
    <p:extLst>
      <p:ext uri="{BB962C8B-B14F-4D97-AF65-F5344CB8AC3E}">
        <p14:creationId xmlns:p14="http://schemas.microsoft.com/office/powerpoint/2010/main" val="3994936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database?</a:t>
            </a:r>
          </a:p>
        </p:txBody>
      </p:sp>
      <p:sp>
        <p:nvSpPr>
          <p:cNvPr id="3" name="Content Placeholder 2"/>
          <p:cNvSpPr>
            <a:spLocks noGrp="1"/>
          </p:cNvSpPr>
          <p:nvPr>
            <p:ph idx="1"/>
          </p:nvPr>
        </p:nvSpPr>
        <p:spPr/>
        <p:txBody>
          <a:bodyPr/>
          <a:lstStyle/>
          <a:p>
            <a:r>
              <a:rPr lang="en-US" dirty="0"/>
              <a:t>A database consists of one or more tables.</a:t>
            </a:r>
          </a:p>
          <a:p>
            <a:r>
              <a:rPr lang="en-US" dirty="0"/>
              <a:t>Each table has a set of fields that define the kind of data stored in the table.</a:t>
            </a:r>
          </a:p>
          <a:p>
            <a:r>
              <a:rPr lang="en-US" dirty="0"/>
              <a:t>Each table has records which are the actual data – a record has entries for the various fields.</a:t>
            </a:r>
          </a:p>
          <a:p>
            <a:r>
              <a:rPr lang="en-US" dirty="0"/>
              <a:t>A table is like a data frame.  The columns of the data frame are like fields and the rows are like records.</a:t>
            </a:r>
          </a:p>
          <a:p>
            <a:r>
              <a:rPr lang="en-US" dirty="0"/>
              <a:t>Two or more tables can be linked through the use of “keys” or ID’s that link records in one table to records in another table.</a:t>
            </a:r>
          </a:p>
          <a:p>
            <a:endParaRPr lang="en-US" dirty="0"/>
          </a:p>
        </p:txBody>
      </p:sp>
    </p:spTree>
    <p:extLst>
      <p:ext uri="{BB962C8B-B14F-4D97-AF65-F5344CB8AC3E}">
        <p14:creationId xmlns:p14="http://schemas.microsoft.com/office/powerpoint/2010/main" val="1983374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Amazon</a:t>
            </a:r>
          </a:p>
        </p:txBody>
      </p:sp>
      <p:sp>
        <p:nvSpPr>
          <p:cNvPr id="3" name="Content Placeholder 2"/>
          <p:cNvSpPr>
            <a:spLocks noGrp="1"/>
          </p:cNvSpPr>
          <p:nvPr>
            <p:ph idx="1"/>
          </p:nvPr>
        </p:nvSpPr>
        <p:spPr/>
        <p:txBody>
          <a:bodyPr>
            <a:normAutofit/>
          </a:bodyPr>
          <a:lstStyle/>
          <a:p>
            <a:r>
              <a:rPr lang="en-US" dirty="0"/>
              <a:t>Amazon might have 1 table for its orders.  This table has fields for </a:t>
            </a:r>
            <a:r>
              <a:rPr lang="en-US" dirty="0" err="1"/>
              <a:t>orderID</a:t>
            </a:r>
            <a:r>
              <a:rPr lang="en-US" dirty="0"/>
              <a:t>, </a:t>
            </a:r>
            <a:r>
              <a:rPr lang="en-US" dirty="0" err="1"/>
              <a:t>customerID</a:t>
            </a:r>
            <a:r>
              <a:rPr lang="en-US" dirty="0"/>
              <a:t>, </a:t>
            </a:r>
            <a:r>
              <a:rPr lang="en-US" dirty="0" err="1"/>
              <a:t>itemID</a:t>
            </a:r>
            <a:r>
              <a:rPr lang="en-US" dirty="0"/>
              <a:t>, price, tax, </a:t>
            </a:r>
            <a:r>
              <a:rPr lang="en-US" dirty="0" err="1"/>
              <a:t>shippingcost</a:t>
            </a:r>
            <a:r>
              <a:rPr lang="en-US" dirty="0"/>
              <a:t>,, </a:t>
            </a:r>
            <a:r>
              <a:rPr lang="en-US" dirty="0" err="1"/>
              <a:t>shippingdate</a:t>
            </a:r>
            <a:r>
              <a:rPr lang="en-US" dirty="0"/>
              <a:t>.</a:t>
            </a:r>
          </a:p>
          <a:p>
            <a:r>
              <a:rPr lang="en-US" dirty="0"/>
              <a:t>There might be another table for customers.  This table has fields for </a:t>
            </a:r>
            <a:r>
              <a:rPr lang="en-US" dirty="0" err="1"/>
              <a:t>customerID</a:t>
            </a:r>
            <a:r>
              <a:rPr lang="en-US" dirty="0"/>
              <a:t>, name, email, address.</a:t>
            </a:r>
          </a:p>
          <a:p>
            <a:r>
              <a:rPr lang="en-US" dirty="0"/>
              <a:t>A user may want to lookup an order by </a:t>
            </a:r>
            <a:r>
              <a:rPr lang="en-US" dirty="0" err="1"/>
              <a:t>orderID</a:t>
            </a:r>
            <a:r>
              <a:rPr lang="en-US" dirty="0"/>
              <a:t> to see if it has shipped.  That lookup only uses the orders table.</a:t>
            </a:r>
          </a:p>
          <a:p>
            <a:r>
              <a:rPr lang="en-US" dirty="0"/>
              <a:t>A user may want to lookup all orders places by a customer given their e-mail.  That lookup uses both orders and customers table, which are linked by the </a:t>
            </a:r>
            <a:r>
              <a:rPr lang="en-US" dirty="0" err="1"/>
              <a:t>customerID</a:t>
            </a:r>
            <a:r>
              <a:rPr lang="en-US" dirty="0"/>
              <a:t> field.</a:t>
            </a:r>
          </a:p>
          <a:p>
            <a:r>
              <a:rPr lang="en-US" dirty="0"/>
              <a:t>Note that we intentionally don’t store all the customer data (name, email, address) in the orders table because there are many orders for each customer (many:1 relationship) and we don’t want to repeat the same data over and over again in the orders table.  </a:t>
            </a:r>
          </a:p>
        </p:txBody>
      </p:sp>
    </p:spTree>
    <p:extLst>
      <p:ext uri="{BB962C8B-B14F-4D97-AF65-F5344CB8AC3E}">
        <p14:creationId xmlns:p14="http://schemas.microsoft.com/office/powerpoint/2010/main" val="2459874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Amazon</a:t>
            </a:r>
          </a:p>
        </p:txBody>
      </p:sp>
      <p:sp>
        <p:nvSpPr>
          <p:cNvPr id="3" name="Content Placeholder 2"/>
          <p:cNvSpPr>
            <a:spLocks noGrp="1"/>
          </p:cNvSpPr>
          <p:nvPr>
            <p:ph idx="1"/>
          </p:nvPr>
        </p:nvSpPr>
        <p:spPr/>
        <p:txBody>
          <a:bodyPr>
            <a:normAutofit/>
          </a:bodyPr>
          <a:lstStyle/>
          <a:p>
            <a:r>
              <a:rPr lang="en-US" dirty="0"/>
              <a:t>Databases may be very large.  There could be billions of orders for millions of customers.</a:t>
            </a:r>
          </a:p>
          <a:p>
            <a:r>
              <a:rPr lang="en-US" dirty="0"/>
              <a:t>It would be very </a:t>
            </a:r>
            <a:r>
              <a:rPr lang="en-US" dirty="0" err="1"/>
              <a:t>very</a:t>
            </a:r>
            <a:r>
              <a:rPr lang="en-US" dirty="0"/>
              <a:t> slow to store this kind of data in a spreadsheet and have to scan the whole file looking for an </a:t>
            </a:r>
            <a:r>
              <a:rPr lang="en-US" dirty="0" err="1"/>
              <a:t>orderID</a:t>
            </a:r>
            <a:r>
              <a:rPr lang="en-US" dirty="0"/>
              <a:t> or </a:t>
            </a:r>
            <a:r>
              <a:rPr lang="en-US" dirty="0" err="1"/>
              <a:t>customerID</a:t>
            </a:r>
            <a:r>
              <a:rPr lang="en-US" dirty="0"/>
              <a:t> for every new query.</a:t>
            </a:r>
          </a:p>
          <a:p>
            <a:r>
              <a:rPr lang="en-US" dirty="0"/>
              <a:t>Databases offer a fast way to do these kinds of lookups especially when using a pre-defined key like </a:t>
            </a:r>
            <a:r>
              <a:rPr lang="en-US" dirty="0" err="1"/>
              <a:t>customerID</a:t>
            </a:r>
            <a:r>
              <a:rPr lang="en-US" dirty="0"/>
              <a:t> or </a:t>
            </a:r>
            <a:r>
              <a:rPr lang="en-US" dirty="0" err="1"/>
              <a:t>orderID</a:t>
            </a:r>
            <a:r>
              <a:rPr lang="en-US" dirty="0"/>
              <a:t> to do the lookup.</a:t>
            </a:r>
          </a:p>
        </p:txBody>
      </p:sp>
    </p:spTree>
    <p:extLst>
      <p:ext uri="{BB962C8B-B14F-4D97-AF65-F5344CB8AC3E}">
        <p14:creationId xmlns:p14="http://schemas.microsoft.com/office/powerpoint/2010/main" val="2854770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in economics?</a:t>
            </a:r>
          </a:p>
        </p:txBody>
      </p:sp>
      <p:sp>
        <p:nvSpPr>
          <p:cNvPr id="3" name="Content Placeholder 2"/>
          <p:cNvSpPr>
            <a:spLocks noGrp="1"/>
          </p:cNvSpPr>
          <p:nvPr>
            <p:ph idx="1"/>
          </p:nvPr>
        </p:nvSpPr>
        <p:spPr/>
        <p:txBody>
          <a:bodyPr/>
          <a:lstStyle/>
          <a:p>
            <a:r>
              <a:rPr lang="en-US" dirty="0"/>
              <a:t>As noted above, it is common for companies to have their data stored in databases.  </a:t>
            </a:r>
          </a:p>
          <a:p>
            <a:r>
              <a:rPr lang="en-US" dirty="0"/>
              <a:t>For economics analysis of data, you will need to run queries on the database to access the data you need for your analysis.</a:t>
            </a:r>
          </a:p>
          <a:p>
            <a:r>
              <a:rPr lang="en-US" dirty="0"/>
              <a:t>For example, your company might ask you to write a program that does some kind of forecast based on prior data. So, your program would query the database to get most recent data and then perform the statistical analysis. Then the forecast could be updated each month using the same queries to analyze the new data.  </a:t>
            </a:r>
          </a:p>
        </p:txBody>
      </p:sp>
    </p:spTree>
    <p:extLst>
      <p:ext uri="{BB962C8B-B14F-4D97-AF65-F5344CB8AC3E}">
        <p14:creationId xmlns:p14="http://schemas.microsoft.com/office/powerpoint/2010/main" val="1649768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a:t>
            </a:r>
          </a:p>
        </p:txBody>
      </p:sp>
      <p:sp>
        <p:nvSpPr>
          <p:cNvPr id="3" name="Content Placeholder 2"/>
          <p:cNvSpPr>
            <a:spLocks noGrp="1"/>
          </p:cNvSpPr>
          <p:nvPr>
            <p:ph idx="1"/>
          </p:nvPr>
        </p:nvSpPr>
        <p:spPr/>
        <p:txBody>
          <a:bodyPr/>
          <a:lstStyle/>
          <a:p>
            <a:r>
              <a:rPr lang="en-US" dirty="0"/>
              <a:t>Database design is beyond the scope of this class.  It involves a lot of knowledge about how databases are optimized for fast lookups.</a:t>
            </a:r>
          </a:p>
          <a:p>
            <a:r>
              <a:rPr lang="en-US" dirty="0"/>
              <a:t>We will focus mostly on running queries to retrieve selected records from a database.</a:t>
            </a:r>
          </a:p>
          <a:p>
            <a:r>
              <a:rPr lang="en-US" dirty="0"/>
              <a:t>The language that is used to do this is called Structured Query Language (SQL)</a:t>
            </a:r>
          </a:p>
        </p:txBody>
      </p:sp>
    </p:spTree>
    <p:extLst>
      <p:ext uri="{BB962C8B-B14F-4D97-AF65-F5344CB8AC3E}">
        <p14:creationId xmlns:p14="http://schemas.microsoft.com/office/powerpoint/2010/main" val="398364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in Python</a:t>
            </a:r>
          </a:p>
        </p:txBody>
      </p:sp>
      <p:sp>
        <p:nvSpPr>
          <p:cNvPr id="3" name="Content Placeholder 2"/>
          <p:cNvSpPr>
            <a:spLocks noGrp="1"/>
          </p:cNvSpPr>
          <p:nvPr>
            <p:ph idx="1"/>
          </p:nvPr>
        </p:nvSpPr>
        <p:spPr/>
        <p:txBody>
          <a:bodyPr>
            <a:normAutofit fontScale="85000" lnSpcReduction="10000"/>
          </a:bodyPr>
          <a:lstStyle/>
          <a:p>
            <a:r>
              <a:rPr lang="en-US" dirty="0"/>
              <a:t>SQL is a standard language for querying a database that works for most databases (Oracle, MySQL, SQLite, etc.)</a:t>
            </a:r>
          </a:p>
          <a:p>
            <a:r>
              <a:rPr lang="en-US" dirty="0"/>
              <a:t>In Python, there are different modules that are used to interface with different kinds of databases.  Although the syntax may differ slightly, the basic idea is that you first connect to the database and create a database connection object in Python.  Then you create a cursor object, which is used to execute your SQL queries.  </a:t>
            </a:r>
          </a:p>
          <a:p>
            <a:r>
              <a:rPr lang="en-US" dirty="0"/>
              <a:t>I will use SQLite for our database because it is simple and it is installed already with Anaconda/Python.  It runs from a file rather than connecting to a server.   I am using SQLite because it is the easiest way to teach the SQL language but the same queries can be used for other databases you may encounter. </a:t>
            </a:r>
          </a:p>
          <a:p>
            <a:r>
              <a:rPr lang="en-US" dirty="0"/>
              <a:t>If you have to connect with other databases, the main difference between the examples here will be how you connect to the database. </a:t>
            </a:r>
          </a:p>
          <a:p>
            <a:pPr lvl="1"/>
            <a:r>
              <a:rPr lang="en-US" dirty="0"/>
              <a:t>If you have already written code to query a SQLite database, only small changes are needed to instead query a MySQL database.</a:t>
            </a:r>
          </a:p>
          <a:p>
            <a:pPr lvl="1"/>
            <a:r>
              <a:rPr lang="en-US" dirty="0"/>
              <a:t>Your SQL queries will usually not need to be changed.</a:t>
            </a:r>
          </a:p>
          <a:p>
            <a:pPr lvl="1"/>
            <a:r>
              <a:rPr lang="en-US" dirty="0"/>
              <a:t>You just have to import a new module for the new database, modify the connection code to go along with the syntax for the new module, and possibly add some initialization stuff like logging in.</a:t>
            </a:r>
          </a:p>
        </p:txBody>
      </p:sp>
    </p:spTree>
    <p:extLst>
      <p:ext uri="{BB962C8B-B14F-4D97-AF65-F5344CB8AC3E}">
        <p14:creationId xmlns:p14="http://schemas.microsoft.com/office/powerpoint/2010/main" val="1553002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Ready to Use SQLite</a:t>
            </a:r>
          </a:p>
        </p:txBody>
      </p:sp>
      <p:sp>
        <p:nvSpPr>
          <p:cNvPr id="3" name="Content Placeholder 2"/>
          <p:cNvSpPr>
            <a:spLocks noGrp="1"/>
          </p:cNvSpPr>
          <p:nvPr>
            <p:ph idx="1"/>
          </p:nvPr>
        </p:nvSpPr>
        <p:spPr/>
        <p:txBody>
          <a:bodyPr/>
          <a:lstStyle/>
          <a:p>
            <a:r>
              <a:rPr lang="en-US" dirty="0"/>
              <a:t>import sqlite3</a:t>
            </a:r>
          </a:p>
          <a:p>
            <a:r>
              <a:rPr lang="en-US" dirty="0"/>
              <a:t>con = sqlite3.connect("</a:t>
            </a:r>
            <a:r>
              <a:rPr lang="en-US" dirty="0" err="1"/>
              <a:t>chinook.db</a:t>
            </a:r>
            <a:r>
              <a:rPr lang="en-US" dirty="0"/>
              <a:t>") #create connection object</a:t>
            </a:r>
          </a:p>
          <a:p>
            <a:r>
              <a:rPr lang="en-US" dirty="0"/>
              <a:t>....</a:t>
            </a:r>
          </a:p>
          <a:p>
            <a:r>
              <a:rPr lang="en-US" dirty="0" err="1"/>
              <a:t>con.close</a:t>
            </a:r>
            <a:r>
              <a:rPr lang="en-US" dirty="0"/>
              <a:t>() #when you’re done!</a:t>
            </a:r>
          </a:p>
        </p:txBody>
      </p:sp>
    </p:spTree>
    <p:extLst>
      <p:ext uri="{BB962C8B-B14F-4D97-AF65-F5344CB8AC3E}">
        <p14:creationId xmlns:p14="http://schemas.microsoft.com/office/powerpoint/2010/main" val="519892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SQLite with pandas</a:t>
            </a:r>
          </a:p>
        </p:txBody>
      </p:sp>
      <p:sp>
        <p:nvSpPr>
          <p:cNvPr id="3" name="Content Placeholder 2"/>
          <p:cNvSpPr>
            <a:spLocks noGrp="1"/>
          </p:cNvSpPr>
          <p:nvPr>
            <p:ph idx="1"/>
          </p:nvPr>
        </p:nvSpPr>
        <p:spPr/>
        <p:txBody>
          <a:bodyPr>
            <a:normAutofit/>
          </a:bodyPr>
          <a:lstStyle/>
          <a:p>
            <a:r>
              <a:rPr lang="en-US" dirty="0" err="1"/>
              <a:t>pd.read_sql_query</a:t>
            </a:r>
            <a:r>
              <a:rPr lang="en-US" dirty="0"/>
              <a:t> provides an easy way to run SQL queries with the output going into a pandas </a:t>
            </a:r>
            <a:r>
              <a:rPr lang="en-US" dirty="0" err="1"/>
              <a:t>dataframe</a:t>
            </a:r>
            <a:r>
              <a:rPr lang="en-US" dirty="0"/>
              <a:t>.  </a:t>
            </a:r>
          </a:p>
          <a:p>
            <a:r>
              <a:rPr lang="en-US" dirty="0"/>
              <a:t>This function utilizes functions from the sqlite3 module (or other SQL modules) to run queries.</a:t>
            </a:r>
          </a:p>
          <a:p>
            <a:r>
              <a:rPr lang="en-US" dirty="0"/>
              <a:t>I will focus on this pandas function which is easier to use since it wraps several function calls into a single function and since its output is easier to work with (</a:t>
            </a:r>
            <a:r>
              <a:rPr lang="en-US" dirty="0" err="1"/>
              <a:t>dataframe</a:t>
            </a:r>
            <a:r>
              <a:rPr lang="en-US" dirty="0"/>
              <a:t> vs list)</a:t>
            </a:r>
          </a:p>
        </p:txBody>
      </p:sp>
    </p:spTree>
    <p:extLst>
      <p:ext uri="{BB962C8B-B14F-4D97-AF65-F5344CB8AC3E}">
        <p14:creationId xmlns:p14="http://schemas.microsoft.com/office/powerpoint/2010/main" val="771517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Database:  Chinook</a:t>
            </a:r>
          </a:p>
        </p:txBody>
      </p:sp>
      <p:pic>
        <p:nvPicPr>
          <p:cNvPr id="1026" name="Picture 2" descr="http://lh4.ggpht.com/_oKo6zFhdD98/SWFPtyfHJFI/AAAAAAAAAMc/GdrlzeBNsZM/s800/ChinookDatabaseSchema1.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34529" y="1846263"/>
            <a:ext cx="4983268" cy="40227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B1A88B-3158-4FEB-B6EF-255E4F47EEE1}"/>
              </a:ext>
            </a:extLst>
          </p:cNvPr>
          <p:cNvSpPr txBox="1"/>
          <p:nvPr/>
        </p:nvSpPr>
        <p:spPr>
          <a:xfrm>
            <a:off x="145473" y="2078181"/>
            <a:ext cx="3844636" cy="1477328"/>
          </a:xfrm>
          <a:prstGeom prst="rect">
            <a:avLst/>
          </a:prstGeom>
          <a:noFill/>
        </p:spPr>
        <p:txBody>
          <a:bodyPr wrap="square" rtlCol="0">
            <a:spAutoFit/>
          </a:bodyPr>
          <a:lstStyle/>
          <a:p>
            <a:r>
              <a:rPr lang="en-US" dirty="0"/>
              <a:t>Download </a:t>
            </a:r>
            <a:r>
              <a:rPr lang="en-US" dirty="0" err="1"/>
              <a:t>chinook.db</a:t>
            </a:r>
            <a:r>
              <a:rPr lang="en-US" dirty="0"/>
              <a:t> from Canvas.</a:t>
            </a:r>
          </a:p>
          <a:p>
            <a:endParaRPr lang="en-US" dirty="0"/>
          </a:p>
          <a:p>
            <a:r>
              <a:rPr lang="en-US" dirty="0"/>
              <a:t>Then try to connect:</a:t>
            </a:r>
          </a:p>
          <a:p>
            <a:r>
              <a:rPr lang="en-US" dirty="0"/>
              <a:t>import sqlite3</a:t>
            </a:r>
          </a:p>
          <a:p>
            <a:r>
              <a:rPr lang="en-US" dirty="0"/>
              <a:t>con = sqlite3.connect("</a:t>
            </a:r>
            <a:r>
              <a:rPr lang="en-US" dirty="0" err="1"/>
              <a:t>chinook.db</a:t>
            </a:r>
            <a:r>
              <a:rPr lang="en-US" dirty="0"/>
              <a:t>")</a:t>
            </a:r>
          </a:p>
        </p:txBody>
      </p:sp>
    </p:spTree>
    <p:extLst>
      <p:ext uri="{BB962C8B-B14F-4D97-AF65-F5344CB8AC3E}">
        <p14:creationId xmlns:p14="http://schemas.microsoft.com/office/powerpoint/2010/main" val="392329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a:t>
            </a:r>
          </a:p>
        </p:txBody>
      </p:sp>
      <p:sp>
        <p:nvSpPr>
          <p:cNvPr id="3" name="Content Placeholder 2"/>
          <p:cNvSpPr>
            <a:spLocks noGrp="1"/>
          </p:cNvSpPr>
          <p:nvPr>
            <p:ph idx="1"/>
          </p:nvPr>
        </p:nvSpPr>
        <p:spPr/>
        <p:txBody>
          <a:bodyPr/>
          <a:lstStyle/>
          <a:p>
            <a:r>
              <a:rPr lang="en-US" dirty="0"/>
              <a:t>We will now cover some basic query syntax for the SQL language.</a:t>
            </a:r>
          </a:p>
          <a:p>
            <a:r>
              <a:rPr lang="en-US" dirty="0"/>
              <a:t>This is not in any way tied to Python.  This is the SQL language and is the standard way to access any database.</a:t>
            </a:r>
          </a:p>
          <a:p>
            <a:r>
              <a:rPr lang="en-US" dirty="0"/>
              <a:t>For each SQL query that I show, to use in Python, we make the call</a:t>
            </a:r>
          </a:p>
          <a:p>
            <a:r>
              <a:rPr lang="en-US" dirty="0" err="1"/>
              <a:t>pd.read_sql_query</a:t>
            </a:r>
            <a:r>
              <a:rPr lang="en-US" dirty="0"/>
              <a:t>(“…my SQL statement…”,con)</a:t>
            </a:r>
          </a:p>
          <a:p>
            <a:r>
              <a:rPr lang="en-US" dirty="0"/>
              <a:t>where con is the name of my connection object.</a:t>
            </a:r>
          </a:p>
          <a:p>
            <a:r>
              <a:rPr lang="en-US" dirty="0"/>
              <a:t>The Select statement in SQL is used to get some or all records from a table.  This will be the primary focus of these slides.</a:t>
            </a:r>
          </a:p>
        </p:txBody>
      </p:sp>
    </p:spTree>
    <p:extLst>
      <p:ext uri="{BB962C8B-B14F-4D97-AF65-F5344CB8AC3E}">
        <p14:creationId xmlns:p14="http://schemas.microsoft.com/office/powerpoint/2010/main" val="1484854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Select</a:t>
            </a:r>
          </a:p>
        </p:txBody>
      </p:sp>
      <p:sp>
        <p:nvSpPr>
          <p:cNvPr id="3" name="Content Placeholder 2"/>
          <p:cNvSpPr>
            <a:spLocks noGrp="1"/>
          </p:cNvSpPr>
          <p:nvPr>
            <p:ph idx="1"/>
          </p:nvPr>
        </p:nvSpPr>
        <p:spPr/>
        <p:txBody>
          <a:bodyPr>
            <a:normAutofit/>
          </a:bodyPr>
          <a:lstStyle/>
          <a:p>
            <a:r>
              <a:rPr lang="en-US" dirty="0"/>
              <a:t>SELECT is the command used to query a database.</a:t>
            </a:r>
          </a:p>
          <a:p>
            <a:r>
              <a:rPr lang="en-US" dirty="0"/>
              <a:t>select Name from Track</a:t>
            </a:r>
          </a:p>
          <a:p>
            <a:r>
              <a:rPr lang="en-US" dirty="0"/>
              <a:t>returns a column with all Names in Track table.</a:t>
            </a:r>
          </a:p>
          <a:p>
            <a:r>
              <a:rPr lang="en-US" dirty="0"/>
              <a:t>select Name, Milliseconds from Track</a:t>
            </a:r>
          </a:p>
          <a:p>
            <a:r>
              <a:rPr lang="en-US" dirty="0"/>
              <a:t>returns a data frame with 2 columns, Name and Milliseconds for all records in Track</a:t>
            </a:r>
          </a:p>
          <a:p>
            <a:r>
              <a:rPr lang="en-US" dirty="0"/>
              <a:t>select * from Track</a:t>
            </a:r>
          </a:p>
          <a:p>
            <a:r>
              <a:rPr lang="en-US" dirty="0"/>
              <a:t>returns the entire Track table (* mean all fields)</a:t>
            </a:r>
          </a:p>
          <a:p>
            <a:endParaRPr lang="en-US" dirty="0"/>
          </a:p>
          <a:p>
            <a:endParaRPr lang="en-US" dirty="0"/>
          </a:p>
        </p:txBody>
      </p:sp>
    </p:spTree>
    <p:extLst>
      <p:ext uri="{BB962C8B-B14F-4D97-AF65-F5344CB8AC3E}">
        <p14:creationId xmlns:p14="http://schemas.microsoft.com/office/powerpoint/2010/main" val="4218686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Select … order by and limit</a:t>
            </a:r>
          </a:p>
        </p:txBody>
      </p:sp>
      <p:sp>
        <p:nvSpPr>
          <p:cNvPr id="3" name="Content Placeholder 2"/>
          <p:cNvSpPr>
            <a:spLocks noGrp="1"/>
          </p:cNvSpPr>
          <p:nvPr>
            <p:ph idx="1"/>
          </p:nvPr>
        </p:nvSpPr>
        <p:spPr/>
        <p:txBody>
          <a:bodyPr>
            <a:normAutofit/>
          </a:bodyPr>
          <a:lstStyle/>
          <a:p>
            <a:r>
              <a:rPr lang="en-US" dirty="0"/>
              <a:t>select * from Track order by Milliseconds</a:t>
            </a:r>
          </a:p>
          <a:p>
            <a:r>
              <a:rPr lang="en-US" dirty="0"/>
              <a:t>returns the entire track table ordered with shorter tracks first</a:t>
            </a:r>
          </a:p>
          <a:p>
            <a:r>
              <a:rPr lang="en-US" dirty="0"/>
              <a:t>select * from Track order by Milliseconds desc</a:t>
            </a:r>
          </a:p>
          <a:p>
            <a:r>
              <a:rPr lang="en-US" dirty="0"/>
              <a:t>returns the entire track table with longer tracks first</a:t>
            </a:r>
          </a:p>
          <a:p>
            <a:r>
              <a:rPr lang="en-US" dirty="0"/>
              <a:t>select * from Track order by Milliseconds limit 20</a:t>
            </a:r>
          </a:p>
          <a:p>
            <a:r>
              <a:rPr lang="en-US" dirty="0"/>
              <a:t>returns all fields in the Track table for the 20 shortest tracks</a:t>
            </a:r>
          </a:p>
          <a:p>
            <a:endParaRPr lang="en-US" dirty="0"/>
          </a:p>
          <a:p>
            <a:endParaRPr lang="en-US" dirty="0"/>
          </a:p>
        </p:txBody>
      </p:sp>
    </p:spTree>
    <p:extLst>
      <p:ext uri="{BB962C8B-B14F-4D97-AF65-F5344CB8AC3E}">
        <p14:creationId xmlns:p14="http://schemas.microsoft.com/office/powerpoint/2010/main" val="760933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select … where</a:t>
            </a:r>
          </a:p>
        </p:txBody>
      </p:sp>
      <p:sp>
        <p:nvSpPr>
          <p:cNvPr id="3" name="Content Placeholder 2"/>
          <p:cNvSpPr>
            <a:spLocks noGrp="1"/>
          </p:cNvSpPr>
          <p:nvPr>
            <p:ph idx="1"/>
          </p:nvPr>
        </p:nvSpPr>
        <p:spPr/>
        <p:txBody>
          <a:bodyPr/>
          <a:lstStyle/>
          <a:p>
            <a:r>
              <a:rPr lang="en-US" dirty="0"/>
              <a:t>Typically you want to select a subset of the entire table based on one or more fields.  “where” helps us with this.</a:t>
            </a:r>
          </a:p>
          <a:p>
            <a:r>
              <a:rPr lang="en-US" dirty="0"/>
              <a:t>select * from Track where Name=‘Yesterday’</a:t>
            </a:r>
          </a:p>
          <a:p>
            <a:r>
              <a:rPr lang="en-US" dirty="0"/>
              <a:t>returns all fields in the Track table for records with the Name field equal to Yesterday.</a:t>
            </a:r>
          </a:p>
          <a:p>
            <a:r>
              <a:rPr lang="en-US" dirty="0"/>
              <a:t>select </a:t>
            </a:r>
            <a:r>
              <a:rPr lang="en-US" dirty="0" err="1"/>
              <a:t>AlbumID</a:t>
            </a:r>
            <a:r>
              <a:rPr lang="en-US" dirty="0"/>
              <a:t>, Milliseconds from Track where Name=‘Yesterday’</a:t>
            </a:r>
          </a:p>
          <a:p>
            <a:r>
              <a:rPr lang="en-US" dirty="0"/>
              <a:t>returns album and length of all tracks named Yesterday</a:t>
            </a:r>
          </a:p>
          <a:p>
            <a:r>
              <a:rPr lang="en-US" dirty="0"/>
              <a:t>select Name from Track where Milliseconds&lt;120000</a:t>
            </a:r>
          </a:p>
          <a:p>
            <a:r>
              <a:rPr lang="en-US" dirty="0"/>
              <a:t>returns the names of all tracks less than 2 minutes long</a:t>
            </a:r>
          </a:p>
          <a:p>
            <a:endParaRPr lang="en-US" dirty="0"/>
          </a:p>
          <a:p>
            <a:endParaRPr lang="en-US" dirty="0"/>
          </a:p>
        </p:txBody>
      </p:sp>
    </p:spTree>
    <p:extLst>
      <p:ext uri="{BB962C8B-B14F-4D97-AF65-F5344CB8AC3E}">
        <p14:creationId xmlns:p14="http://schemas.microsoft.com/office/powerpoint/2010/main" val="1820819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select … where</a:t>
            </a:r>
          </a:p>
        </p:txBody>
      </p:sp>
      <p:sp>
        <p:nvSpPr>
          <p:cNvPr id="3" name="Content Placeholder 2"/>
          <p:cNvSpPr>
            <a:spLocks noGrp="1"/>
          </p:cNvSpPr>
          <p:nvPr>
            <p:ph idx="1"/>
          </p:nvPr>
        </p:nvSpPr>
        <p:spPr/>
        <p:txBody>
          <a:bodyPr>
            <a:normAutofit/>
          </a:bodyPr>
          <a:lstStyle/>
          <a:p>
            <a:r>
              <a:rPr lang="en-US" dirty="0"/>
              <a:t>Logical operators “and” and “or” allow for checking multiple conditions with where.</a:t>
            </a:r>
          </a:p>
          <a:p>
            <a:r>
              <a:rPr lang="en-US" dirty="0"/>
              <a:t>select * from Track where Milliseconds&lt;120000 and </a:t>
            </a:r>
            <a:r>
              <a:rPr lang="en-US" dirty="0" err="1"/>
              <a:t>UnitPrice</a:t>
            </a:r>
            <a:r>
              <a:rPr lang="en-US" dirty="0"/>
              <a:t>&gt;0.99</a:t>
            </a:r>
          </a:p>
          <a:p>
            <a:r>
              <a:rPr lang="en-US" dirty="0"/>
              <a:t>returns all fields in the Track table for tracks that are less than 2 minutes in length and cost at least $1.</a:t>
            </a:r>
          </a:p>
          <a:p>
            <a:r>
              <a:rPr lang="en-US" dirty="0"/>
              <a:t>select * from Track where Milliseconds&lt;120000 or </a:t>
            </a:r>
            <a:r>
              <a:rPr lang="en-US" dirty="0" err="1"/>
              <a:t>UnitPrice</a:t>
            </a:r>
            <a:r>
              <a:rPr lang="en-US" dirty="0"/>
              <a:t>&gt;0.99</a:t>
            </a:r>
          </a:p>
          <a:p>
            <a:r>
              <a:rPr lang="en-US" dirty="0"/>
              <a:t>returns all fields in the Track table for tracks less than 2 minutes in length and all fields for tracks that are at least $1 in price.</a:t>
            </a:r>
          </a:p>
        </p:txBody>
      </p:sp>
    </p:spTree>
    <p:extLst>
      <p:ext uri="{BB962C8B-B14F-4D97-AF65-F5344CB8AC3E}">
        <p14:creationId xmlns:p14="http://schemas.microsoft.com/office/powerpoint/2010/main" val="2522045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A5E68-2E17-4138-AB1A-8AFEB5B2DDAF}"/>
              </a:ext>
            </a:extLst>
          </p:cNvPr>
          <p:cNvSpPr>
            <a:spLocks noGrp="1"/>
          </p:cNvSpPr>
          <p:nvPr>
            <p:ph type="title"/>
          </p:nvPr>
        </p:nvSpPr>
        <p:spPr/>
        <p:txBody>
          <a:bodyPr/>
          <a:lstStyle/>
          <a:p>
            <a:r>
              <a:rPr lang="en-US" dirty="0"/>
              <a:t>(Aside: sqlite3 in python)</a:t>
            </a:r>
          </a:p>
        </p:txBody>
      </p:sp>
      <p:sp>
        <p:nvSpPr>
          <p:cNvPr id="3" name="Content Placeholder 2">
            <a:extLst>
              <a:ext uri="{FF2B5EF4-FFF2-40B4-BE49-F238E27FC236}">
                <a16:creationId xmlns:a16="http://schemas.microsoft.com/office/drawing/2014/main" id="{F188E4AE-B427-4524-9456-5E8F36864801}"/>
              </a:ext>
            </a:extLst>
          </p:cNvPr>
          <p:cNvSpPr>
            <a:spLocks noGrp="1"/>
          </p:cNvSpPr>
          <p:nvPr>
            <p:ph idx="1"/>
          </p:nvPr>
        </p:nvSpPr>
        <p:spPr/>
        <p:txBody>
          <a:bodyPr>
            <a:normAutofit lnSpcReduction="10000"/>
          </a:bodyPr>
          <a:lstStyle/>
          <a:p>
            <a:r>
              <a:rPr lang="en-US" dirty="0"/>
              <a:t>This query finds all tracks named “Resolve”:</a:t>
            </a:r>
          </a:p>
          <a:p>
            <a:r>
              <a:rPr lang="en-US" dirty="0"/>
              <a:t>df = </a:t>
            </a:r>
            <a:r>
              <a:rPr lang="en-US" dirty="0" err="1"/>
              <a:t>pd.read_sql_query</a:t>
            </a:r>
            <a:r>
              <a:rPr lang="en-US" dirty="0"/>
              <a:t>("select * from Track where Name='</a:t>
            </a:r>
            <a:r>
              <a:rPr lang="en-US" dirty="0" err="1"/>
              <a:t>Resolve'",con</a:t>
            </a:r>
            <a:r>
              <a:rPr lang="en-US" dirty="0"/>
              <a:t>)</a:t>
            </a:r>
          </a:p>
          <a:p>
            <a:r>
              <a:rPr lang="en-US" dirty="0"/>
              <a:t>Sometimes you want to run a similar query but where the name to lookup is determined dynamically in your program, so you don’t know the name at the time you’re writing your query. </a:t>
            </a:r>
          </a:p>
          <a:p>
            <a:r>
              <a:rPr lang="en-US" dirty="0"/>
              <a:t>With sqlite3, you can supply a ? in your query for every instance of something you want to define dynamically.  Then supply a list of values (one for each ?) as the params argument to </a:t>
            </a:r>
            <a:r>
              <a:rPr lang="en-US" dirty="0" err="1"/>
              <a:t>read_sql_query</a:t>
            </a:r>
            <a:r>
              <a:rPr lang="en-US" dirty="0"/>
              <a:t>:</a:t>
            </a:r>
          </a:p>
          <a:p>
            <a:r>
              <a:rPr lang="en-US" dirty="0" err="1"/>
              <a:t>trackname</a:t>
            </a:r>
            <a:r>
              <a:rPr lang="en-US" dirty="0"/>
              <a:t>="Resolve"</a:t>
            </a:r>
          </a:p>
          <a:p>
            <a:r>
              <a:rPr lang="en-US" dirty="0"/>
              <a:t>df = </a:t>
            </a:r>
            <a:r>
              <a:rPr lang="en-US" dirty="0" err="1"/>
              <a:t>pd.read_sql_query</a:t>
            </a:r>
            <a:r>
              <a:rPr lang="en-US" dirty="0"/>
              <a:t>("select * from Track where Name=?;",</a:t>
            </a:r>
            <a:r>
              <a:rPr lang="en-US" dirty="0" err="1"/>
              <a:t>con,params</a:t>
            </a:r>
            <a:r>
              <a:rPr lang="en-US" dirty="0"/>
              <a:t>=[</a:t>
            </a:r>
            <a:r>
              <a:rPr lang="en-US" dirty="0" err="1"/>
              <a:t>trackname</a:t>
            </a:r>
            <a:r>
              <a:rPr lang="en-US" dirty="0"/>
              <a:t>])</a:t>
            </a:r>
          </a:p>
          <a:p>
            <a:r>
              <a:rPr lang="en-US" dirty="0"/>
              <a:t>Note:  some databases in python use a different syntax instead of ? so it’s important to read docs for your database to do this correctly.</a:t>
            </a:r>
          </a:p>
        </p:txBody>
      </p:sp>
    </p:spTree>
    <p:extLst>
      <p:ext uri="{BB962C8B-B14F-4D97-AF65-F5344CB8AC3E}">
        <p14:creationId xmlns:p14="http://schemas.microsoft.com/office/powerpoint/2010/main" val="2977146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Calculations with select</a:t>
            </a:r>
          </a:p>
        </p:txBody>
      </p:sp>
      <p:sp>
        <p:nvSpPr>
          <p:cNvPr id="3" name="Content Placeholder 2"/>
          <p:cNvSpPr>
            <a:spLocks noGrp="1"/>
          </p:cNvSpPr>
          <p:nvPr>
            <p:ph idx="1"/>
          </p:nvPr>
        </p:nvSpPr>
        <p:spPr/>
        <p:txBody>
          <a:bodyPr/>
          <a:lstStyle/>
          <a:p>
            <a:r>
              <a:rPr lang="en-US" dirty="0"/>
              <a:t>select max(Milliseconds) from Track;</a:t>
            </a:r>
          </a:p>
          <a:p>
            <a:r>
              <a:rPr lang="en-US" dirty="0"/>
              <a:t>select </a:t>
            </a:r>
            <a:r>
              <a:rPr lang="en-US" dirty="0" err="1"/>
              <a:t>avg</a:t>
            </a:r>
            <a:r>
              <a:rPr lang="en-US" dirty="0"/>
              <a:t>(Milliseconds) from Track;</a:t>
            </a:r>
          </a:p>
          <a:p>
            <a:r>
              <a:rPr lang="en-US" dirty="0"/>
              <a:t>select </a:t>
            </a:r>
            <a:r>
              <a:rPr lang="en-US" dirty="0" err="1"/>
              <a:t>avg</a:t>
            </a:r>
            <a:r>
              <a:rPr lang="en-US" dirty="0"/>
              <a:t>(Milliseconds)/60000 from Track;</a:t>
            </a:r>
          </a:p>
          <a:p>
            <a:r>
              <a:rPr lang="en-US" dirty="0"/>
              <a:t>select max(Milliseconds)/60000 from Track;</a:t>
            </a:r>
          </a:p>
          <a:p>
            <a:r>
              <a:rPr lang="en-US" dirty="0"/>
              <a:t>select sum(Bytes) from Track;</a:t>
            </a:r>
          </a:p>
          <a:p>
            <a:r>
              <a:rPr lang="en-US" dirty="0"/>
              <a:t>select count(Name) from Track where Milliseconds&lt;120000;</a:t>
            </a:r>
          </a:p>
          <a:p>
            <a:r>
              <a:rPr lang="en-US" dirty="0"/>
              <a:t>returns number of tracks less than 2 minutes long</a:t>
            </a:r>
          </a:p>
        </p:txBody>
      </p:sp>
    </p:spTree>
    <p:extLst>
      <p:ext uri="{BB962C8B-B14F-4D97-AF65-F5344CB8AC3E}">
        <p14:creationId xmlns:p14="http://schemas.microsoft.com/office/powerpoint/2010/main" val="1780652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by</a:t>
            </a:r>
          </a:p>
        </p:txBody>
      </p:sp>
      <p:sp>
        <p:nvSpPr>
          <p:cNvPr id="3" name="Content Placeholder 2"/>
          <p:cNvSpPr>
            <a:spLocks noGrp="1"/>
          </p:cNvSpPr>
          <p:nvPr>
            <p:ph idx="1"/>
          </p:nvPr>
        </p:nvSpPr>
        <p:spPr/>
        <p:txBody>
          <a:bodyPr/>
          <a:lstStyle/>
          <a:p>
            <a:r>
              <a:rPr lang="en-US" dirty="0"/>
              <a:t>select </a:t>
            </a:r>
            <a:r>
              <a:rPr lang="en-US" dirty="0" err="1"/>
              <a:t>CustomerId</a:t>
            </a:r>
            <a:r>
              <a:rPr lang="en-US" dirty="0"/>
              <a:t>, sum(Total) from Invoice group by </a:t>
            </a:r>
            <a:r>
              <a:rPr lang="en-US" dirty="0" err="1"/>
              <a:t>CustomerId</a:t>
            </a:r>
            <a:r>
              <a:rPr lang="en-US" dirty="0"/>
              <a:t>;</a:t>
            </a:r>
          </a:p>
          <a:p>
            <a:r>
              <a:rPr lang="en-US" dirty="0"/>
              <a:t>group by means to calculate a separate sum of Total for every </a:t>
            </a:r>
            <a:r>
              <a:rPr lang="en-US" dirty="0" err="1"/>
              <a:t>CustomerID</a:t>
            </a:r>
            <a:r>
              <a:rPr lang="en-US" dirty="0"/>
              <a:t>.</a:t>
            </a:r>
          </a:p>
          <a:p>
            <a:r>
              <a:rPr lang="en-US" dirty="0"/>
              <a:t>Instead of the result having just one entry with the overall sum of Total, it will have one entry for every customer with the sum of that customer’s Total.</a:t>
            </a:r>
          </a:p>
          <a:p>
            <a:endParaRPr lang="en-US" dirty="0"/>
          </a:p>
          <a:p>
            <a:r>
              <a:rPr lang="en-US" dirty="0"/>
              <a:t>select State, count(</a:t>
            </a:r>
            <a:r>
              <a:rPr lang="en-US" dirty="0" err="1"/>
              <a:t>CustomerId</a:t>
            </a:r>
            <a:r>
              <a:rPr lang="en-US" dirty="0"/>
              <a:t>) from Customer where Country='USA' group by State;</a:t>
            </a:r>
          </a:p>
          <a:p>
            <a:r>
              <a:rPr lang="en-US" dirty="0"/>
              <a:t>returns the number of customers in every state in the U.S.</a:t>
            </a:r>
          </a:p>
        </p:txBody>
      </p:sp>
    </p:spTree>
    <p:extLst>
      <p:ext uri="{BB962C8B-B14F-4D97-AF65-F5344CB8AC3E}">
        <p14:creationId xmlns:p14="http://schemas.microsoft.com/office/powerpoint/2010/main" val="3525817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8E101FA-DDE8-4657-88DF-4300D5E441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485775"/>
            <a:ext cx="7658100" cy="574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07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having</a:t>
            </a:r>
          </a:p>
        </p:txBody>
      </p:sp>
      <p:sp>
        <p:nvSpPr>
          <p:cNvPr id="3" name="Content Placeholder 2"/>
          <p:cNvSpPr>
            <a:spLocks noGrp="1"/>
          </p:cNvSpPr>
          <p:nvPr>
            <p:ph idx="1"/>
          </p:nvPr>
        </p:nvSpPr>
        <p:spPr/>
        <p:txBody>
          <a:bodyPr/>
          <a:lstStyle/>
          <a:p>
            <a:r>
              <a:rPr lang="en-US" dirty="0"/>
              <a:t>What if we want the </a:t>
            </a:r>
            <a:r>
              <a:rPr lang="en-US" dirty="0" err="1"/>
              <a:t>CustomerID</a:t>
            </a:r>
            <a:r>
              <a:rPr lang="en-US" dirty="0"/>
              <a:t> of all customers who spent over $40?</a:t>
            </a:r>
          </a:p>
          <a:p>
            <a:r>
              <a:rPr lang="en-US" dirty="0"/>
              <a:t>select </a:t>
            </a:r>
            <a:r>
              <a:rPr lang="en-US" dirty="0" err="1"/>
              <a:t>CustomerId</a:t>
            </a:r>
            <a:r>
              <a:rPr lang="en-US" dirty="0"/>
              <a:t>, sum(Total) from Invoice group by </a:t>
            </a:r>
            <a:r>
              <a:rPr lang="en-US" dirty="0" err="1"/>
              <a:t>CustomerId</a:t>
            </a:r>
            <a:r>
              <a:rPr lang="en-US" dirty="0"/>
              <a:t>;</a:t>
            </a:r>
          </a:p>
          <a:p>
            <a:r>
              <a:rPr lang="en-US" dirty="0"/>
              <a:t>yields the total spent by each customer.</a:t>
            </a:r>
          </a:p>
          <a:p>
            <a:r>
              <a:rPr lang="en-US" dirty="0"/>
              <a:t>Problem: I can’t use where to select only those over $40 because sum(Total) is not field that can be used in where clauses.</a:t>
            </a:r>
          </a:p>
          <a:p>
            <a:r>
              <a:rPr lang="en-US" dirty="0"/>
              <a:t>having solves this problem.</a:t>
            </a:r>
          </a:p>
          <a:p>
            <a:r>
              <a:rPr lang="en-US" dirty="0"/>
              <a:t>select </a:t>
            </a:r>
            <a:r>
              <a:rPr lang="en-US" dirty="0" err="1"/>
              <a:t>CustomerId</a:t>
            </a:r>
            <a:r>
              <a:rPr lang="en-US" dirty="0"/>
              <a:t>, sum(Total) as </a:t>
            </a:r>
            <a:r>
              <a:rPr lang="en-US" dirty="0" err="1"/>
              <a:t>InvoiceTotal</a:t>
            </a:r>
            <a:r>
              <a:rPr lang="en-US" dirty="0"/>
              <a:t> from Invoice group by </a:t>
            </a:r>
            <a:r>
              <a:rPr lang="en-US" dirty="0" err="1"/>
              <a:t>CustomerId</a:t>
            </a:r>
            <a:r>
              <a:rPr lang="en-US" dirty="0"/>
              <a:t> having </a:t>
            </a:r>
            <a:r>
              <a:rPr lang="en-US" dirty="0" err="1"/>
              <a:t>InvoiceTotal</a:t>
            </a:r>
            <a:r>
              <a:rPr lang="en-US" dirty="0"/>
              <a:t> &gt; 40;</a:t>
            </a:r>
          </a:p>
          <a:p>
            <a:r>
              <a:rPr lang="en-US" dirty="0"/>
              <a:t>The “as” is a way to name the result so that we can use it in having.</a:t>
            </a:r>
          </a:p>
          <a:p>
            <a:endParaRPr lang="en-US" dirty="0"/>
          </a:p>
        </p:txBody>
      </p:sp>
    </p:spTree>
    <p:extLst>
      <p:ext uri="{BB962C8B-B14F-4D97-AF65-F5344CB8AC3E}">
        <p14:creationId xmlns:p14="http://schemas.microsoft.com/office/powerpoint/2010/main" val="1358989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distinct</a:t>
            </a:r>
          </a:p>
        </p:txBody>
      </p:sp>
      <p:sp>
        <p:nvSpPr>
          <p:cNvPr id="3" name="Content Placeholder 2"/>
          <p:cNvSpPr>
            <a:spLocks noGrp="1"/>
          </p:cNvSpPr>
          <p:nvPr>
            <p:ph idx="1"/>
          </p:nvPr>
        </p:nvSpPr>
        <p:spPr/>
        <p:txBody>
          <a:bodyPr/>
          <a:lstStyle/>
          <a:p>
            <a:r>
              <a:rPr lang="en-US" dirty="0"/>
              <a:t>distinct specifies to keep unique values, not to have duplicate rows with the same value.</a:t>
            </a:r>
          </a:p>
          <a:p>
            <a:r>
              <a:rPr lang="en-US" dirty="0"/>
              <a:t>Compare:</a:t>
            </a:r>
          </a:p>
          <a:p>
            <a:r>
              <a:rPr lang="en-US" dirty="0"/>
              <a:t>select </a:t>
            </a:r>
            <a:r>
              <a:rPr lang="en-US" dirty="0" err="1"/>
              <a:t>AlbumID</a:t>
            </a:r>
            <a:r>
              <a:rPr lang="en-US" dirty="0"/>
              <a:t> from Track;</a:t>
            </a:r>
          </a:p>
          <a:p>
            <a:r>
              <a:rPr lang="en-US" dirty="0"/>
              <a:t>and:</a:t>
            </a:r>
          </a:p>
          <a:p>
            <a:r>
              <a:rPr lang="en-US" dirty="0"/>
              <a:t>select distinct </a:t>
            </a:r>
            <a:r>
              <a:rPr lang="en-US" dirty="0" err="1"/>
              <a:t>AlbumID</a:t>
            </a:r>
            <a:r>
              <a:rPr lang="en-US" dirty="0"/>
              <a:t> from Track;</a:t>
            </a:r>
          </a:p>
          <a:p>
            <a:r>
              <a:rPr lang="en-US" dirty="0"/>
              <a:t>Because there are multiple tracks per album, the first query will have one row for every track so each </a:t>
            </a:r>
            <a:r>
              <a:rPr lang="en-US" dirty="0" err="1"/>
              <a:t>AlbumId</a:t>
            </a:r>
            <a:r>
              <a:rPr lang="en-US" dirty="0"/>
              <a:t> will appear multiple times.</a:t>
            </a:r>
          </a:p>
          <a:p>
            <a:r>
              <a:rPr lang="en-US" dirty="0"/>
              <a:t>The second query will have each </a:t>
            </a:r>
            <a:r>
              <a:rPr lang="en-US" dirty="0" err="1"/>
              <a:t>AlbumID</a:t>
            </a:r>
            <a:r>
              <a:rPr lang="en-US" dirty="0"/>
              <a:t> only once.</a:t>
            </a:r>
          </a:p>
        </p:txBody>
      </p:sp>
    </p:spTree>
    <p:extLst>
      <p:ext uri="{BB962C8B-B14F-4D97-AF65-F5344CB8AC3E}">
        <p14:creationId xmlns:p14="http://schemas.microsoft.com/office/powerpoint/2010/main" val="4050869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Problems</a:t>
            </a:r>
          </a:p>
        </p:txBody>
      </p:sp>
      <p:sp>
        <p:nvSpPr>
          <p:cNvPr id="3" name="Content Placeholder 2"/>
          <p:cNvSpPr>
            <a:spLocks noGrp="1"/>
          </p:cNvSpPr>
          <p:nvPr>
            <p:ph idx="1"/>
          </p:nvPr>
        </p:nvSpPr>
        <p:spPr/>
        <p:txBody>
          <a:bodyPr/>
          <a:lstStyle/>
          <a:p>
            <a:r>
              <a:rPr lang="en-US" dirty="0"/>
              <a:t>1. Find the </a:t>
            </a:r>
            <a:r>
              <a:rPr lang="en-US" dirty="0" err="1"/>
              <a:t>TrackId</a:t>
            </a:r>
            <a:r>
              <a:rPr lang="en-US" dirty="0"/>
              <a:t>, </a:t>
            </a:r>
            <a:r>
              <a:rPr lang="en-US" dirty="0" err="1"/>
              <a:t>UnitPrice</a:t>
            </a:r>
            <a:r>
              <a:rPr lang="en-US" dirty="0"/>
              <a:t> and Quantity for all tracks sold for more than $0.99.</a:t>
            </a:r>
          </a:p>
          <a:p>
            <a:r>
              <a:rPr lang="en-US" dirty="0"/>
              <a:t>2. Find the </a:t>
            </a:r>
            <a:r>
              <a:rPr lang="en-US" dirty="0" err="1"/>
              <a:t>ArtistId</a:t>
            </a:r>
            <a:r>
              <a:rPr lang="en-US" dirty="0"/>
              <a:t> for Pink Floyd.</a:t>
            </a:r>
          </a:p>
          <a:p>
            <a:r>
              <a:rPr lang="en-US" dirty="0"/>
              <a:t>3. Find the </a:t>
            </a:r>
            <a:r>
              <a:rPr lang="en-US" dirty="0" err="1"/>
              <a:t>AlbumId</a:t>
            </a:r>
            <a:r>
              <a:rPr lang="en-US" dirty="0"/>
              <a:t> and the total length in minutes for all albums.</a:t>
            </a:r>
          </a:p>
          <a:p>
            <a:r>
              <a:rPr lang="en-US" dirty="0"/>
              <a:t>4. Find the </a:t>
            </a:r>
            <a:r>
              <a:rPr lang="en-US" dirty="0" err="1"/>
              <a:t>AlbumId</a:t>
            </a:r>
            <a:r>
              <a:rPr lang="en-US" dirty="0"/>
              <a:t> and the total length in minutes for all albums that are 60 minutes or longer. Provide results in descending order.</a:t>
            </a:r>
          </a:p>
          <a:p>
            <a:endParaRPr lang="en-US" dirty="0"/>
          </a:p>
          <a:p>
            <a:r>
              <a:rPr lang="en-US" dirty="0"/>
              <a:t>Call your script:  sql_inclass.py</a:t>
            </a:r>
          </a:p>
          <a:p>
            <a:r>
              <a:rPr lang="en-US" dirty="0"/>
              <a:t>Save your </a:t>
            </a:r>
            <a:r>
              <a:rPr lang="en-US" dirty="0" err="1"/>
              <a:t>dataframes</a:t>
            </a:r>
            <a:r>
              <a:rPr lang="en-US" dirty="0"/>
              <a:t> as d1, d2, d3, d4 </a:t>
            </a:r>
          </a:p>
          <a:p>
            <a:endParaRPr lang="en-US" dirty="0"/>
          </a:p>
          <a:p>
            <a:endParaRPr lang="en-US" dirty="0"/>
          </a:p>
        </p:txBody>
      </p:sp>
    </p:spTree>
    <p:extLst>
      <p:ext uri="{BB962C8B-B14F-4D97-AF65-F5344CB8AC3E}">
        <p14:creationId xmlns:p14="http://schemas.microsoft.com/office/powerpoint/2010/main" val="122975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Table Queries</a:t>
            </a:r>
          </a:p>
        </p:txBody>
      </p:sp>
      <p:sp>
        <p:nvSpPr>
          <p:cNvPr id="3" name="Content Placeholder 2"/>
          <p:cNvSpPr>
            <a:spLocks noGrp="1"/>
          </p:cNvSpPr>
          <p:nvPr>
            <p:ph idx="1"/>
          </p:nvPr>
        </p:nvSpPr>
        <p:spPr/>
        <p:txBody>
          <a:bodyPr/>
          <a:lstStyle/>
          <a:p>
            <a:r>
              <a:rPr lang="en-US" dirty="0"/>
              <a:t>Most SQL queries involve data from 2 or more tables.</a:t>
            </a:r>
          </a:p>
          <a:p>
            <a:r>
              <a:rPr lang="en-US" dirty="0"/>
              <a:t>Basic Idea:  Use keys to link tables.</a:t>
            </a:r>
          </a:p>
          <a:p>
            <a:r>
              <a:rPr lang="en-US" dirty="0"/>
              <a:t>These are called “joins” and are similar to the merge function in pandas.</a:t>
            </a:r>
          </a:p>
        </p:txBody>
      </p:sp>
    </p:spTree>
    <p:extLst>
      <p:ext uri="{BB962C8B-B14F-4D97-AF65-F5344CB8AC3E}">
        <p14:creationId xmlns:p14="http://schemas.microsoft.com/office/powerpoint/2010/main" val="861008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2715" y="2171699"/>
          <a:ext cx="2713935" cy="3631685"/>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Subject</a:t>
                      </a:r>
                    </a:p>
                  </a:txBody>
                  <a:tcPr/>
                </a:tc>
                <a:tc>
                  <a:txBody>
                    <a:bodyPr/>
                    <a:lstStyle/>
                    <a:p>
                      <a:r>
                        <a:rPr lang="en-US" dirty="0"/>
                        <a:t>Round</a:t>
                      </a:r>
                    </a:p>
                  </a:txBody>
                  <a:tcPr/>
                </a:tc>
                <a:tc>
                  <a:txBody>
                    <a:bodyPr/>
                    <a:lstStyle/>
                    <a:p>
                      <a:r>
                        <a:rPr lang="en-US" dirty="0"/>
                        <a:t>Choice</a:t>
                      </a:r>
                    </a:p>
                  </a:txBody>
                  <a:tcPr/>
                </a:tc>
                <a:extLst>
                  <a:ext uri="{0D108BD9-81ED-4DB2-BD59-A6C34878D82A}">
                    <a16:rowId xmlns:a16="http://schemas.microsoft.com/office/drawing/2014/main" val="10000"/>
                  </a:ext>
                </a:extLst>
              </a:tr>
              <a:tr h="726337">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10001"/>
                  </a:ext>
                </a:extLst>
              </a:tr>
              <a:tr h="726337">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10002"/>
                  </a:ext>
                </a:extLst>
              </a:tr>
              <a:tr h="726337">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3"/>
                  </a:ext>
                </a:extLst>
              </a:tr>
              <a:tr h="726337">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3421823" y="137490"/>
          <a:ext cx="2713935" cy="2179011"/>
        </p:xfrm>
        <a:graphic>
          <a:graphicData uri="http://schemas.openxmlformats.org/drawingml/2006/table">
            <a:tbl>
              <a:tblPr firstRow="1" bandRow="1">
                <a:tableStyleId>{5C22544A-7EE6-4342-B048-85BDC9FD1C3A}</a:tableStyleId>
              </a:tblPr>
              <a:tblGrid>
                <a:gridCol w="904645">
                  <a:extLst>
                    <a:ext uri="{9D8B030D-6E8A-4147-A177-3AD203B41FA5}">
                      <a16:colId xmlns:a16="http://schemas.microsoft.com/office/drawing/2014/main" val="20000"/>
                    </a:ext>
                  </a:extLst>
                </a:gridCol>
                <a:gridCol w="904645">
                  <a:extLst>
                    <a:ext uri="{9D8B030D-6E8A-4147-A177-3AD203B41FA5}">
                      <a16:colId xmlns:a16="http://schemas.microsoft.com/office/drawing/2014/main" val="20001"/>
                    </a:ext>
                  </a:extLst>
                </a:gridCol>
                <a:gridCol w="904645">
                  <a:extLst>
                    <a:ext uri="{9D8B030D-6E8A-4147-A177-3AD203B41FA5}">
                      <a16:colId xmlns:a16="http://schemas.microsoft.com/office/drawing/2014/main" val="20002"/>
                    </a:ext>
                  </a:extLst>
                </a:gridCol>
              </a:tblGrid>
              <a:tr h="726337">
                <a:tc>
                  <a:txBody>
                    <a:bodyPr/>
                    <a:lstStyle/>
                    <a:p>
                      <a:r>
                        <a:rPr lang="en-US" dirty="0"/>
                        <a:t>Subject</a:t>
                      </a:r>
                    </a:p>
                  </a:txBody>
                  <a:tcPr/>
                </a:tc>
                <a:tc>
                  <a:txBody>
                    <a:bodyPr/>
                    <a:lstStyle/>
                    <a:p>
                      <a:r>
                        <a:rPr lang="en-US" dirty="0"/>
                        <a:t>Gender</a:t>
                      </a:r>
                    </a:p>
                  </a:txBody>
                  <a:tcPr/>
                </a:tc>
                <a:tc>
                  <a:txBody>
                    <a:bodyPr/>
                    <a:lstStyle/>
                    <a:p>
                      <a:r>
                        <a:rPr lang="en-US" dirty="0"/>
                        <a:t>Age</a:t>
                      </a:r>
                    </a:p>
                  </a:txBody>
                  <a:tcPr/>
                </a:tc>
                <a:extLst>
                  <a:ext uri="{0D108BD9-81ED-4DB2-BD59-A6C34878D82A}">
                    <a16:rowId xmlns:a16="http://schemas.microsoft.com/office/drawing/2014/main" val="10000"/>
                  </a:ext>
                </a:extLst>
              </a:tr>
              <a:tr h="726337">
                <a:tc>
                  <a:txBody>
                    <a:bodyPr/>
                    <a:lstStyle/>
                    <a:p>
                      <a:r>
                        <a:rPr lang="en-US" dirty="0"/>
                        <a:t>1</a:t>
                      </a:r>
                    </a:p>
                  </a:txBody>
                  <a:tcPr/>
                </a:tc>
                <a:tc>
                  <a:txBody>
                    <a:bodyPr/>
                    <a:lstStyle/>
                    <a:p>
                      <a:r>
                        <a:rPr lang="en-US" dirty="0"/>
                        <a:t>0</a:t>
                      </a:r>
                    </a:p>
                  </a:txBody>
                  <a:tcPr/>
                </a:tc>
                <a:tc>
                  <a:txBody>
                    <a:bodyPr/>
                    <a:lstStyle/>
                    <a:p>
                      <a:r>
                        <a:rPr lang="en-US" dirty="0"/>
                        <a:t>20</a:t>
                      </a:r>
                    </a:p>
                  </a:txBody>
                  <a:tcPr/>
                </a:tc>
                <a:extLst>
                  <a:ext uri="{0D108BD9-81ED-4DB2-BD59-A6C34878D82A}">
                    <a16:rowId xmlns:a16="http://schemas.microsoft.com/office/drawing/2014/main" val="10001"/>
                  </a:ext>
                </a:extLst>
              </a:tr>
              <a:tr h="726337">
                <a:tc>
                  <a:txBody>
                    <a:bodyPr/>
                    <a:lstStyle/>
                    <a:p>
                      <a:r>
                        <a:rPr lang="en-US" dirty="0"/>
                        <a:t>2</a:t>
                      </a:r>
                    </a:p>
                  </a:txBody>
                  <a:tcPr/>
                </a:tc>
                <a:tc>
                  <a:txBody>
                    <a:bodyPr/>
                    <a:lstStyle/>
                    <a:p>
                      <a:r>
                        <a:rPr lang="en-US" dirty="0"/>
                        <a:t>1</a:t>
                      </a:r>
                    </a:p>
                  </a:txBody>
                  <a:tcPr/>
                </a:tc>
                <a:tc>
                  <a:txBody>
                    <a:bodyPr/>
                    <a:lstStyle/>
                    <a:p>
                      <a:r>
                        <a:rPr lang="en-US" dirty="0"/>
                        <a:t>19</a:t>
                      </a:r>
                    </a:p>
                  </a:txBody>
                  <a:tcPr/>
                </a:tc>
                <a:extLst>
                  <a:ext uri="{0D108BD9-81ED-4DB2-BD59-A6C34878D82A}">
                    <a16:rowId xmlns:a16="http://schemas.microsoft.com/office/drawing/2014/main" val="10002"/>
                  </a:ext>
                </a:extLst>
              </a:tr>
            </a:tbl>
          </a:graphicData>
        </a:graphic>
      </p:graphicFrame>
      <p:graphicFrame>
        <p:nvGraphicFramePr>
          <p:cNvPr id="2" name="Table 1">
            <a:extLst>
              <a:ext uri="{FF2B5EF4-FFF2-40B4-BE49-F238E27FC236}">
                <a16:creationId xmlns:a16="http://schemas.microsoft.com/office/drawing/2014/main" id="{5DE33196-B2B6-4A42-9836-A84B5665A14F}"/>
              </a:ext>
            </a:extLst>
          </p:cNvPr>
          <p:cNvGraphicFramePr>
            <a:graphicFrameLocks noGrp="1"/>
          </p:cNvGraphicFramePr>
          <p:nvPr/>
        </p:nvGraphicFramePr>
        <p:xfrm>
          <a:off x="6259444" y="2544930"/>
          <a:ext cx="5413445" cy="3631685"/>
        </p:xfrm>
        <a:graphic>
          <a:graphicData uri="http://schemas.openxmlformats.org/drawingml/2006/table">
            <a:tbl>
              <a:tblPr firstRow="1" bandRow="1">
                <a:tableStyleId>{5C22544A-7EE6-4342-B048-85BDC9FD1C3A}</a:tableStyleId>
              </a:tblPr>
              <a:tblGrid>
                <a:gridCol w="1082689">
                  <a:extLst>
                    <a:ext uri="{9D8B030D-6E8A-4147-A177-3AD203B41FA5}">
                      <a16:colId xmlns:a16="http://schemas.microsoft.com/office/drawing/2014/main" val="20000"/>
                    </a:ext>
                  </a:extLst>
                </a:gridCol>
                <a:gridCol w="1082689">
                  <a:extLst>
                    <a:ext uri="{9D8B030D-6E8A-4147-A177-3AD203B41FA5}">
                      <a16:colId xmlns:a16="http://schemas.microsoft.com/office/drawing/2014/main" val="20001"/>
                    </a:ext>
                  </a:extLst>
                </a:gridCol>
                <a:gridCol w="1082689">
                  <a:extLst>
                    <a:ext uri="{9D8B030D-6E8A-4147-A177-3AD203B41FA5}">
                      <a16:colId xmlns:a16="http://schemas.microsoft.com/office/drawing/2014/main" val="20002"/>
                    </a:ext>
                  </a:extLst>
                </a:gridCol>
                <a:gridCol w="1082689">
                  <a:extLst>
                    <a:ext uri="{9D8B030D-6E8A-4147-A177-3AD203B41FA5}">
                      <a16:colId xmlns:a16="http://schemas.microsoft.com/office/drawing/2014/main" val="1460915492"/>
                    </a:ext>
                  </a:extLst>
                </a:gridCol>
                <a:gridCol w="1082689">
                  <a:extLst>
                    <a:ext uri="{9D8B030D-6E8A-4147-A177-3AD203B41FA5}">
                      <a16:colId xmlns:a16="http://schemas.microsoft.com/office/drawing/2014/main" val="1367076155"/>
                    </a:ext>
                  </a:extLst>
                </a:gridCol>
              </a:tblGrid>
              <a:tr h="726337">
                <a:tc>
                  <a:txBody>
                    <a:bodyPr/>
                    <a:lstStyle/>
                    <a:p>
                      <a:r>
                        <a:rPr lang="en-US" dirty="0"/>
                        <a:t>Subject</a:t>
                      </a:r>
                    </a:p>
                  </a:txBody>
                  <a:tcPr/>
                </a:tc>
                <a:tc>
                  <a:txBody>
                    <a:bodyPr/>
                    <a:lstStyle/>
                    <a:p>
                      <a:r>
                        <a:rPr lang="en-US" dirty="0"/>
                        <a:t>Round</a:t>
                      </a:r>
                    </a:p>
                  </a:txBody>
                  <a:tcPr/>
                </a:tc>
                <a:tc>
                  <a:txBody>
                    <a:bodyPr/>
                    <a:lstStyle/>
                    <a:p>
                      <a:r>
                        <a:rPr lang="en-US" dirty="0"/>
                        <a:t>Choice</a:t>
                      </a:r>
                    </a:p>
                  </a:txBody>
                  <a:tcPr/>
                </a:tc>
                <a:tc>
                  <a:txBody>
                    <a:bodyPr/>
                    <a:lstStyle/>
                    <a:p>
                      <a:r>
                        <a:rPr lang="en-US" dirty="0"/>
                        <a:t>Gender</a:t>
                      </a:r>
                    </a:p>
                  </a:txBody>
                  <a:tcPr/>
                </a:tc>
                <a:tc>
                  <a:txBody>
                    <a:bodyPr/>
                    <a:lstStyle/>
                    <a:p>
                      <a:r>
                        <a:rPr lang="en-US" dirty="0"/>
                        <a:t>Age</a:t>
                      </a:r>
                    </a:p>
                  </a:txBody>
                  <a:tcPr/>
                </a:tc>
                <a:extLst>
                  <a:ext uri="{0D108BD9-81ED-4DB2-BD59-A6C34878D82A}">
                    <a16:rowId xmlns:a16="http://schemas.microsoft.com/office/drawing/2014/main" val="10000"/>
                  </a:ext>
                </a:extLst>
              </a:tr>
              <a:tr h="726337">
                <a:tc>
                  <a:txBody>
                    <a:bodyPr/>
                    <a:lstStyle/>
                    <a:p>
                      <a:r>
                        <a:rPr lang="en-US" dirty="0"/>
                        <a:t>1</a:t>
                      </a:r>
                    </a:p>
                  </a:txBody>
                  <a:tcPr/>
                </a:tc>
                <a:tc>
                  <a:txBody>
                    <a:bodyPr/>
                    <a:lstStyle/>
                    <a:p>
                      <a:r>
                        <a:rPr lang="en-US" dirty="0"/>
                        <a:t>1</a:t>
                      </a:r>
                    </a:p>
                  </a:txBody>
                  <a:tcPr/>
                </a:tc>
                <a:tc>
                  <a:txBody>
                    <a:bodyPr/>
                    <a:lstStyle/>
                    <a:p>
                      <a:r>
                        <a:rPr lang="en-US" dirty="0"/>
                        <a:t>4</a:t>
                      </a:r>
                    </a:p>
                  </a:txBody>
                  <a:tcPr/>
                </a:tc>
                <a:tc>
                  <a:txBody>
                    <a:bodyPr/>
                    <a:lstStyle/>
                    <a:p>
                      <a:r>
                        <a:rPr lang="en-US" dirty="0"/>
                        <a:t>0</a:t>
                      </a:r>
                    </a:p>
                  </a:txBody>
                  <a:tcPr/>
                </a:tc>
                <a:tc>
                  <a:txBody>
                    <a:bodyPr/>
                    <a:lstStyle/>
                    <a:p>
                      <a:r>
                        <a:rPr lang="en-US" dirty="0"/>
                        <a:t>20</a:t>
                      </a:r>
                    </a:p>
                  </a:txBody>
                  <a:tcPr/>
                </a:tc>
                <a:extLst>
                  <a:ext uri="{0D108BD9-81ED-4DB2-BD59-A6C34878D82A}">
                    <a16:rowId xmlns:a16="http://schemas.microsoft.com/office/drawing/2014/main" val="10001"/>
                  </a:ext>
                </a:extLst>
              </a:tr>
              <a:tr h="726337">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0</a:t>
                      </a:r>
                    </a:p>
                  </a:txBody>
                  <a:tcPr/>
                </a:tc>
                <a:tc>
                  <a:txBody>
                    <a:bodyPr/>
                    <a:lstStyle/>
                    <a:p>
                      <a:r>
                        <a:rPr lang="en-US" dirty="0"/>
                        <a:t>20</a:t>
                      </a:r>
                    </a:p>
                  </a:txBody>
                  <a:tcPr/>
                </a:tc>
                <a:extLst>
                  <a:ext uri="{0D108BD9-81ED-4DB2-BD59-A6C34878D82A}">
                    <a16:rowId xmlns:a16="http://schemas.microsoft.com/office/drawing/2014/main" val="10002"/>
                  </a:ext>
                </a:extLst>
              </a:tr>
              <a:tr h="726337">
                <a:tc>
                  <a:txBody>
                    <a:bodyPr/>
                    <a:lstStyle/>
                    <a:p>
                      <a:r>
                        <a:rPr lang="en-US" dirty="0"/>
                        <a:t>2</a:t>
                      </a:r>
                    </a:p>
                  </a:txBody>
                  <a:tcPr/>
                </a:tc>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19</a:t>
                      </a:r>
                    </a:p>
                  </a:txBody>
                  <a:tcPr/>
                </a:tc>
                <a:extLst>
                  <a:ext uri="{0D108BD9-81ED-4DB2-BD59-A6C34878D82A}">
                    <a16:rowId xmlns:a16="http://schemas.microsoft.com/office/drawing/2014/main" val="10003"/>
                  </a:ext>
                </a:extLst>
              </a:tr>
              <a:tr h="726337">
                <a:tc>
                  <a:txBody>
                    <a:bodyPr/>
                    <a:lstStyle/>
                    <a:p>
                      <a:r>
                        <a:rPr lang="en-US" dirty="0"/>
                        <a:t>2</a:t>
                      </a:r>
                    </a:p>
                  </a:txBody>
                  <a:tcPr/>
                </a:tc>
                <a:tc>
                  <a:txBody>
                    <a:bodyPr/>
                    <a:lstStyle/>
                    <a:p>
                      <a:r>
                        <a:rPr lang="en-US" dirty="0"/>
                        <a:t>2</a:t>
                      </a:r>
                    </a:p>
                  </a:txBody>
                  <a:tcPr/>
                </a:tc>
                <a:tc>
                  <a:txBody>
                    <a:bodyPr/>
                    <a:lstStyle/>
                    <a:p>
                      <a:r>
                        <a:rPr lang="en-US" dirty="0"/>
                        <a:t>4</a:t>
                      </a:r>
                    </a:p>
                  </a:txBody>
                  <a:tcPr/>
                </a:tc>
                <a:tc>
                  <a:txBody>
                    <a:bodyPr/>
                    <a:lstStyle/>
                    <a:p>
                      <a:r>
                        <a:rPr lang="en-US" dirty="0"/>
                        <a:t>1</a:t>
                      </a:r>
                    </a:p>
                  </a:txBody>
                  <a:tcPr/>
                </a:tc>
                <a:tc>
                  <a:txBody>
                    <a:bodyPr/>
                    <a:lstStyle/>
                    <a:p>
                      <a:r>
                        <a:rPr lang="en-US" dirty="0"/>
                        <a:t>19</a:t>
                      </a:r>
                    </a:p>
                  </a:txBody>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41FF14CC-3BEB-6A62-3AF8-AB0A5FE33C86}"/>
              </a:ext>
            </a:extLst>
          </p:cNvPr>
          <p:cNvSpPr txBox="1"/>
          <p:nvPr/>
        </p:nvSpPr>
        <p:spPr>
          <a:xfrm>
            <a:off x="6479381" y="278606"/>
            <a:ext cx="5043488" cy="369332"/>
          </a:xfrm>
          <a:prstGeom prst="rect">
            <a:avLst/>
          </a:prstGeom>
          <a:noFill/>
        </p:spPr>
        <p:txBody>
          <a:bodyPr wrap="square" rtlCol="0">
            <a:spAutoFit/>
          </a:bodyPr>
          <a:lstStyle/>
          <a:p>
            <a:r>
              <a:rPr lang="en-US" dirty="0"/>
              <a:t>select * from choices join demo </a:t>
            </a:r>
            <a:r>
              <a:rPr lang="en-US"/>
              <a:t>using (Subject)</a:t>
            </a:r>
            <a:endParaRPr lang="en-US" dirty="0"/>
          </a:p>
        </p:txBody>
      </p:sp>
    </p:spTree>
    <p:extLst>
      <p:ext uri="{BB962C8B-B14F-4D97-AF65-F5344CB8AC3E}">
        <p14:creationId xmlns:p14="http://schemas.microsoft.com/office/powerpoint/2010/main" val="2034121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Get a list of all album names and the artist name that made the album.</a:t>
            </a:r>
          </a:p>
          <a:p>
            <a:r>
              <a:rPr lang="en-US" dirty="0"/>
              <a:t>This means combining the info in the Artist table with the Album table.</a:t>
            </a:r>
          </a:p>
          <a:p>
            <a:r>
              <a:rPr lang="en-US" dirty="0"/>
              <a:t>The </a:t>
            </a:r>
            <a:r>
              <a:rPr lang="en-US" dirty="0" err="1"/>
              <a:t>ArtistId</a:t>
            </a:r>
            <a:r>
              <a:rPr lang="en-US" dirty="0"/>
              <a:t> field is the link between the 2 tables.</a:t>
            </a:r>
          </a:p>
          <a:p>
            <a:r>
              <a:rPr lang="en-US" dirty="0">
                <a:solidFill>
                  <a:srgbClr val="FF0000"/>
                </a:solidFill>
              </a:rPr>
              <a:t>select Name, Title from Album join Artist using (</a:t>
            </a:r>
            <a:r>
              <a:rPr lang="en-US" dirty="0" err="1">
                <a:solidFill>
                  <a:srgbClr val="FF0000"/>
                </a:solidFill>
              </a:rPr>
              <a:t>ArtistId</a:t>
            </a:r>
            <a:r>
              <a:rPr lang="en-US" dirty="0">
                <a:solidFill>
                  <a:srgbClr val="FF0000"/>
                </a:solidFill>
              </a:rPr>
              <a:t>)</a:t>
            </a:r>
          </a:p>
          <a:p>
            <a:r>
              <a:rPr lang="en-US" dirty="0"/>
              <a:t>The join word in SQL means to join Album and Artist tables.</a:t>
            </a:r>
          </a:p>
          <a:p>
            <a:r>
              <a:rPr lang="en-US" dirty="0"/>
              <a:t>The using word in SQL is followed by the field to use for the join.  i.e. the query finds records in the two tables that have matching </a:t>
            </a:r>
            <a:r>
              <a:rPr lang="en-US" dirty="0" err="1"/>
              <a:t>ArtistId’s</a:t>
            </a:r>
            <a:r>
              <a:rPr lang="en-US" dirty="0"/>
              <a:t> and create a record for each match.</a:t>
            </a:r>
          </a:p>
        </p:txBody>
      </p:sp>
    </p:spTree>
    <p:extLst>
      <p:ext uri="{BB962C8B-B14F-4D97-AF65-F5344CB8AC3E}">
        <p14:creationId xmlns:p14="http://schemas.microsoft.com/office/powerpoint/2010/main" val="1050307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What if the fields linking the two tables had different names?</a:t>
            </a:r>
          </a:p>
          <a:p>
            <a:r>
              <a:rPr lang="en-US" dirty="0"/>
              <a:t>For example, suppose the Artist table had two fields:  Id and Name (instead of </a:t>
            </a:r>
            <a:r>
              <a:rPr lang="en-US" dirty="0" err="1"/>
              <a:t>ArtistId</a:t>
            </a:r>
            <a:r>
              <a:rPr lang="en-US" dirty="0"/>
              <a:t> and Name) but the Album field was unchanged.</a:t>
            </a:r>
          </a:p>
          <a:p>
            <a:r>
              <a:rPr lang="en-US" dirty="0">
                <a:solidFill>
                  <a:srgbClr val="FF0000"/>
                </a:solidFill>
              </a:rPr>
              <a:t>select Name, Title from Album join Artist on </a:t>
            </a:r>
            <a:r>
              <a:rPr lang="en-US" dirty="0" err="1">
                <a:solidFill>
                  <a:srgbClr val="FF0000"/>
                </a:solidFill>
              </a:rPr>
              <a:t>Album.ArtistId</a:t>
            </a:r>
            <a:r>
              <a:rPr lang="en-US" dirty="0">
                <a:solidFill>
                  <a:srgbClr val="FF0000"/>
                </a:solidFill>
              </a:rPr>
              <a:t>=</a:t>
            </a:r>
            <a:r>
              <a:rPr lang="en-US" dirty="0" err="1">
                <a:solidFill>
                  <a:srgbClr val="FF0000"/>
                </a:solidFill>
              </a:rPr>
              <a:t>Artist.Id</a:t>
            </a:r>
            <a:endParaRPr lang="en-US" dirty="0">
              <a:solidFill>
                <a:srgbClr val="FF0000"/>
              </a:solidFill>
            </a:endParaRPr>
          </a:p>
          <a:p>
            <a:r>
              <a:rPr lang="en-US" dirty="0"/>
              <a:t>This finds all matches between </a:t>
            </a:r>
            <a:r>
              <a:rPr lang="en-US" dirty="0" err="1"/>
              <a:t>ArtistId</a:t>
            </a:r>
            <a:r>
              <a:rPr lang="en-US" dirty="0"/>
              <a:t> field in Album table and Id field in Artist table and selects the Name (from Artist) and Title (from Album).</a:t>
            </a:r>
          </a:p>
          <a:p>
            <a:r>
              <a:rPr lang="en-US" dirty="0"/>
              <a:t>Note that in this and the previous query, I didn’t have to specify a table for Name (in Artist table) or Title (in Album table) because those fields only appear in one table so there is no ambiguity.</a:t>
            </a:r>
          </a:p>
          <a:p>
            <a:endParaRPr lang="en-US" dirty="0"/>
          </a:p>
          <a:p>
            <a:endParaRPr lang="en-US" dirty="0"/>
          </a:p>
        </p:txBody>
      </p:sp>
    </p:spTree>
    <p:extLst>
      <p:ext uri="{BB962C8B-B14F-4D97-AF65-F5344CB8AC3E}">
        <p14:creationId xmlns:p14="http://schemas.microsoft.com/office/powerpoint/2010/main" val="1528921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Join</a:t>
            </a:r>
          </a:p>
        </p:txBody>
      </p:sp>
      <p:sp>
        <p:nvSpPr>
          <p:cNvPr id="3" name="Content Placeholder 2"/>
          <p:cNvSpPr>
            <a:spLocks noGrp="1"/>
          </p:cNvSpPr>
          <p:nvPr>
            <p:ph idx="1"/>
          </p:nvPr>
        </p:nvSpPr>
        <p:spPr/>
        <p:txBody>
          <a:bodyPr/>
          <a:lstStyle/>
          <a:p>
            <a:r>
              <a:rPr lang="en-US" dirty="0"/>
              <a:t>In our example, there is an even easier way to join.</a:t>
            </a:r>
          </a:p>
          <a:p>
            <a:r>
              <a:rPr lang="en-US" dirty="0"/>
              <a:t>If there is only one field name in common, we can use natural join instead of join.  This automatically links using the common field name.</a:t>
            </a:r>
          </a:p>
          <a:p>
            <a:r>
              <a:rPr lang="en-US" dirty="0">
                <a:solidFill>
                  <a:srgbClr val="FF0000"/>
                </a:solidFill>
              </a:rPr>
              <a:t>select Name, Title from Album natural join Artist</a:t>
            </a:r>
          </a:p>
        </p:txBody>
      </p:sp>
    </p:spTree>
    <p:extLst>
      <p:ext uri="{BB962C8B-B14F-4D97-AF65-F5344CB8AC3E}">
        <p14:creationId xmlns:p14="http://schemas.microsoft.com/office/powerpoint/2010/main" val="4110108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Join</a:t>
            </a:r>
          </a:p>
        </p:txBody>
      </p:sp>
      <p:sp>
        <p:nvSpPr>
          <p:cNvPr id="3" name="Content Placeholder 2"/>
          <p:cNvSpPr>
            <a:spLocks noGrp="1"/>
          </p:cNvSpPr>
          <p:nvPr>
            <p:ph idx="1"/>
          </p:nvPr>
        </p:nvSpPr>
        <p:spPr/>
        <p:txBody>
          <a:bodyPr/>
          <a:lstStyle/>
          <a:p>
            <a:r>
              <a:rPr lang="en-US" dirty="0"/>
              <a:t>By default, join means an inner join.  You can also use “inner join” instead of “join” in our first 2 examples.  This distinguishes from other types of joins.</a:t>
            </a:r>
          </a:p>
          <a:p>
            <a:r>
              <a:rPr lang="en-US" dirty="0">
                <a:solidFill>
                  <a:srgbClr val="FF0000"/>
                </a:solidFill>
              </a:rPr>
              <a:t>select Name, Title from Album inner join Artist using (</a:t>
            </a:r>
            <a:r>
              <a:rPr lang="en-US" dirty="0" err="1">
                <a:solidFill>
                  <a:srgbClr val="FF0000"/>
                </a:solidFill>
              </a:rPr>
              <a:t>ArtistId</a:t>
            </a:r>
            <a:r>
              <a:rPr lang="en-US" dirty="0">
                <a:solidFill>
                  <a:srgbClr val="FF0000"/>
                </a:solidFill>
              </a:rPr>
              <a:t>)</a:t>
            </a:r>
            <a:endParaRPr lang="en-US" dirty="0"/>
          </a:p>
          <a:p>
            <a:r>
              <a:rPr lang="en-US" dirty="0">
                <a:solidFill>
                  <a:srgbClr val="FF0000"/>
                </a:solidFill>
              </a:rPr>
              <a:t>select Name, Title from Album inner join Artist on </a:t>
            </a:r>
            <a:r>
              <a:rPr lang="en-US" dirty="0" err="1">
                <a:solidFill>
                  <a:srgbClr val="FF0000"/>
                </a:solidFill>
              </a:rPr>
              <a:t>Album.ArtistId</a:t>
            </a:r>
            <a:r>
              <a:rPr lang="en-US" dirty="0">
                <a:solidFill>
                  <a:srgbClr val="FF0000"/>
                </a:solidFill>
              </a:rPr>
              <a:t>=</a:t>
            </a:r>
            <a:r>
              <a:rPr lang="en-US" dirty="0" err="1">
                <a:solidFill>
                  <a:srgbClr val="FF0000"/>
                </a:solidFill>
              </a:rPr>
              <a:t>Artist.Id</a:t>
            </a:r>
            <a:endParaRPr lang="en-US" dirty="0">
              <a:solidFill>
                <a:srgbClr val="FF0000"/>
              </a:solidFill>
            </a:endParaRPr>
          </a:p>
          <a:p>
            <a:endParaRPr lang="en-US" dirty="0">
              <a:solidFill>
                <a:srgbClr val="FF0000"/>
              </a:solidFill>
            </a:endParaRPr>
          </a:p>
          <a:p>
            <a:r>
              <a:rPr lang="en-US" dirty="0"/>
              <a:t>To do outer join, use “full join”.</a:t>
            </a:r>
          </a:p>
          <a:p>
            <a:r>
              <a:rPr lang="en-US" dirty="0"/>
              <a:t>Also available:  “left join” and “right join” </a:t>
            </a:r>
          </a:p>
          <a:p>
            <a:endParaRPr lang="en-US" dirty="0">
              <a:solidFill>
                <a:srgbClr val="FF0000"/>
              </a:solidFill>
            </a:endParaRPr>
          </a:p>
          <a:p>
            <a:endParaRPr lang="en-US" dirty="0"/>
          </a:p>
        </p:txBody>
      </p:sp>
    </p:spTree>
    <p:extLst>
      <p:ext uri="{BB962C8B-B14F-4D97-AF65-F5344CB8AC3E}">
        <p14:creationId xmlns:p14="http://schemas.microsoft.com/office/powerpoint/2010/main" val="448680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a:t>
            </a:r>
          </a:p>
        </p:txBody>
      </p:sp>
      <p:sp>
        <p:nvSpPr>
          <p:cNvPr id="3" name="Content Placeholder 2"/>
          <p:cNvSpPr>
            <a:spLocks noGrp="1"/>
          </p:cNvSpPr>
          <p:nvPr>
            <p:ph idx="1"/>
          </p:nvPr>
        </p:nvSpPr>
        <p:spPr/>
        <p:txBody>
          <a:bodyPr/>
          <a:lstStyle/>
          <a:p>
            <a:r>
              <a:rPr lang="en-US" dirty="0"/>
              <a:t>Write a query to find the </a:t>
            </a:r>
            <a:r>
              <a:rPr lang="en-US" dirty="0" err="1"/>
              <a:t>CustomerID</a:t>
            </a:r>
            <a:r>
              <a:rPr lang="en-US" dirty="0"/>
              <a:t>, </a:t>
            </a:r>
            <a:r>
              <a:rPr lang="en-US" dirty="0" err="1"/>
              <a:t>TrackId</a:t>
            </a:r>
            <a:r>
              <a:rPr lang="en-US" dirty="0"/>
              <a:t>, Quantity, and </a:t>
            </a:r>
            <a:r>
              <a:rPr lang="en-US" dirty="0" err="1"/>
              <a:t>UnitPrice</a:t>
            </a:r>
            <a:r>
              <a:rPr lang="en-US" dirty="0"/>
              <a:t> for all track purchases.</a:t>
            </a:r>
          </a:p>
          <a:p>
            <a:endParaRPr lang="en-US" dirty="0"/>
          </a:p>
          <a:p>
            <a:r>
              <a:rPr lang="en-US" dirty="0"/>
              <a:t>Call your script:  sql_inclass.py</a:t>
            </a:r>
          </a:p>
          <a:p>
            <a:r>
              <a:rPr lang="en-US" dirty="0"/>
              <a:t>Save your </a:t>
            </a:r>
            <a:r>
              <a:rPr lang="en-US" dirty="0" err="1"/>
              <a:t>dataframe</a:t>
            </a:r>
            <a:r>
              <a:rPr lang="en-US" dirty="0"/>
              <a:t> as d5</a:t>
            </a:r>
          </a:p>
          <a:p>
            <a:endParaRPr lang="en-US" dirty="0"/>
          </a:p>
        </p:txBody>
      </p:sp>
    </p:spTree>
    <p:extLst>
      <p:ext uri="{BB962C8B-B14F-4D97-AF65-F5344CB8AC3E}">
        <p14:creationId xmlns:p14="http://schemas.microsoft.com/office/powerpoint/2010/main" val="1363246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Now suppose we want to get a list of track names along with the corresponding album and artist names.</a:t>
            </a:r>
          </a:p>
          <a:p>
            <a:r>
              <a:rPr lang="en-US" dirty="0"/>
              <a:t>This involves 3 tables and also has a problem that both Artist and Track have fields named “Name”.</a:t>
            </a:r>
          </a:p>
          <a:p>
            <a:r>
              <a:rPr lang="en-US" dirty="0">
                <a:solidFill>
                  <a:srgbClr val="FF0000"/>
                </a:solidFill>
              </a:rPr>
              <a:t>select </a:t>
            </a:r>
            <a:r>
              <a:rPr lang="en-US" dirty="0" err="1">
                <a:solidFill>
                  <a:srgbClr val="FF0000"/>
                </a:solidFill>
              </a:rPr>
              <a:t>Artist.Name</a:t>
            </a:r>
            <a:r>
              <a:rPr lang="en-US" dirty="0">
                <a:solidFill>
                  <a:srgbClr val="FF0000"/>
                </a:solidFill>
              </a:rPr>
              <a:t>, Title, </a:t>
            </a:r>
            <a:r>
              <a:rPr lang="en-US" dirty="0" err="1">
                <a:solidFill>
                  <a:srgbClr val="FF0000"/>
                </a:solidFill>
              </a:rPr>
              <a:t>Track.Name</a:t>
            </a:r>
            <a:r>
              <a:rPr lang="en-US" dirty="0">
                <a:solidFill>
                  <a:srgbClr val="FF0000"/>
                </a:solidFill>
              </a:rPr>
              <a:t> from Album join Artist using (</a:t>
            </a:r>
            <a:r>
              <a:rPr lang="en-US" dirty="0" err="1">
                <a:solidFill>
                  <a:srgbClr val="FF0000"/>
                </a:solidFill>
              </a:rPr>
              <a:t>ArtistId</a:t>
            </a:r>
            <a:r>
              <a:rPr lang="en-US" dirty="0">
                <a:solidFill>
                  <a:srgbClr val="FF0000"/>
                </a:solidFill>
              </a:rPr>
              <a:t>) join Track using (</a:t>
            </a:r>
            <a:r>
              <a:rPr lang="en-US" dirty="0" err="1">
                <a:solidFill>
                  <a:srgbClr val="FF0000"/>
                </a:solidFill>
              </a:rPr>
              <a:t>AlbumId</a:t>
            </a:r>
            <a:r>
              <a:rPr lang="en-US" dirty="0">
                <a:solidFill>
                  <a:srgbClr val="FF0000"/>
                </a:solidFill>
              </a:rPr>
              <a:t>)</a:t>
            </a:r>
            <a:endParaRPr lang="en-US" dirty="0">
              <a:solidFill>
                <a:schemeClr val="tx1"/>
              </a:solidFill>
            </a:endParaRPr>
          </a:p>
          <a:p>
            <a:pPr marL="0" indent="0">
              <a:buNone/>
            </a:pPr>
            <a:r>
              <a:rPr lang="en-US" dirty="0"/>
              <a:t> This links Album to Artist using </a:t>
            </a:r>
            <a:r>
              <a:rPr lang="en-US" dirty="0" err="1"/>
              <a:t>ArtistId</a:t>
            </a:r>
            <a:r>
              <a:rPr lang="en-US" dirty="0"/>
              <a:t> and Album to Track using </a:t>
            </a:r>
            <a:r>
              <a:rPr lang="en-US" dirty="0" err="1"/>
              <a:t>AlbumId</a:t>
            </a:r>
            <a:r>
              <a:rPr lang="en-US" dirty="0"/>
              <a:t>.</a:t>
            </a:r>
          </a:p>
          <a:p>
            <a:pPr marL="0" indent="0">
              <a:buNone/>
            </a:pPr>
            <a:r>
              <a:rPr lang="en-US" dirty="0"/>
              <a:t>To deal with the ambiguity of Name, we identify the table using the syntax </a:t>
            </a:r>
            <a:r>
              <a:rPr lang="en-US" dirty="0" err="1"/>
              <a:t>TableName.FieldName</a:t>
            </a:r>
            <a:r>
              <a:rPr lang="en-US" dirty="0"/>
              <a:t>.</a:t>
            </a:r>
          </a:p>
          <a:p>
            <a:pPr marL="0" indent="0">
              <a:buNone/>
            </a:pPr>
            <a:r>
              <a:rPr lang="en-US" dirty="0"/>
              <a:t>This syntax (</a:t>
            </a:r>
            <a:r>
              <a:rPr lang="en-US" dirty="0" err="1"/>
              <a:t>TableName.FieldName</a:t>
            </a:r>
            <a:r>
              <a:rPr lang="en-US" dirty="0"/>
              <a:t>) is always optional but only required when there is ambiguity.</a:t>
            </a:r>
          </a:p>
          <a:p>
            <a:endParaRPr lang="en-US" dirty="0"/>
          </a:p>
        </p:txBody>
      </p:sp>
    </p:spTree>
    <p:extLst>
      <p:ext uri="{BB962C8B-B14F-4D97-AF65-F5344CB8AC3E}">
        <p14:creationId xmlns:p14="http://schemas.microsoft.com/office/powerpoint/2010/main" val="1555032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normAutofit/>
          </a:bodyPr>
          <a:lstStyle/>
          <a:p>
            <a:r>
              <a:rPr lang="en-US" dirty="0"/>
              <a:t>In the previous query, the result in Python would still have ambiguity about the name. </a:t>
            </a:r>
          </a:p>
          <a:p>
            <a:r>
              <a:rPr lang="en-US" dirty="0"/>
              <a:t>We may want to “name” our fields.</a:t>
            </a:r>
          </a:p>
          <a:p>
            <a:r>
              <a:rPr lang="en-US" dirty="0">
                <a:solidFill>
                  <a:srgbClr val="FF0000"/>
                </a:solidFill>
              </a:rPr>
              <a:t>select </a:t>
            </a:r>
            <a:r>
              <a:rPr lang="en-US" dirty="0" err="1">
                <a:solidFill>
                  <a:srgbClr val="FF0000"/>
                </a:solidFill>
              </a:rPr>
              <a:t>Artist.Name</a:t>
            </a:r>
            <a:r>
              <a:rPr lang="en-US" dirty="0">
                <a:solidFill>
                  <a:srgbClr val="FF0000"/>
                </a:solidFill>
              </a:rPr>
              <a:t> as </a:t>
            </a:r>
            <a:r>
              <a:rPr lang="en-US" dirty="0" err="1">
                <a:solidFill>
                  <a:srgbClr val="FF0000"/>
                </a:solidFill>
              </a:rPr>
              <a:t>ArtistName</a:t>
            </a:r>
            <a:r>
              <a:rPr lang="en-US" dirty="0">
                <a:solidFill>
                  <a:srgbClr val="FF0000"/>
                </a:solidFill>
              </a:rPr>
              <a:t>, Title as </a:t>
            </a:r>
            <a:r>
              <a:rPr lang="en-US" dirty="0" err="1">
                <a:solidFill>
                  <a:srgbClr val="FF0000"/>
                </a:solidFill>
              </a:rPr>
              <a:t>AlbumTitle</a:t>
            </a:r>
            <a:r>
              <a:rPr lang="en-US" dirty="0">
                <a:solidFill>
                  <a:srgbClr val="FF0000"/>
                </a:solidFill>
              </a:rPr>
              <a:t>, </a:t>
            </a:r>
            <a:r>
              <a:rPr lang="en-US" dirty="0" err="1">
                <a:solidFill>
                  <a:srgbClr val="FF0000"/>
                </a:solidFill>
              </a:rPr>
              <a:t>Track.Name</a:t>
            </a:r>
            <a:r>
              <a:rPr lang="en-US" dirty="0">
                <a:solidFill>
                  <a:srgbClr val="FF0000"/>
                </a:solidFill>
              </a:rPr>
              <a:t> as </a:t>
            </a:r>
            <a:r>
              <a:rPr lang="en-US" dirty="0" err="1">
                <a:solidFill>
                  <a:srgbClr val="FF0000"/>
                </a:solidFill>
              </a:rPr>
              <a:t>TrackName</a:t>
            </a:r>
            <a:r>
              <a:rPr lang="en-US" dirty="0">
                <a:solidFill>
                  <a:srgbClr val="FF0000"/>
                </a:solidFill>
              </a:rPr>
              <a:t> from Album join Artist using (</a:t>
            </a:r>
            <a:r>
              <a:rPr lang="en-US" dirty="0" err="1">
                <a:solidFill>
                  <a:srgbClr val="FF0000"/>
                </a:solidFill>
              </a:rPr>
              <a:t>ArtistId</a:t>
            </a:r>
            <a:r>
              <a:rPr lang="en-US" dirty="0">
                <a:solidFill>
                  <a:srgbClr val="FF0000"/>
                </a:solidFill>
              </a:rPr>
              <a:t>) join Track using (</a:t>
            </a:r>
            <a:r>
              <a:rPr lang="en-US" dirty="0" err="1">
                <a:solidFill>
                  <a:srgbClr val="FF0000"/>
                </a:solidFill>
              </a:rPr>
              <a:t>AlbumId</a:t>
            </a:r>
            <a:r>
              <a:rPr lang="en-US" dirty="0">
                <a:solidFill>
                  <a:srgbClr val="FF0000"/>
                </a:solidFill>
              </a:rPr>
              <a:t>)</a:t>
            </a:r>
            <a:endParaRPr lang="en-US" dirty="0">
              <a:solidFill>
                <a:schemeClr val="tx1"/>
              </a:solidFill>
            </a:endParaRPr>
          </a:p>
          <a:p>
            <a:pPr marL="0" indent="0">
              <a:buNone/>
            </a:pPr>
            <a:r>
              <a:rPr lang="en-US" dirty="0"/>
              <a:t> </a:t>
            </a:r>
          </a:p>
        </p:txBody>
      </p:sp>
    </p:spTree>
    <p:extLst>
      <p:ext uri="{BB962C8B-B14F-4D97-AF65-F5344CB8AC3E}">
        <p14:creationId xmlns:p14="http://schemas.microsoft.com/office/powerpoint/2010/main" val="118337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There are other ways to join 3 or more tables.</a:t>
            </a:r>
          </a:p>
          <a:p>
            <a:r>
              <a:rPr lang="en-US" dirty="0">
                <a:solidFill>
                  <a:srgbClr val="FF0000"/>
                </a:solidFill>
              </a:rPr>
              <a:t>select </a:t>
            </a:r>
            <a:r>
              <a:rPr lang="en-US" dirty="0" err="1">
                <a:solidFill>
                  <a:srgbClr val="FF0000"/>
                </a:solidFill>
              </a:rPr>
              <a:t>Artist.Name</a:t>
            </a:r>
            <a:r>
              <a:rPr lang="en-US" dirty="0">
                <a:solidFill>
                  <a:srgbClr val="FF0000"/>
                </a:solidFill>
              </a:rPr>
              <a:t>, Title, </a:t>
            </a:r>
            <a:r>
              <a:rPr lang="en-US" dirty="0" err="1">
                <a:solidFill>
                  <a:srgbClr val="FF0000"/>
                </a:solidFill>
              </a:rPr>
              <a:t>Track.Name</a:t>
            </a:r>
            <a:r>
              <a:rPr lang="en-US" dirty="0">
                <a:solidFill>
                  <a:srgbClr val="FF0000"/>
                </a:solidFill>
              </a:rPr>
              <a:t> from Track join (Album join Artist using (</a:t>
            </a:r>
            <a:r>
              <a:rPr lang="en-US" dirty="0" err="1">
                <a:solidFill>
                  <a:srgbClr val="FF0000"/>
                </a:solidFill>
              </a:rPr>
              <a:t>ArtistId</a:t>
            </a:r>
            <a:r>
              <a:rPr lang="en-US" dirty="0">
                <a:solidFill>
                  <a:srgbClr val="FF0000"/>
                </a:solidFill>
              </a:rPr>
              <a:t>)) using (</a:t>
            </a:r>
            <a:r>
              <a:rPr lang="en-US" dirty="0" err="1">
                <a:solidFill>
                  <a:srgbClr val="FF0000"/>
                </a:solidFill>
              </a:rPr>
              <a:t>AlbumId</a:t>
            </a:r>
            <a:r>
              <a:rPr lang="en-US" dirty="0">
                <a:solidFill>
                  <a:srgbClr val="FF0000"/>
                </a:solidFill>
              </a:rPr>
              <a:t>)</a:t>
            </a:r>
          </a:p>
          <a:p>
            <a:r>
              <a:rPr lang="en-US" dirty="0">
                <a:solidFill>
                  <a:schemeClr val="tx1"/>
                </a:solidFill>
              </a:rPr>
              <a:t>This links Album to Artist using </a:t>
            </a:r>
            <a:r>
              <a:rPr lang="en-US" dirty="0" err="1">
                <a:solidFill>
                  <a:schemeClr val="tx1"/>
                </a:solidFill>
              </a:rPr>
              <a:t>ArtistId</a:t>
            </a:r>
            <a:r>
              <a:rPr lang="en-US" dirty="0">
                <a:solidFill>
                  <a:schemeClr val="tx1"/>
                </a:solidFill>
              </a:rPr>
              <a:t> and joins that “joined table” to Track using “</a:t>
            </a:r>
            <a:r>
              <a:rPr lang="en-US" dirty="0" err="1">
                <a:solidFill>
                  <a:schemeClr val="tx1"/>
                </a:solidFill>
              </a:rPr>
              <a:t>AlbumId</a:t>
            </a:r>
            <a:r>
              <a:rPr lang="en-US" dirty="0">
                <a:solidFill>
                  <a:schemeClr val="tx1"/>
                </a:solidFill>
              </a:rPr>
              <a:t>”</a:t>
            </a:r>
          </a:p>
          <a:p>
            <a:r>
              <a:rPr lang="en-US" dirty="0">
                <a:solidFill>
                  <a:schemeClr val="tx1"/>
                </a:solidFill>
              </a:rPr>
              <a:t>Same Results</a:t>
            </a:r>
          </a:p>
          <a:p>
            <a:endParaRPr lang="en-US" dirty="0"/>
          </a:p>
        </p:txBody>
      </p:sp>
    </p:spTree>
    <p:extLst>
      <p:ext uri="{BB962C8B-B14F-4D97-AF65-F5344CB8AC3E}">
        <p14:creationId xmlns:p14="http://schemas.microsoft.com/office/powerpoint/2010/main" val="2977939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a:t>
            </a:r>
          </a:p>
        </p:txBody>
      </p:sp>
      <p:sp>
        <p:nvSpPr>
          <p:cNvPr id="3" name="Content Placeholder 2"/>
          <p:cNvSpPr>
            <a:spLocks noGrp="1"/>
          </p:cNvSpPr>
          <p:nvPr>
            <p:ph idx="1"/>
          </p:nvPr>
        </p:nvSpPr>
        <p:spPr/>
        <p:txBody>
          <a:bodyPr/>
          <a:lstStyle/>
          <a:p>
            <a:r>
              <a:rPr lang="en-US" dirty="0"/>
              <a:t>Write a query to find the customer last name, first name, the track name, quantity, the unit price  for all track purchases.</a:t>
            </a:r>
          </a:p>
          <a:p>
            <a:endParaRPr lang="en-US" dirty="0"/>
          </a:p>
          <a:p>
            <a:r>
              <a:rPr lang="en-US" dirty="0"/>
              <a:t>Call your script:  sql_inclass.py</a:t>
            </a:r>
          </a:p>
          <a:p>
            <a:r>
              <a:rPr lang="en-US" dirty="0"/>
              <a:t>Save your </a:t>
            </a:r>
            <a:r>
              <a:rPr lang="en-US" dirty="0" err="1"/>
              <a:t>dataframe</a:t>
            </a:r>
            <a:r>
              <a:rPr lang="en-US" dirty="0"/>
              <a:t> as d6</a:t>
            </a:r>
          </a:p>
          <a:p>
            <a:endParaRPr lang="en-US" dirty="0"/>
          </a:p>
          <a:p>
            <a:endParaRPr lang="en-US" dirty="0"/>
          </a:p>
        </p:txBody>
      </p:sp>
    </p:spTree>
    <p:extLst>
      <p:ext uri="{BB962C8B-B14F-4D97-AF65-F5344CB8AC3E}">
        <p14:creationId xmlns:p14="http://schemas.microsoft.com/office/powerpoint/2010/main" val="1136204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So far, our joins have not used where.  </a:t>
            </a:r>
          </a:p>
          <a:p>
            <a:r>
              <a:rPr lang="en-US" dirty="0"/>
              <a:t>Let’s find the track names on the album “Supernatural”</a:t>
            </a:r>
          </a:p>
          <a:p>
            <a:r>
              <a:rPr lang="en-US" dirty="0"/>
              <a:t>The album name is not part of the Track table, but the </a:t>
            </a:r>
            <a:r>
              <a:rPr lang="en-US" dirty="0" err="1"/>
              <a:t>AlbumId</a:t>
            </a:r>
            <a:r>
              <a:rPr lang="en-US" dirty="0"/>
              <a:t> field is.  </a:t>
            </a:r>
          </a:p>
          <a:p>
            <a:r>
              <a:rPr lang="en-US" dirty="0"/>
              <a:t>We will use the </a:t>
            </a:r>
            <a:r>
              <a:rPr lang="en-US" dirty="0" err="1"/>
              <a:t>AlbumId</a:t>
            </a:r>
            <a:r>
              <a:rPr lang="en-US" dirty="0"/>
              <a:t> field to link the Album and Track tables.</a:t>
            </a:r>
          </a:p>
          <a:p>
            <a:r>
              <a:rPr lang="en-US" dirty="0">
                <a:solidFill>
                  <a:srgbClr val="C00000"/>
                </a:solidFill>
              </a:rPr>
              <a:t>select Name from Track join Album using (</a:t>
            </a:r>
            <a:r>
              <a:rPr lang="en-US" dirty="0" err="1">
                <a:solidFill>
                  <a:srgbClr val="C00000"/>
                </a:solidFill>
              </a:rPr>
              <a:t>AlbumId</a:t>
            </a:r>
            <a:r>
              <a:rPr lang="en-US" dirty="0">
                <a:solidFill>
                  <a:srgbClr val="C00000"/>
                </a:solidFill>
              </a:rPr>
              <a:t>) where Title='Supernatural’</a:t>
            </a:r>
          </a:p>
          <a:p>
            <a:endParaRPr lang="en-US" dirty="0"/>
          </a:p>
        </p:txBody>
      </p:sp>
    </p:spTree>
    <p:extLst>
      <p:ext uri="{BB962C8B-B14F-4D97-AF65-F5344CB8AC3E}">
        <p14:creationId xmlns:p14="http://schemas.microsoft.com/office/powerpoint/2010/main" val="348823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normAutofit fontScale="92500" lnSpcReduction="20000"/>
          </a:bodyPr>
          <a:lstStyle/>
          <a:p>
            <a:r>
              <a:rPr lang="en-US" dirty="0"/>
              <a:t>Can still use “order by” to order results as well as other options from last time like group by and limit, etc.</a:t>
            </a:r>
          </a:p>
          <a:p>
            <a:r>
              <a:rPr lang="en-US" dirty="0">
                <a:solidFill>
                  <a:srgbClr val="FF0000"/>
                </a:solidFill>
              </a:rPr>
              <a:t>select </a:t>
            </a:r>
            <a:r>
              <a:rPr lang="en-US" dirty="0" err="1">
                <a:solidFill>
                  <a:srgbClr val="FF0000"/>
                </a:solidFill>
              </a:rPr>
              <a:t>Artist.Name</a:t>
            </a:r>
            <a:r>
              <a:rPr lang="en-US" dirty="0">
                <a:solidFill>
                  <a:srgbClr val="FF0000"/>
                </a:solidFill>
              </a:rPr>
              <a:t> as </a:t>
            </a:r>
            <a:r>
              <a:rPr lang="en-US" dirty="0" err="1">
                <a:solidFill>
                  <a:srgbClr val="FF0000"/>
                </a:solidFill>
              </a:rPr>
              <a:t>ArtistName</a:t>
            </a:r>
            <a:r>
              <a:rPr lang="en-US" dirty="0">
                <a:solidFill>
                  <a:srgbClr val="FF0000"/>
                </a:solidFill>
              </a:rPr>
              <a:t>, Title as </a:t>
            </a:r>
            <a:r>
              <a:rPr lang="en-US" dirty="0" err="1">
                <a:solidFill>
                  <a:srgbClr val="FF0000"/>
                </a:solidFill>
              </a:rPr>
              <a:t>AlbumTitle</a:t>
            </a:r>
            <a:r>
              <a:rPr lang="en-US" dirty="0">
                <a:solidFill>
                  <a:srgbClr val="FF0000"/>
                </a:solidFill>
              </a:rPr>
              <a:t>, </a:t>
            </a:r>
            <a:r>
              <a:rPr lang="en-US" dirty="0" err="1">
                <a:solidFill>
                  <a:srgbClr val="FF0000"/>
                </a:solidFill>
              </a:rPr>
              <a:t>Track.Name</a:t>
            </a:r>
            <a:r>
              <a:rPr lang="en-US" dirty="0">
                <a:solidFill>
                  <a:srgbClr val="FF0000"/>
                </a:solidFill>
              </a:rPr>
              <a:t> as </a:t>
            </a:r>
            <a:r>
              <a:rPr lang="en-US" dirty="0" err="1">
                <a:solidFill>
                  <a:srgbClr val="FF0000"/>
                </a:solidFill>
              </a:rPr>
              <a:t>TrackName</a:t>
            </a:r>
            <a:r>
              <a:rPr lang="en-US" dirty="0">
                <a:solidFill>
                  <a:srgbClr val="FF0000"/>
                </a:solidFill>
              </a:rPr>
              <a:t> from Album join Artist using (</a:t>
            </a:r>
            <a:r>
              <a:rPr lang="en-US" dirty="0" err="1">
                <a:solidFill>
                  <a:srgbClr val="FF0000"/>
                </a:solidFill>
              </a:rPr>
              <a:t>ArtistId</a:t>
            </a:r>
            <a:r>
              <a:rPr lang="en-US" dirty="0">
                <a:solidFill>
                  <a:srgbClr val="FF0000"/>
                </a:solidFill>
              </a:rPr>
              <a:t>) join Track using (</a:t>
            </a:r>
            <a:r>
              <a:rPr lang="en-US" dirty="0" err="1">
                <a:solidFill>
                  <a:srgbClr val="FF0000"/>
                </a:solidFill>
              </a:rPr>
              <a:t>AlbumId</a:t>
            </a:r>
            <a:r>
              <a:rPr lang="en-US" dirty="0">
                <a:solidFill>
                  <a:srgbClr val="FF0000"/>
                </a:solidFill>
              </a:rPr>
              <a:t>) order by </a:t>
            </a:r>
            <a:r>
              <a:rPr lang="en-US" dirty="0" err="1">
                <a:solidFill>
                  <a:srgbClr val="FF0000"/>
                </a:solidFill>
              </a:rPr>
              <a:t>ArtistName</a:t>
            </a:r>
            <a:r>
              <a:rPr lang="en-US" dirty="0">
                <a:solidFill>
                  <a:srgbClr val="FF0000"/>
                </a:solidFill>
              </a:rPr>
              <a:t>, </a:t>
            </a:r>
            <a:r>
              <a:rPr lang="en-US" dirty="0" err="1">
                <a:solidFill>
                  <a:srgbClr val="FF0000"/>
                </a:solidFill>
              </a:rPr>
              <a:t>AlbumTitle</a:t>
            </a:r>
            <a:endParaRPr lang="en-US" dirty="0">
              <a:solidFill>
                <a:srgbClr val="FF0000"/>
              </a:solidFill>
            </a:endParaRPr>
          </a:p>
          <a:p>
            <a:r>
              <a:rPr lang="en-US" dirty="0">
                <a:solidFill>
                  <a:schemeClr val="tx1"/>
                </a:solidFill>
              </a:rPr>
              <a:t>sorted first by Artist, then Album</a:t>
            </a:r>
          </a:p>
          <a:p>
            <a:r>
              <a:rPr lang="en-US" dirty="0">
                <a:solidFill>
                  <a:srgbClr val="FF0000"/>
                </a:solidFill>
              </a:rPr>
              <a:t>select </a:t>
            </a:r>
            <a:r>
              <a:rPr lang="en-US" dirty="0" err="1">
                <a:solidFill>
                  <a:srgbClr val="FF0000"/>
                </a:solidFill>
              </a:rPr>
              <a:t>Artist.Name</a:t>
            </a:r>
            <a:r>
              <a:rPr lang="en-US" dirty="0">
                <a:solidFill>
                  <a:srgbClr val="FF0000"/>
                </a:solidFill>
              </a:rPr>
              <a:t> as </a:t>
            </a:r>
            <a:r>
              <a:rPr lang="en-US" dirty="0" err="1">
                <a:solidFill>
                  <a:srgbClr val="FF0000"/>
                </a:solidFill>
              </a:rPr>
              <a:t>ArtistName</a:t>
            </a:r>
            <a:r>
              <a:rPr lang="en-US" dirty="0">
                <a:solidFill>
                  <a:srgbClr val="FF0000"/>
                </a:solidFill>
              </a:rPr>
              <a:t>, Title as </a:t>
            </a:r>
            <a:r>
              <a:rPr lang="en-US" dirty="0" err="1">
                <a:solidFill>
                  <a:srgbClr val="FF0000"/>
                </a:solidFill>
              </a:rPr>
              <a:t>AlbumTitle</a:t>
            </a:r>
            <a:r>
              <a:rPr lang="en-US" dirty="0">
                <a:solidFill>
                  <a:srgbClr val="FF0000"/>
                </a:solidFill>
              </a:rPr>
              <a:t>, sum(Milliseconds)/1000 as Length from Album join Artist using (</a:t>
            </a:r>
            <a:r>
              <a:rPr lang="en-US" dirty="0" err="1">
                <a:solidFill>
                  <a:srgbClr val="FF0000"/>
                </a:solidFill>
              </a:rPr>
              <a:t>ArtistId</a:t>
            </a:r>
            <a:r>
              <a:rPr lang="en-US" dirty="0">
                <a:solidFill>
                  <a:srgbClr val="FF0000"/>
                </a:solidFill>
              </a:rPr>
              <a:t>) join Track using (</a:t>
            </a:r>
            <a:r>
              <a:rPr lang="en-US" dirty="0" err="1">
                <a:solidFill>
                  <a:srgbClr val="FF0000"/>
                </a:solidFill>
              </a:rPr>
              <a:t>AlbumId</a:t>
            </a:r>
            <a:r>
              <a:rPr lang="en-US" dirty="0">
                <a:solidFill>
                  <a:srgbClr val="FF0000"/>
                </a:solidFill>
              </a:rPr>
              <a:t>) group by </a:t>
            </a:r>
            <a:r>
              <a:rPr lang="en-US" dirty="0" err="1">
                <a:solidFill>
                  <a:srgbClr val="FF0000"/>
                </a:solidFill>
              </a:rPr>
              <a:t>AlbumId</a:t>
            </a:r>
            <a:r>
              <a:rPr lang="en-US" dirty="0">
                <a:solidFill>
                  <a:srgbClr val="FF0000"/>
                </a:solidFill>
              </a:rPr>
              <a:t> order by </a:t>
            </a:r>
            <a:r>
              <a:rPr lang="en-US" dirty="0" err="1">
                <a:solidFill>
                  <a:srgbClr val="FF0000"/>
                </a:solidFill>
              </a:rPr>
              <a:t>ArtistName</a:t>
            </a:r>
            <a:r>
              <a:rPr lang="en-US" dirty="0">
                <a:solidFill>
                  <a:srgbClr val="FF0000"/>
                </a:solidFill>
              </a:rPr>
              <a:t>, </a:t>
            </a:r>
            <a:r>
              <a:rPr lang="en-US" dirty="0" err="1">
                <a:solidFill>
                  <a:srgbClr val="FF0000"/>
                </a:solidFill>
              </a:rPr>
              <a:t>AlbumTitle</a:t>
            </a:r>
            <a:endParaRPr lang="en-US" dirty="0">
              <a:solidFill>
                <a:srgbClr val="FF0000"/>
              </a:solidFill>
            </a:endParaRPr>
          </a:p>
          <a:p>
            <a:r>
              <a:rPr lang="en-US" dirty="0">
                <a:solidFill>
                  <a:schemeClr val="tx1"/>
                </a:solidFill>
              </a:rPr>
              <a:t>one entry per album with album name, artist name, and length in seconds</a:t>
            </a:r>
          </a:p>
          <a:p>
            <a:r>
              <a:rPr lang="en-US" dirty="0">
                <a:solidFill>
                  <a:srgbClr val="FF0000"/>
                </a:solidFill>
              </a:rPr>
              <a:t>select </a:t>
            </a:r>
            <a:r>
              <a:rPr lang="en-US" dirty="0" err="1">
                <a:solidFill>
                  <a:srgbClr val="FF0000"/>
                </a:solidFill>
              </a:rPr>
              <a:t>Artist.Name</a:t>
            </a:r>
            <a:r>
              <a:rPr lang="en-US" dirty="0">
                <a:solidFill>
                  <a:srgbClr val="FF0000"/>
                </a:solidFill>
              </a:rPr>
              <a:t> as </a:t>
            </a:r>
            <a:r>
              <a:rPr lang="en-US" dirty="0" err="1">
                <a:solidFill>
                  <a:srgbClr val="FF0000"/>
                </a:solidFill>
              </a:rPr>
              <a:t>ArtistName</a:t>
            </a:r>
            <a:r>
              <a:rPr lang="en-US" dirty="0">
                <a:solidFill>
                  <a:srgbClr val="FF0000"/>
                </a:solidFill>
              </a:rPr>
              <a:t>, Title as </a:t>
            </a:r>
            <a:r>
              <a:rPr lang="en-US" dirty="0" err="1">
                <a:solidFill>
                  <a:srgbClr val="FF0000"/>
                </a:solidFill>
              </a:rPr>
              <a:t>AlbumTitle</a:t>
            </a:r>
            <a:r>
              <a:rPr lang="en-US" dirty="0">
                <a:solidFill>
                  <a:srgbClr val="FF0000"/>
                </a:solidFill>
              </a:rPr>
              <a:t>, sum(Milliseconds)/1000 as Length from Album join Artist using (</a:t>
            </a:r>
            <a:r>
              <a:rPr lang="en-US" dirty="0" err="1">
                <a:solidFill>
                  <a:srgbClr val="FF0000"/>
                </a:solidFill>
              </a:rPr>
              <a:t>ArtistId</a:t>
            </a:r>
            <a:r>
              <a:rPr lang="en-US" dirty="0">
                <a:solidFill>
                  <a:srgbClr val="FF0000"/>
                </a:solidFill>
              </a:rPr>
              <a:t>) join Track using (</a:t>
            </a:r>
            <a:r>
              <a:rPr lang="en-US" dirty="0" err="1">
                <a:solidFill>
                  <a:srgbClr val="FF0000"/>
                </a:solidFill>
              </a:rPr>
              <a:t>AlbumId</a:t>
            </a:r>
            <a:r>
              <a:rPr lang="en-US" dirty="0">
                <a:solidFill>
                  <a:srgbClr val="FF0000"/>
                </a:solidFill>
              </a:rPr>
              <a:t>) group by </a:t>
            </a:r>
            <a:r>
              <a:rPr lang="en-US" dirty="0" err="1">
                <a:solidFill>
                  <a:srgbClr val="FF0000"/>
                </a:solidFill>
              </a:rPr>
              <a:t>AlbumId</a:t>
            </a:r>
            <a:r>
              <a:rPr lang="en-US" dirty="0">
                <a:solidFill>
                  <a:srgbClr val="FF0000"/>
                </a:solidFill>
              </a:rPr>
              <a:t> having Length&gt;1000 order by Length </a:t>
            </a:r>
            <a:r>
              <a:rPr lang="en-US" dirty="0" err="1">
                <a:solidFill>
                  <a:srgbClr val="FF0000"/>
                </a:solidFill>
              </a:rPr>
              <a:t>desc</a:t>
            </a:r>
            <a:endParaRPr lang="en-US" dirty="0">
              <a:solidFill>
                <a:srgbClr val="FF0000"/>
              </a:solidFill>
            </a:endParaRPr>
          </a:p>
          <a:p>
            <a:r>
              <a:rPr lang="en-US" dirty="0">
                <a:solidFill>
                  <a:schemeClr val="tx1"/>
                </a:solidFill>
              </a:rPr>
              <a:t>same as previous but only albums more than 1000 seconds long and sorted by Length instead of Artist</a:t>
            </a:r>
          </a:p>
          <a:p>
            <a:endParaRPr lang="en-US" dirty="0">
              <a:solidFill>
                <a:schemeClr val="tx1"/>
              </a:solidFill>
            </a:endParaRPr>
          </a:p>
          <a:p>
            <a:endParaRPr lang="en-US" dirty="0"/>
          </a:p>
        </p:txBody>
      </p:sp>
    </p:spTree>
    <p:extLst>
      <p:ext uri="{BB962C8B-B14F-4D97-AF65-F5344CB8AC3E}">
        <p14:creationId xmlns:p14="http://schemas.microsoft.com/office/powerpoint/2010/main" val="24346935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You can also specify “names” for your tables as follows.  Note that this is optional here but will be required in some queries later.</a:t>
            </a:r>
          </a:p>
          <a:p>
            <a:r>
              <a:rPr lang="en-US" dirty="0">
                <a:solidFill>
                  <a:srgbClr val="FF0000"/>
                </a:solidFill>
              </a:rPr>
              <a:t>select </a:t>
            </a:r>
            <a:r>
              <a:rPr lang="en-US" dirty="0" err="1">
                <a:solidFill>
                  <a:srgbClr val="FF0000"/>
                </a:solidFill>
              </a:rPr>
              <a:t>A.Name</a:t>
            </a:r>
            <a:r>
              <a:rPr lang="en-US" dirty="0">
                <a:solidFill>
                  <a:srgbClr val="FF0000"/>
                </a:solidFill>
              </a:rPr>
              <a:t> as </a:t>
            </a:r>
            <a:r>
              <a:rPr lang="en-US" dirty="0" err="1">
                <a:solidFill>
                  <a:srgbClr val="FF0000"/>
                </a:solidFill>
              </a:rPr>
              <a:t>ArtistName</a:t>
            </a:r>
            <a:r>
              <a:rPr lang="en-US" dirty="0">
                <a:solidFill>
                  <a:srgbClr val="FF0000"/>
                </a:solidFill>
              </a:rPr>
              <a:t>, Title as </a:t>
            </a:r>
            <a:r>
              <a:rPr lang="en-US" dirty="0" err="1">
                <a:solidFill>
                  <a:srgbClr val="FF0000"/>
                </a:solidFill>
              </a:rPr>
              <a:t>AlbumTitle</a:t>
            </a:r>
            <a:r>
              <a:rPr lang="en-US" dirty="0">
                <a:solidFill>
                  <a:srgbClr val="FF0000"/>
                </a:solidFill>
              </a:rPr>
              <a:t>, </a:t>
            </a:r>
            <a:r>
              <a:rPr lang="en-US" dirty="0" err="1">
                <a:solidFill>
                  <a:srgbClr val="FF0000"/>
                </a:solidFill>
              </a:rPr>
              <a:t>T.Name</a:t>
            </a:r>
            <a:r>
              <a:rPr lang="en-US" dirty="0">
                <a:solidFill>
                  <a:srgbClr val="FF0000"/>
                </a:solidFill>
              </a:rPr>
              <a:t> as </a:t>
            </a:r>
            <a:r>
              <a:rPr lang="en-US" dirty="0" err="1">
                <a:solidFill>
                  <a:srgbClr val="FF0000"/>
                </a:solidFill>
              </a:rPr>
              <a:t>TrackName</a:t>
            </a:r>
            <a:r>
              <a:rPr lang="en-US" dirty="0">
                <a:solidFill>
                  <a:srgbClr val="FF0000"/>
                </a:solidFill>
              </a:rPr>
              <a:t> from Album join Artist as A using (</a:t>
            </a:r>
            <a:r>
              <a:rPr lang="en-US" dirty="0" err="1">
                <a:solidFill>
                  <a:srgbClr val="FF0000"/>
                </a:solidFill>
              </a:rPr>
              <a:t>ArtistId</a:t>
            </a:r>
            <a:r>
              <a:rPr lang="en-US" dirty="0">
                <a:solidFill>
                  <a:srgbClr val="FF0000"/>
                </a:solidFill>
              </a:rPr>
              <a:t>) join Track as T using (</a:t>
            </a:r>
            <a:r>
              <a:rPr lang="en-US" dirty="0" err="1">
                <a:solidFill>
                  <a:srgbClr val="FF0000"/>
                </a:solidFill>
              </a:rPr>
              <a:t>AlbumId</a:t>
            </a:r>
            <a:r>
              <a:rPr lang="en-US" dirty="0">
                <a:solidFill>
                  <a:srgbClr val="FF0000"/>
                </a:solidFill>
              </a:rPr>
              <a:t>) order by </a:t>
            </a:r>
            <a:r>
              <a:rPr lang="en-US" dirty="0" err="1">
                <a:solidFill>
                  <a:srgbClr val="FF0000"/>
                </a:solidFill>
              </a:rPr>
              <a:t>ArtistName</a:t>
            </a:r>
            <a:r>
              <a:rPr lang="en-US" dirty="0">
                <a:solidFill>
                  <a:srgbClr val="FF0000"/>
                </a:solidFill>
              </a:rPr>
              <a:t>, </a:t>
            </a:r>
            <a:r>
              <a:rPr lang="en-US" dirty="0" err="1">
                <a:solidFill>
                  <a:srgbClr val="FF0000"/>
                </a:solidFill>
              </a:rPr>
              <a:t>AlbumTitle</a:t>
            </a:r>
            <a:endParaRPr lang="en-US" dirty="0">
              <a:solidFill>
                <a:srgbClr val="FF0000"/>
              </a:solidFill>
            </a:endParaRPr>
          </a:p>
          <a:p>
            <a:endParaRPr lang="en-US" dirty="0"/>
          </a:p>
          <a:p>
            <a:endParaRPr lang="en-US" dirty="0"/>
          </a:p>
        </p:txBody>
      </p:sp>
    </p:spTree>
    <p:extLst>
      <p:ext uri="{BB962C8B-B14F-4D97-AF65-F5344CB8AC3E}">
        <p14:creationId xmlns:p14="http://schemas.microsoft.com/office/powerpoint/2010/main" val="26788588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a:t>
            </a:r>
          </a:p>
        </p:txBody>
      </p:sp>
      <p:sp>
        <p:nvSpPr>
          <p:cNvPr id="3" name="Content Placeholder 2"/>
          <p:cNvSpPr>
            <a:spLocks noGrp="1"/>
          </p:cNvSpPr>
          <p:nvPr>
            <p:ph idx="1"/>
          </p:nvPr>
        </p:nvSpPr>
        <p:spPr/>
        <p:txBody>
          <a:bodyPr/>
          <a:lstStyle/>
          <a:p>
            <a:r>
              <a:rPr lang="en-US" dirty="0"/>
              <a:t>Write a query to find the </a:t>
            </a:r>
            <a:r>
              <a:rPr lang="en-US" dirty="0" err="1"/>
              <a:t>CustomerID</a:t>
            </a:r>
            <a:r>
              <a:rPr lang="en-US" dirty="0"/>
              <a:t>, </a:t>
            </a:r>
            <a:r>
              <a:rPr lang="en-US" dirty="0" err="1"/>
              <a:t>TrackId</a:t>
            </a:r>
            <a:r>
              <a:rPr lang="en-US" dirty="0"/>
              <a:t>, Quantity, and  </a:t>
            </a:r>
            <a:r>
              <a:rPr lang="en-US" dirty="0" err="1"/>
              <a:t>UnitPrice</a:t>
            </a:r>
            <a:r>
              <a:rPr lang="en-US" dirty="0"/>
              <a:t> for all track purchases on invoices that totaled more than $20.  Place results in descending order of the invoice total.</a:t>
            </a:r>
          </a:p>
          <a:p>
            <a:endParaRPr lang="en-US" dirty="0"/>
          </a:p>
          <a:p>
            <a:r>
              <a:rPr lang="en-US" dirty="0"/>
              <a:t>Call your script:  sql_inclass.py</a:t>
            </a:r>
          </a:p>
          <a:p>
            <a:r>
              <a:rPr lang="en-US" dirty="0"/>
              <a:t>Save your </a:t>
            </a:r>
            <a:r>
              <a:rPr lang="en-US" dirty="0" err="1"/>
              <a:t>dataframe</a:t>
            </a:r>
            <a:r>
              <a:rPr lang="en-US" dirty="0"/>
              <a:t> as d7</a:t>
            </a:r>
          </a:p>
          <a:p>
            <a:endParaRPr lang="en-US" dirty="0"/>
          </a:p>
          <a:p>
            <a:endParaRPr lang="en-US" dirty="0"/>
          </a:p>
        </p:txBody>
      </p:sp>
    </p:spTree>
    <p:extLst>
      <p:ext uri="{BB962C8B-B14F-4D97-AF65-F5344CB8AC3E}">
        <p14:creationId xmlns:p14="http://schemas.microsoft.com/office/powerpoint/2010/main" val="3460635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normAutofit fontScale="92500" lnSpcReduction="10000"/>
          </a:bodyPr>
          <a:lstStyle/>
          <a:p>
            <a:r>
              <a:rPr lang="en-US" dirty="0"/>
              <a:t>Sometimes we need to join a table more than once – then naming becomes important.</a:t>
            </a:r>
          </a:p>
          <a:p>
            <a:r>
              <a:rPr lang="en-US" dirty="0"/>
              <a:t>Example:  Find the names of all albums that have a track less than a minute in length and one greater then 5 minutes.</a:t>
            </a:r>
          </a:p>
          <a:p>
            <a:r>
              <a:rPr lang="en-US" dirty="0"/>
              <a:t>Attempt 1:</a:t>
            </a:r>
          </a:p>
          <a:p>
            <a:r>
              <a:rPr lang="en-US" dirty="0"/>
              <a:t>select Title from Album join Track using (</a:t>
            </a:r>
            <a:r>
              <a:rPr lang="en-US" dirty="0" err="1"/>
              <a:t>AlbumId</a:t>
            </a:r>
            <a:r>
              <a:rPr lang="en-US" dirty="0"/>
              <a:t>) where Milliseconds&lt;60000 and Milliseconds&gt;360000</a:t>
            </a:r>
          </a:p>
          <a:p>
            <a:pPr marL="0" indent="0">
              <a:buNone/>
            </a:pPr>
            <a:r>
              <a:rPr lang="en-US" dirty="0"/>
              <a:t>Problem:  Milliseconds can’t be greater than 360000 and less than 60000, no records returned</a:t>
            </a:r>
          </a:p>
          <a:p>
            <a:pPr marL="0" indent="0">
              <a:buNone/>
            </a:pPr>
            <a:r>
              <a:rPr lang="en-US" dirty="0"/>
              <a:t>Attempt 2:</a:t>
            </a:r>
          </a:p>
          <a:p>
            <a:pPr marL="0" indent="0">
              <a:buNone/>
            </a:pPr>
            <a:r>
              <a:rPr lang="en-US" dirty="0"/>
              <a:t> </a:t>
            </a:r>
            <a:r>
              <a:rPr lang="en-US" dirty="0">
                <a:solidFill>
                  <a:srgbClr val="C00000"/>
                </a:solidFill>
              </a:rPr>
              <a:t>select distinct Title from Album join Track as T1 using (</a:t>
            </a:r>
            <a:r>
              <a:rPr lang="en-US" dirty="0" err="1">
                <a:solidFill>
                  <a:srgbClr val="C00000"/>
                </a:solidFill>
              </a:rPr>
              <a:t>AlbumId</a:t>
            </a:r>
            <a:r>
              <a:rPr lang="en-US" dirty="0">
                <a:solidFill>
                  <a:srgbClr val="C00000"/>
                </a:solidFill>
              </a:rPr>
              <a:t>) join Track as T2 using (</a:t>
            </a:r>
            <a:r>
              <a:rPr lang="en-US" dirty="0" err="1">
                <a:solidFill>
                  <a:srgbClr val="C00000"/>
                </a:solidFill>
              </a:rPr>
              <a:t>AlbumId</a:t>
            </a:r>
            <a:r>
              <a:rPr lang="en-US" dirty="0">
                <a:solidFill>
                  <a:srgbClr val="C00000"/>
                </a:solidFill>
              </a:rPr>
              <a:t>) where T1.Milliseconds&lt;60000 and T2.Milliseconds&gt;360000</a:t>
            </a:r>
          </a:p>
          <a:p>
            <a:pPr marL="0" indent="0">
              <a:buNone/>
            </a:pPr>
            <a:r>
              <a:rPr lang="en-US" dirty="0">
                <a:solidFill>
                  <a:schemeClr val="tx1"/>
                </a:solidFill>
              </a:rPr>
              <a:t>Why did I add distinct?</a:t>
            </a:r>
          </a:p>
        </p:txBody>
      </p:sp>
    </p:spTree>
    <p:extLst>
      <p:ext uri="{BB962C8B-B14F-4D97-AF65-F5344CB8AC3E}">
        <p14:creationId xmlns:p14="http://schemas.microsoft.com/office/powerpoint/2010/main" val="8865033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You can join a table to itself, too</a:t>
            </a:r>
          </a:p>
          <a:p>
            <a:r>
              <a:rPr lang="en-US" dirty="0"/>
              <a:t>Example:  Find the </a:t>
            </a:r>
            <a:r>
              <a:rPr lang="en-US" dirty="0" err="1"/>
              <a:t>AlbumId</a:t>
            </a:r>
            <a:r>
              <a:rPr lang="en-US" dirty="0"/>
              <a:t> of all albums that have a track less than a minute in length and one greater then 5 minutes.</a:t>
            </a:r>
          </a:p>
          <a:p>
            <a:r>
              <a:rPr lang="en-US" dirty="0">
                <a:solidFill>
                  <a:srgbClr val="C00000"/>
                </a:solidFill>
              </a:rPr>
              <a:t>select distinct </a:t>
            </a:r>
            <a:r>
              <a:rPr lang="en-US" dirty="0" err="1">
                <a:solidFill>
                  <a:srgbClr val="C00000"/>
                </a:solidFill>
              </a:rPr>
              <a:t>AlbumId</a:t>
            </a:r>
            <a:r>
              <a:rPr lang="en-US" dirty="0">
                <a:solidFill>
                  <a:srgbClr val="C00000"/>
                </a:solidFill>
              </a:rPr>
              <a:t> from Track as T1 join Track as T2 using (</a:t>
            </a:r>
            <a:r>
              <a:rPr lang="en-US" dirty="0" err="1">
                <a:solidFill>
                  <a:srgbClr val="C00000"/>
                </a:solidFill>
              </a:rPr>
              <a:t>AlbumId</a:t>
            </a:r>
            <a:r>
              <a:rPr lang="en-US" dirty="0">
                <a:solidFill>
                  <a:srgbClr val="C00000"/>
                </a:solidFill>
              </a:rPr>
              <a:t>) where T1.Milliseconds&lt;60000 and T2.Milliseconds&gt;360000</a:t>
            </a:r>
          </a:p>
        </p:txBody>
      </p:sp>
    </p:spTree>
    <p:extLst>
      <p:ext uri="{BB962C8B-B14F-4D97-AF65-F5344CB8AC3E}">
        <p14:creationId xmlns:p14="http://schemas.microsoft.com/office/powerpoint/2010/main" val="2226991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Joins</a:t>
            </a:r>
          </a:p>
        </p:txBody>
      </p:sp>
      <p:sp>
        <p:nvSpPr>
          <p:cNvPr id="3" name="Content Placeholder 2"/>
          <p:cNvSpPr>
            <a:spLocks noGrp="1"/>
          </p:cNvSpPr>
          <p:nvPr>
            <p:ph idx="1"/>
          </p:nvPr>
        </p:nvSpPr>
        <p:spPr/>
        <p:txBody>
          <a:bodyPr/>
          <a:lstStyle/>
          <a:p>
            <a:r>
              <a:rPr lang="en-US" dirty="0"/>
              <a:t>Another Example:  Find the </a:t>
            </a:r>
            <a:r>
              <a:rPr lang="en-US" dirty="0" err="1"/>
              <a:t>AlbumId</a:t>
            </a:r>
            <a:r>
              <a:rPr lang="en-US" dirty="0"/>
              <a:t> of all albums that have a track less than a minute in length OR one greater then 5 minutes.</a:t>
            </a:r>
          </a:p>
          <a:p>
            <a:r>
              <a:rPr lang="en-US" dirty="0">
                <a:solidFill>
                  <a:srgbClr val="C00000"/>
                </a:solidFill>
              </a:rPr>
              <a:t>select distinct </a:t>
            </a:r>
            <a:r>
              <a:rPr lang="en-US" dirty="0" err="1">
                <a:solidFill>
                  <a:srgbClr val="C00000"/>
                </a:solidFill>
              </a:rPr>
              <a:t>AlbumId</a:t>
            </a:r>
            <a:r>
              <a:rPr lang="en-US" dirty="0">
                <a:solidFill>
                  <a:srgbClr val="C00000"/>
                </a:solidFill>
              </a:rPr>
              <a:t> from Track where Milliseconds&lt;60000 or Milliseconds&gt;360000</a:t>
            </a:r>
          </a:p>
          <a:p>
            <a:r>
              <a:rPr lang="en-US" dirty="0">
                <a:solidFill>
                  <a:schemeClr val="tx1"/>
                </a:solidFill>
              </a:rPr>
              <a:t>No need for join with OR but there was with AND</a:t>
            </a:r>
          </a:p>
        </p:txBody>
      </p:sp>
    </p:spTree>
    <p:extLst>
      <p:ext uri="{BB962C8B-B14F-4D97-AF65-F5344CB8AC3E}">
        <p14:creationId xmlns:p14="http://schemas.microsoft.com/office/powerpoint/2010/main" val="2537183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a:t>
            </a:r>
          </a:p>
        </p:txBody>
      </p:sp>
      <p:sp>
        <p:nvSpPr>
          <p:cNvPr id="3" name="Content Placeholder 2"/>
          <p:cNvSpPr>
            <a:spLocks noGrp="1"/>
          </p:cNvSpPr>
          <p:nvPr>
            <p:ph idx="1"/>
          </p:nvPr>
        </p:nvSpPr>
        <p:spPr>
          <a:xfrm>
            <a:off x="1066800" y="1980816"/>
            <a:ext cx="10058400" cy="4023360"/>
          </a:xfrm>
        </p:spPr>
        <p:txBody>
          <a:bodyPr/>
          <a:lstStyle/>
          <a:p>
            <a:r>
              <a:rPr lang="en-US" dirty="0"/>
              <a:t>Find all customer information for all customers who had 2 or more orders for over $10.</a:t>
            </a:r>
          </a:p>
          <a:p>
            <a:endParaRPr lang="en-US" dirty="0"/>
          </a:p>
          <a:p>
            <a:r>
              <a:rPr lang="en-US" dirty="0"/>
              <a:t>Call your script:  sql_inclass.py</a:t>
            </a:r>
          </a:p>
          <a:p>
            <a:r>
              <a:rPr lang="en-US" dirty="0"/>
              <a:t>Save your </a:t>
            </a:r>
            <a:r>
              <a:rPr lang="en-US" dirty="0" err="1"/>
              <a:t>dataframe</a:t>
            </a:r>
            <a:r>
              <a:rPr lang="en-US" dirty="0"/>
              <a:t> as d8</a:t>
            </a:r>
          </a:p>
          <a:p>
            <a:endParaRPr lang="en-US" dirty="0"/>
          </a:p>
        </p:txBody>
      </p:sp>
    </p:spTree>
    <p:extLst>
      <p:ext uri="{BB962C8B-B14F-4D97-AF65-F5344CB8AC3E}">
        <p14:creationId xmlns:p14="http://schemas.microsoft.com/office/powerpoint/2010/main" val="36464065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45097-A3AF-47C2-84EE-A1A63E1D6B1E}"/>
              </a:ext>
            </a:extLst>
          </p:cNvPr>
          <p:cNvSpPr>
            <a:spLocks noGrp="1"/>
          </p:cNvSpPr>
          <p:nvPr>
            <p:ph type="title"/>
          </p:nvPr>
        </p:nvSpPr>
        <p:spPr/>
        <p:txBody>
          <a:bodyPr/>
          <a:lstStyle/>
          <a:p>
            <a:r>
              <a:rPr lang="en-US" dirty="0"/>
              <a:t>Nested Queries</a:t>
            </a:r>
          </a:p>
        </p:txBody>
      </p:sp>
      <p:sp>
        <p:nvSpPr>
          <p:cNvPr id="3" name="Content Placeholder 2">
            <a:extLst>
              <a:ext uri="{FF2B5EF4-FFF2-40B4-BE49-F238E27FC236}">
                <a16:creationId xmlns:a16="http://schemas.microsoft.com/office/drawing/2014/main" id="{77D1E1B3-1804-436E-A035-18C18F3E2FB2}"/>
              </a:ext>
            </a:extLst>
          </p:cNvPr>
          <p:cNvSpPr>
            <a:spLocks noGrp="1"/>
          </p:cNvSpPr>
          <p:nvPr>
            <p:ph idx="1"/>
          </p:nvPr>
        </p:nvSpPr>
        <p:spPr/>
        <p:txBody>
          <a:bodyPr>
            <a:normAutofit fontScale="92500" lnSpcReduction="10000"/>
          </a:bodyPr>
          <a:lstStyle/>
          <a:p>
            <a:r>
              <a:rPr lang="en-US" dirty="0"/>
              <a:t>You can select data from the results of another query by placing the inner query in parentheses.</a:t>
            </a:r>
          </a:p>
          <a:p>
            <a:r>
              <a:rPr lang="en-US" dirty="0"/>
              <a:t>For example, suppose we want to find the customer that ordered the fewest unique tracks.</a:t>
            </a:r>
          </a:p>
          <a:p>
            <a:r>
              <a:rPr lang="en-US" dirty="0"/>
              <a:t>First we need to find how many tracks each customer ordered, since that is not already in the database anywhere.  Then we can select the customer who had the fewest.</a:t>
            </a:r>
          </a:p>
          <a:p>
            <a:r>
              <a:rPr lang="en-US" dirty="0">
                <a:solidFill>
                  <a:srgbClr val="FF0000"/>
                </a:solidFill>
              </a:rPr>
              <a:t>select </a:t>
            </a:r>
            <a:r>
              <a:rPr lang="en-US" dirty="0" err="1">
                <a:solidFill>
                  <a:srgbClr val="FF0000"/>
                </a:solidFill>
              </a:rPr>
              <a:t>customerid</a:t>
            </a:r>
            <a:r>
              <a:rPr lang="en-US" dirty="0">
                <a:solidFill>
                  <a:srgbClr val="FF0000"/>
                </a:solidFill>
              </a:rPr>
              <a:t>, count(</a:t>
            </a:r>
            <a:r>
              <a:rPr lang="en-US" dirty="0" err="1">
                <a:solidFill>
                  <a:srgbClr val="FF0000"/>
                </a:solidFill>
              </a:rPr>
              <a:t>TrackId</a:t>
            </a:r>
            <a:r>
              <a:rPr lang="en-US" dirty="0">
                <a:solidFill>
                  <a:srgbClr val="FF0000"/>
                </a:solidFill>
              </a:rPr>
              <a:t>) as </a:t>
            </a:r>
            <a:r>
              <a:rPr lang="en-US" dirty="0" err="1">
                <a:solidFill>
                  <a:srgbClr val="FF0000"/>
                </a:solidFill>
              </a:rPr>
              <a:t>numtracks</a:t>
            </a:r>
            <a:r>
              <a:rPr lang="en-US" dirty="0">
                <a:solidFill>
                  <a:srgbClr val="FF0000"/>
                </a:solidFill>
              </a:rPr>
              <a:t> from Customer join Invoice using (</a:t>
            </a:r>
            <a:r>
              <a:rPr lang="en-US" dirty="0" err="1">
                <a:solidFill>
                  <a:srgbClr val="FF0000"/>
                </a:solidFill>
              </a:rPr>
              <a:t>CustomerId</a:t>
            </a:r>
            <a:r>
              <a:rPr lang="en-US" dirty="0">
                <a:solidFill>
                  <a:srgbClr val="FF0000"/>
                </a:solidFill>
              </a:rPr>
              <a:t>) join </a:t>
            </a:r>
            <a:r>
              <a:rPr lang="en-US" dirty="0" err="1">
                <a:solidFill>
                  <a:srgbClr val="FF0000"/>
                </a:solidFill>
              </a:rPr>
              <a:t>InvoiceLine</a:t>
            </a:r>
            <a:r>
              <a:rPr lang="en-US" dirty="0">
                <a:solidFill>
                  <a:srgbClr val="FF0000"/>
                </a:solidFill>
              </a:rPr>
              <a:t> using (</a:t>
            </a:r>
            <a:r>
              <a:rPr lang="en-US" dirty="0" err="1">
                <a:solidFill>
                  <a:srgbClr val="FF0000"/>
                </a:solidFill>
              </a:rPr>
              <a:t>InvoiceId</a:t>
            </a:r>
            <a:r>
              <a:rPr lang="en-US" dirty="0">
                <a:solidFill>
                  <a:srgbClr val="FF0000"/>
                </a:solidFill>
              </a:rPr>
              <a:t>) group by </a:t>
            </a:r>
            <a:r>
              <a:rPr lang="en-US" dirty="0" err="1">
                <a:solidFill>
                  <a:srgbClr val="FF0000"/>
                </a:solidFill>
              </a:rPr>
              <a:t>CustomerId</a:t>
            </a:r>
            <a:r>
              <a:rPr lang="en-US" dirty="0">
                <a:solidFill>
                  <a:srgbClr val="FF0000"/>
                </a:solidFill>
              </a:rPr>
              <a:t>;</a:t>
            </a:r>
          </a:p>
          <a:p>
            <a:r>
              <a:rPr lang="en-US" dirty="0">
                <a:solidFill>
                  <a:schemeClr val="tx1"/>
                </a:solidFill>
              </a:rPr>
              <a:t>The query above creates a table with </a:t>
            </a:r>
            <a:r>
              <a:rPr lang="en-US" dirty="0" err="1">
                <a:solidFill>
                  <a:schemeClr val="tx1"/>
                </a:solidFill>
              </a:rPr>
              <a:t>customerId</a:t>
            </a:r>
            <a:r>
              <a:rPr lang="en-US" dirty="0">
                <a:solidFill>
                  <a:schemeClr val="tx1"/>
                </a:solidFill>
              </a:rPr>
              <a:t> and number of tracks ordered.</a:t>
            </a:r>
          </a:p>
          <a:p>
            <a:r>
              <a:rPr lang="en-US" dirty="0">
                <a:solidFill>
                  <a:srgbClr val="FF0000"/>
                </a:solidFill>
              </a:rPr>
              <a:t>select </a:t>
            </a:r>
            <a:r>
              <a:rPr lang="en-US" dirty="0" err="1">
                <a:solidFill>
                  <a:srgbClr val="FF0000"/>
                </a:solidFill>
              </a:rPr>
              <a:t>customerid</a:t>
            </a:r>
            <a:r>
              <a:rPr lang="en-US" dirty="0">
                <a:solidFill>
                  <a:srgbClr val="FF0000"/>
                </a:solidFill>
              </a:rPr>
              <a:t>, min(</a:t>
            </a:r>
            <a:r>
              <a:rPr lang="en-US" dirty="0" err="1">
                <a:solidFill>
                  <a:srgbClr val="FF0000"/>
                </a:solidFill>
              </a:rPr>
              <a:t>numtracks</a:t>
            </a:r>
            <a:r>
              <a:rPr lang="en-US" dirty="0">
                <a:solidFill>
                  <a:srgbClr val="FF0000"/>
                </a:solidFill>
              </a:rPr>
              <a:t>) from (</a:t>
            </a:r>
            <a:r>
              <a:rPr lang="en-US" dirty="0">
                <a:solidFill>
                  <a:schemeClr val="bg2">
                    <a:lumMod val="75000"/>
                  </a:schemeClr>
                </a:solidFill>
              </a:rPr>
              <a:t>select </a:t>
            </a:r>
            <a:r>
              <a:rPr lang="en-US" dirty="0" err="1">
                <a:solidFill>
                  <a:schemeClr val="bg2">
                    <a:lumMod val="75000"/>
                  </a:schemeClr>
                </a:solidFill>
              </a:rPr>
              <a:t>customerid</a:t>
            </a:r>
            <a:r>
              <a:rPr lang="en-US" dirty="0">
                <a:solidFill>
                  <a:schemeClr val="bg2">
                    <a:lumMod val="75000"/>
                  </a:schemeClr>
                </a:solidFill>
              </a:rPr>
              <a:t>, count(</a:t>
            </a:r>
            <a:r>
              <a:rPr lang="en-US" dirty="0" err="1">
                <a:solidFill>
                  <a:schemeClr val="bg2">
                    <a:lumMod val="75000"/>
                  </a:schemeClr>
                </a:solidFill>
              </a:rPr>
              <a:t>TrackId</a:t>
            </a:r>
            <a:r>
              <a:rPr lang="en-US" dirty="0">
                <a:solidFill>
                  <a:schemeClr val="bg2">
                    <a:lumMod val="75000"/>
                  </a:schemeClr>
                </a:solidFill>
              </a:rPr>
              <a:t>) as </a:t>
            </a:r>
            <a:r>
              <a:rPr lang="en-US" dirty="0" err="1">
                <a:solidFill>
                  <a:schemeClr val="bg2">
                    <a:lumMod val="75000"/>
                  </a:schemeClr>
                </a:solidFill>
              </a:rPr>
              <a:t>numtracks</a:t>
            </a:r>
            <a:r>
              <a:rPr lang="en-US" dirty="0">
                <a:solidFill>
                  <a:schemeClr val="bg2">
                    <a:lumMod val="75000"/>
                  </a:schemeClr>
                </a:solidFill>
              </a:rPr>
              <a:t> from Customer join Invoice using (</a:t>
            </a:r>
            <a:r>
              <a:rPr lang="en-US" dirty="0" err="1">
                <a:solidFill>
                  <a:schemeClr val="bg2">
                    <a:lumMod val="75000"/>
                  </a:schemeClr>
                </a:solidFill>
              </a:rPr>
              <a:t>CustomerId</a:t>
            </a:r>
            <a:r>
              <a:rPr lang="en-US" dirty="0">
                <a:solidFill>
                  <a:schemeClr val="bg2">
                    <a:lumMod val="75000"/>
                  </a:schemeClr>
                </a:solidFill>
              </a:rPr>
              <a:t>) join </a:t>
            </a:r>
            <a:r>
              <a:rPr lang="en-US" dirty="0" err="1">
                <a:solidFill>
                  <a:schemeClr val="bg2">
                    <a:lumMod val="75000"/>
                  </a:schemeClr>
                </a:solidFill>
              </a:rPr>
              <a:t>InvoiceLine</a:t>
            </a:r>
            <a:r>
              <a:rPr lang="en-US" dirty="0">
                <a:solidFill>
                  <a:schemeClr val="bg2">
                    <a:lumMod val="75000"/>
                  </a:schemeClr>
                </a:solidFill>
              </a:rPr>
              <a:t> using (</a:t>
            </a:r>
            <a:r>
              <a:rPr lang="en-US" dirty="0" err="1">
                <a:solidFill>
                  <a:schemeClr val="bg2">
                    <a:lumMod val="75000"/>
                  </a:schemeClr>
                </a:solidFill>
              </a:rPr>
              <a:t>InvoiceId</a:t>
            </a:r>
            <a:r>
              <a:rPr lang="en-US" dirty="0">
                <a:solidFill>
                  <a:schemeClr val="bg2">
                    <a:lumMod val="75000"/>
                  </a:schemeClr>
                </a:solidFill>
              </a:rPr>
              <a:t>) group by </a:t>
            </a:r>
            <a:r>
              <a:rPr lang="en-US" dirty="0" err="1">
                <a:solidFill>
                  <a:schemeClr val="bg2">
                    <a:lumMod val="75000"/>
                  </a:schemeClr>
                </a:solidFill>
              </a:rPr>
              <a:t>CustomerId</a:t>
            </a:r>
            <a:r>
              <a:rPr lang="en-US" dirty="0">
                <a:solidFill>
                  <a:srgbClr val="FF0000"/>
                </a:solidFill>
              </a:rPr>
              <a:t>);</a:t>
            </a:r>
          </a:p>
          <a:p>
            <a:r>
              <a:rPr lang="en-US" dirty="0">
                <a:solidFill>
                  <a:schemeClr val="tx1"/>
                </a:solidFill>
              </a:rPr>
              <a:t>The query above finds the </a:t>
            </a:r>
            <a:r>
              <a:rPr lang="en-US" dirty="0" err="1">
                <a:solidFill>
                  <a:schemeClr val="tx1"/>
                </a:solidFill>
              </a:rPr>
              <a:t>customerId</a:t>
            </a:r>
            <a:r>
              <a:rPr lang="en-US" dirty="0">
                <a:solidFill>
                  <a:schemeClr val="tx1"/>
                </a:solidFill>
              </a:rPr>
              <a:t> and num tracks of the customer who ordered the fewest tracks.  Note that the text in blue (and in parentheses) is identical to the first query.</a:t>
            </a:r>
          </a:p>
        </p:txBody>
      </p:sp>
    </p:spTree>
    <p:extLst>
      <p:ext uri="{BB962C8B-B14F-4D97-AF65-F5344CB8AC3E}">
        <p14:creationId xmlns:p14="http://schemas.microsoft.com/office/powerpoint/2010/main" val="10011864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data to database</a:t>
            </a:r>
          </a:p>
        </p:txBody>
      </p:sp>
      <p:sp>
        <p:nvSpPr>
          <p:cNvPr id="3" name="Content Placeholder 2"/>
          <p:cNvSpPr>
            <a:spLocks noGrp="1"/>
          </p:cNvSpPr>
          <p:nvPr>
            <p:ph idx="1"/>
          </p:nvPr>
        </p:nvSpPr>
        <p:spPr/>
        <p:txBody>
          <a:bodyPr/>
          <a:lstStyle/>
          <a:p>
            <a:r>
              <a:rPr lang="en-US" dirty="0"/>
              <a:t>create table is a another kind of SQL statement</a:t>
            </a:r>
          </a:p>
          <a:p>
            <a:r>
              <a:rPr lang="en-US" dirty="0">
                <a:solidFill>
                  <a:srgbClr val="C00000"/>
                </a:solidFill>
              </a:rPr>
              <a:t>create table Team (id integer, name text)</a:t>
            </a:r>
          </a:p>
          <a:p>
            <a:r>
              <a:rPr lang="en-US" dirty="0">
                <a:solidFill>
                  <a:schemeClr val="tx1"/>
                </a:solidFill>
              </a:rPr>
              <a:t>creates table named Team with 2 fields, id and name.</a:t>
            </a:r>
          </a:p>
          <a:p>
            <a:r>
              <a:rPr lang="en-US" dirty="0">
                <a:solidFill>
                  <a:schemeClr val="tx1"/>
                </a:solidFill>
              </a:rPr>
              <a:t>How to call with sqlite3 module:</a:t>
            </a:r>
          </a:p>
          <a:p>
            <a:r>
              <a:rPr lang="en-US" dirty="0" err="1">
                <a:solidFill>
                  <a:schemeClr val="tx1"/>
                </a:solidFill>
              </a:rPr>
              <a:t>crsr</a:t>
            </a:r>
            <a:r>
              <a:rPr lang="en-US" dirty="0">
                <a:solidFill>
                  <a:schemeClr val="tx1"/>
                </a:solidFill>
              </a:rPr>
              <a:t> = </a:t>
            </a:r>
            <a:r>
              <a:rPr lang="en-US" dirty="0" err="1">
                <a:solidFill>
                  <a:schemeClr val="tx1"/>
                </a:solidFill>
              </a:rPr>
              <a:t>con.cursor</a:t>
            </a:r>
            <a:r>
              <a:rPr lang="en-US" dirty="0">
                <a:solidFill>
                  <a:schemeClr val="tx1"/>
                </a:solidFill>
              </a:rPr>
              <a:t>() </a:t>
            </a:r>
          </a:p>
          <a:p>
            <a:r>
              <a:rPr lang="en-US" dirty="0" err="1">
                <a:solidFill>
                  <a:schemeClr val="tx1"/>
                </a:solidFill>
              </a:rPr>
              <a:t>crsr.execute</a:t>
            </a:r>
            <a:r>
              <a:rPr lang="en-US" dirty="0">
                <a:solidFill>
                  <a:schemeClr val="tx1"/>
                </a:solidFill>
              </a:rPr>
              <a:t>(“</a:t>
            </a:r>
            <a:r>
              <a:rPr lang="en-US" dirty="0">
                <a:solidFill>
                  <a:srgbClr val="C00000"/>
                </a:solidFill>
              </a:rPr>
              <a:t>create table Team (id integer, name text)”</a:t>
            </a:r>
            <a:r>
              <a:rPr lang="en-US" dirty="0">
                <a:solidFill>
                  <a:schemeClr val="tx1"/>
                </a:solidFill>
              </a:rPr>
              <a:t>) </a:t>
            </a:r>
          </a:p>
          <a:p>
            <a:r>
              <a:rPr lang="en-US" dirty="0" err="1">
                <a:solidFill>
                  <a:schemeClr val="tx1"/>
                </a:solidFill>
              </a:rPr>
              <a:t>con.commit</a:t>
            </a:r>
            <a:r>
              <a:rPr lang="en-US" dirty="0">
                <a:solidFill>
                  <a:schemeClr val="tx1"/>
                </a:solidFill>
              </a:rPr>
              <a:t>()  #not needed after every execute statement but should be called once when modifications are complete</a:t>
            </a:r>
          </a:p>
        </p:txBody>
      </p:sp>
    </p:spTree>
    <p:extLst>
      <p:ext uri="{BB962C8B-B14F-4D97-AF65-F5344CB8AC3E}">
        <p14:creationId xmlns:p14="http://schemas.microsoft.com/office/powerpoint/2010/main" val="6166650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data to database</a:t>
            </a:r>
          </a:p>
        </p:txBody>
      </p:sp>
      <p:sp>
        <p:nvSpPr>
          <p:cNvPr id="3" name="Content Placeholder 2"/>
          <p:cNvSpPr>
            <a:spLocks noGrp="1"/>
          </p:cNvSpPr>
          <p:nvPr>
            <p:ph idx="1"/>
          </p:nvPr>
        </p:nvSpPr>
        <p:spPr/>
        <p:txBody>
          <a:bodyPr/>
          <a:lstStyle/>
          <a:p>
            <a:r>
              <a:rPr lang="en-US" dirty="0"/>
              <a:t>create table is a another kind of SQL statement</a:t>
            </a:r>
          </a:p>
          <a:p>
            <a:r>
              <a:rPr lang="en-US" dirty="0">
                <a:solidFill>
                  <a:srgbClr val="C00000"/>
                </a:solidFill>
              </a:rPr>
              <a:t>create table Team (id integer, name text, primary key (id))</a:t>
            </a:r>
          </a:p>
          <a:p>
            <a:r>
              <a:rPr lang="en-US" dirty="0">
                <a:solidFill>
                  <a:schemeClr val="tx1"/>
                </a:solidFill>
              </a:rPr>
              <a:t>creates table named Team with 2 fields, id and name. </a:t>
            </a:r>
          </a:p>
          <a:p>
            <a:r>
              <a:rPr lang="en-US" dirty="0">
                <a:solidFill>
                  <a:schemeClr val="tx1"/>
                </a:solidFill>
              </a:rPr>
              <a:t>id is set to be the primary key.</a:t>
            </a:r>
          </a:p>
          <a:p>
            <a:r>
              <a:rPr lang="en-US" dirty="0">
                <a:solidFill>
                  <a:schemeClr val="tx1"/>
                </a:solidFill>
              </a:rPr>
              <a:t>primary key cannot occur twice in table – could use </a:t>
            </a:r>
            <a:r>
              <a:rPr lang="en-US" dirty="0" err="1">
                <a:solidFill>
                  <a:schemeClr val="tx1"/>
                </a:solidFill>
              </a:rPr>
              <a:t>TrackId</a:t>
            </a:r>
            <a:r>
              <a:rPr lang="en-US" dirty="0">
                <a:solidFill>
                  <a:schemeClr val="tx1"/>
                </a:solidFill>
              </a:rPr>
              <a:t> for Track but not </a:t>
            </a:r>
            <a:r>
              <a:rPr lang="en-US" dirty="0" err="1">
                <a:solidFill>
                  <a:schemeClr val="tx1"/>
                </a:solidFill>
              </a:rPr>
              <a:t>AlbumId</a:t>
            </a:r>
            <a:endParaRPr lang="en-US" dirty="0">
              <a:solidFill>
                <a:schemeClr val="tx1"/>
              </a:solidFill>
            </a:endParaRPr>
          </a:p>
          <a:p>
            <a:r>
              <a:rPr lang="en-US" dirty="0">
                <a:solidFill>
                  <a:schemeClr val="tx1"/>
                </a:solidFill>
              </a:rPr>
              <a:t>setting a primary key improves performance of lookup using the key.</a:t>
            </a:r>
          </a:p>
        </p:txBody>
      </p:sp>
    </p:spTree>
    <p:extLst>
      <p:ext uri="{BB962C8B-B14F-4D97-AF65-F5344CB8AC3E}">
        <p14:creationId xmlns:p14="http://schemas.microsoft.com/office/powerpoint/2010/main" val="14547565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data to database</a:t>
            </a:r>
          </a:p>
        </p:txBody>
      </p:sp>
      <p:sp>
        <p:nvSpPr>
          <p:cNvPr id="3" name="Content Placeholder 2"/>
          <p:cNvSpPr>
            <a:spLocks noGrp="1"/>
          </p:cNvSpPr>
          <p:nvPr>
            <p:ph idx="1"/>
          </p:nvPr>
        </p:nvSpPr>
        <p:spPr/>
        <p:txBody>
          <a:bodyPr/>
          <a:lstStyle/>
          <a:p>
            <a:r>
              <a:rPr lang="en-US" dirty="0"/>
              <a:t>insert into is SQL command for adding records:</a:t>
            </a:r>
          </a:p>
          <a:p>
            <a:r>
              <a:rPr lang="en-US" dirty="0">
                <a:solidFill>
                  <a:srgbClr val="C00000"/>
                </a:solidFill>
              </a:rPr>
              <a:t>insert into Team values (1, ‘Florida’)</a:t>
            </a:r>
          </a:p>
          <a:p>
            <a:r>
              <a:rPr lang="en-US" dirty="0">
                <a:solidFill>
                  <a:schemeClr val="tx1"/>
                </a:solidFill>
              </a:rPr>
              <a:t>How to call with sqlite3:</a:t>
            </a:r>
          </a:p>
          <a:p>
            <a:r>
              <a:rPr lang="en-US" dirty="0" err="1">
                <a:solidFill>
                  <a:schemeClr val="tx1"/>
                </a:solidFill>
              </a:rPr>
              <a:t>crsr.execute</a:t>
            </a:r>
            <a:r>
              <a:rPr lang="en-US" dirty="0">
                <a:solidFill>
                  <a:schemeClr val="tx1"/>
                </a:solidFill>
              </a:rPr>
              <a:t>(“</a:t>
            </a:r>
            <a:r>
              <a:rPr lang="en-US" dirty="0">
                <a:solidFill>
                  <a:srgbClr val="C00000"/>
                </a:solidFill>
              </a:rPr>
              <a:t>insert into Team values (1, ‘Florida’)</a:t>
            </a:r>
            <a:r>
              <a:rPr lang="en-US" dirty="0">
                <a:solidFill>
                  <a:schemeClr val="tx1"/>
                </a:solidFill>
              </a:rPr>
              <a:t>”)</a:t>
            </a:r>
          </a:p>
          <a:p>
            <a:endParaRPr lang="en-US" dirty="0">
              <a:solidFill>
                <a:srgbClr val="C00000"/>
              </a:solidFill>
            </a:endParaRPr>
          </a:p>
        </p:txBody>
      </p:sp>
    </p:spTree>
    <p:extLst>
      <p:ext uri="{BB962C8B-B14F-4D97-AF65-F5344CB8AC3E}">
        <p14:creationId xmlns:p14="http://schemas.microsoft.com/office/powerpoint/2010/main" val="3950922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data to database</a:t>
            </a:r>
          </a:p>
        </p:txBody>
      </p:sp>
      <p:sp>
        <p:nvSpPr>
          <p:cNvPr id="3" name="Content Placeholder 2"/>
          <p:cNvSpPr>
            <a:spLocks noGrp="1"/>
          </p:cNvSpPr>
          <p:nvPr>
            <p:ph idx="1"/>
          </p:nvPr>
        </p:nvSpPr>
        <p:spPr/>
        <p:txBody>
          <a:bodyPr/>
          <a:lstStyle/>
          <a:p>
            <a:r>
              <a:rPr lang="en-US" dirty="0"/>
              <a:t>can use data from other tables with insert into:</a:t>
            </a:r>
          </a:p>
          <a:p>
            <a:r>
              <a:rPr lang="en-US" dirty="0">
                <a:solidFill>
                  <a:srgbClr val="C00000"/>
                </a:solidFill>
              </a:rPr>
              <a:t>insert into Team select </a:t>
            </a:r>
            <a:r>
              <a:rPr lang="en-US" dirty="0" err="1">
                <a:solidFill>
                  <a:srgbClr val="C00000"/>
                </a:solidFill>
              </a:rPr>
              <a:t>CustomerId</a:t>
            </a:r>
            <a:r>
              <a:rPr lang="en-US" dirty="0">
                <a:solidFill>
                  <a:srgbClr val="C00000"/>
                </a:solidFill>
              </a:rPr>
              <a:t>, </a:t>
            </a:r>
            <a:r>
              <a:rPr lang="en-US" dirty="0" err="1">
                <a:solidFill>
                  <a:srgbClr val="C00000"/>
                </a:solidFill>
              </a:rPr>
              <a:t>LastName</a:t>
            </a:r>
            <a:r>
              <a:rPr lang="en-US" dirty="0">
                <a:solidFill>
                  <a:srgbClr val="C00000"/>
                </a:solidFill>
              </a:rPr>
              <a:t> from Customer where State=‘California’</a:t>
            </a:r>
          </a:p>
          <a:p>
            <a:r>
              <a:rPr lang="en-US" dirty="0">
                <a:solidFill>
                  <a:schemeClr val="tx1"/>
                </a:solidFill>
              </a:rPr>
              <a:t>inserts one record into Team for each customer from California where </a:t>
            </a:r>
            <a:r>
              <a:rPr lang="en-US" dirty="0" err="1">
                <a:solidFill>
                  <a:schemeClr val="tx1"/>
                </a:solidFill>
              </a:rPr>
              <a:t>CustomerId</a:t>
            </a:r>
            <a:r>
              <a:rPr lang="en-US" dirty="0">
                <a:solidFill>
                  <a:schemeClr val="tx1"/>
                </a:solidFill>
              </a:rPr>
              <a:t> becomes id and </a:t>
            </a:r>
            <a:r>
              <a:rPr lang="en-US" dirty="0" err="1">
                <a:solidFill>
                  <a:schemeClr val="tx1"/>
                </a:solidFill>
              </a:rPr>
              <a:t>LastName</a:t>
            </a:r>
            <a:r>
              <a:rPr lang="en-US" dirty="0">
                <a:solidFill>
                  <a:schemeClr val="tx1"/>
                </a:solidFill>
              </a:rPr>
              <a:t> becomes Name</a:t>
            </a:r>
          </a:p>
          <a:p>
            <a:endParaRPr lang="en-US" dirty="0">
              <a:solidFill>
                <a:srgbClr val="C00000"/>
              </a:solidFill>
            </a:endParaRPr>
          </a:p>
          <a:p>
            <a:endParaRPr lang="en-US" dirty="0">
              <a:solidFill>
                <a:srgbClr val="C00000"/>
              </a:solidFill>
            </a:endParaRPr>
          </a:p>
        </p:txBody>
      </p:sp>
    </p:spTree>
    <p:extLst>
      <p:ext uri="{BB962C8B-B14F-4D97-AF65-F5344CB8AC3E}">
        <p14:creationId xmlns:p14="http://schemas.microsoft.com/office/powerpoint/2010/main" val="14726442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6E92-57D5-447A-A2CB-068DD49AA805}"/>
              </a:ext>
            </a:extLst>
          </p:cNvPr>
          <p:cNvSpPr>
            <a:spLocks noGrp="1"/>
          </p:cNvSpPr>
          <p:nvPr>
            <p:ph type="title"/>
          </p:nvPr>
        </p:nvSpPr>
        <p:spPr/>
        <p:txBody>
          <a:bodyPr/>
          <a:lstStyle/>
          <a:p>
            <a:r>
              <a:rPr lang="en-US" dirty="0"/>
              <a:t>Alternative in pandas:  </a:t>
            </a:r>
            <a:r>
              <a:rPr lang="en-US" dirty="0" err="1"/>
              <a:t>to_sql</a:t>
            </a:r>
            <a:endParaRPr lang="en-US" dirty="0"/>
          </a:p>
        </p:txBody>
      </p:sp>
      <p:sp>
        <p:nvSpPr>
          <p:cNvPr id="3" name="Content Placeholder 2">
            <a:extLst>
              <a:ext uri="{FF2B5EF4-FFF2-40B4-BE49-F238E27FC236}">
                <a16:creationId xmlns:a16="http://schemas.microsoft.com/office/drawing/2014/main" id="{7EDF7500-0A17-40B7-B1DA-2EE4848AAA9C}"/>
              </a:ext>
            </a:extLst>
          </p:cNvPr>
          <p:cNvSpPr>
            <a:spLocks noGrp="1"/>
          </p:cNvSpPr>
          <p:nvPr>
            <p:ph idx="1"/>
          </p:nvPr>
        </p:nvSpPr>
        <p:spPr/>
        <p:txBody>
          <a:bodyPr/>
          <a:lstStyle/>
          <a:p>
            <a:r>
              <a:rPr lang="en-US" dirty="0"/>
              <a:t>If df is a pandas </a:t>
            </a:r>
            <a:r>
              <a:rPr lang="en-US" dirty="0" err="1"/>
              <a:t>dataframe</a:t>
            </a:r>
            <a:r>
              <a:rPr lang="en-US" dirty="0"/>
              <a:t>:</a:t>
            </a:r>
          </a:p>
          <a:p>
            <a:r>
              <a:rPr lang="en-US" dirty="0" err="1"/>
              <a:t>df.to_sql</a:t>
            </a:r>
            <a:r>
              <a:rPr lang="en-US" dirty="0"/>
              <a:t>(“Table Name”, </a:t>
            </a:r>
            <a:r>
              <a:rPr lang="en-US" dirty="0" err="1"/>
              <a:t>con,if_exists</a:t>
            </a:r>
            <a:r>
              <a:rPr lang="en-US" dirty="0"/>
              <a:t>=“replace”)</a:t>
            </a:r>
          </a:p>
          <a:p>
            <a:r>
              <a:rPr lang="en-US" dirty="0"/>
              <a:t>creates table named “Table Name” in the database (replacing it if already exists) and fills in with data from df.</a:t>
            </a:r>
          </a:p>
        </p:txBody>
      </p:sp>
    </p:spTree>
    <p:extLst>
      <p:ext uri="{BB962C8B-B14F-4D97-AF65-F5344CB8AC3E}">
        <p14:creationId xmlns:p14="http://schemas.microsoft.com/office/powerpoint/2010/main" val="374769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Removing data to database</a:t>
            </a:r>
          </a:p>
        </p:txBody>
      </p:sp>
      <p:sp>
        <p:nvSpPr>
          <p:cNvPr id="3" name="Content Placeholder 2"/>
          <p:cNvSpPr>
            <a:spLocks noGrp="1"/>
          </p:cNvSpPr>
          <p:nvPr>
            <p:ph idx="1"/>
          </p:nvPr>
        </p:nvSpPr>
        <p:spPr/>
        <p:txBody>
          <a:bodyPr/>
          <a:lstStyle/>
          <a:p>
            <a:r>
              <a:rPr lang="en-US" dirty="0">
                <a:solidFill>
                  <a:srgbClr val="C00000"/>
                </a:solidFill>
              </a:rPr>
              <a:t>delete from Team where id&lt;100</a:t>
            </a:r>
          </a:p>
          <a:p>
            <a:r>
              <a:rPr lang="en-US" dirty="0">
                <a:solidFill>
                  <a:schemeClr val="tx1"/>
                </a:solidFill>
              </a:rPr>
              <a:t>deletes all records with id&lt;100</a:t>
            </a:r>
          </a:p>
          <a:p>
            <a:r>
              <a:rPr lang="en-US" dirty="0">
                <a:solidFill>
                  <a:srgbClr val="C00000"/>
                </a:solidFill>
              </a:rPr>
              <a:t>drop table Team</a:t>
            </a:r>
          </a:p>
          <a:p>
            <a:r>
              <a:rPr lang="en-US" dirty="0">
                <a:solidFill>
                  <a:schemeClr val="tx1"/>
                </a:solidFill>
              </a:rPr>
              <a:t>removes the table Team</a:t>
            </a:r>
          </a:p>
          <a:p>
            <a:r>
              <a:rPr lang="en-US" dirty="0">
                <a:solidFill>
                  <a:schemeClr val="tx1"/>
                </a:solidFill>
              </a:rPr>
              <a:t>Use </a:t>
            </a:r>
            <a:r>
              <a:rPr lang="en-US" dirty="0" err="1">
                <a:solidFill>
                  <a:schemeClr val="tx1"/>
                </a:solidFill>
              </a:rPr>
              <a:t>crsr.execute</a:t>
            </a:r>
            <a:r>
              <a:rPr lang="en-US" dirty="0">
                <a:solidFill>
                  <a:schemeClr val="tx1"/>
                </a:solidFill>
              </a:rPr>
              <a:t>(...) for both of these.</a:t>
            </a:r>
          </a:p>
          <a:p>
            <a:endParaRPr lang="en-US" dirty="0">
              <a:solidFill>
                <a:srgbClr val="C00000"/>
              </a:solidFill>
            </a:endParaRPr>
          </a:p>
          <a:p>
            <a:endParaRPr lang="en-US" dirty="0">
              <a:solidFill>
                <a:srgbClr val="C00000"/>
              </a:solidFill>
            </a:endParaRPr>
          </a:p>
        </p:txBody>
      </p:sp>
    </p:spTree>
    <p:extLst>
      <p:ext uri="{BB962C8B-B14F-4D97-AF65-F5344CB8AC3E}">
        <p14:creationId xmlns:p14="http://schemas.microsoft.com/office/powerpoint/2010/main" val="386303972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12926</TotalTime>
  <Words>3926</Words>
  <Application>Microsoft Office PowerPoint</Application>
  <PresentationFormat>Widescreen</PresentationFormat>
  <Paragraphs>332</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Retrospect</vt:lpstr>
      <vt:lpstr>Databases</vt:lpstr>
      <vt:lpstr>What is a database?</vt:lpstr>
      <vt:lpstr>What is a database?</vt:lpstr>
      <vt:lpstr>Example:  Amazon</vt:lpstr>
      <vt:lpstr>Example:  Amazon</vt:lpstr>
      <vt:lpstr>Why in economics?</vt:lpstr>
      <vt:lpstr>Database Design</vt:lpstr>
      <vt:lpstr>SQL in Python</vt:lpstr>
      <vt:lpstr>Getting Ready to Use SQLite</vt:lpstr>
      <vt:lpstr>Using SQLite with pandas</vt:lpstr>
      <vt:lpstr>Sample Database:  Chinook</vt:lpstr>
      <vt:lpstr>SQL</vt:lpstr>
      <vt:lpstr>SQL Select</vt:lpstr>
      <vt:lpstr>SQL Select … order by and limit</vt:lpstr>
      <vt:lpstr>SQL select … where</vt:lpstr>
      <vt:lpstr>SQL select … where</vt:lpstr>
      <vt:lpstr>(Aside: sqlite3 in python)</vt:lpstr>
      <vt:lpstr>Calculations with select</vt:lpstr>
      <vt:lpstr>group by</vt:lpstr>
      <vt:lpstr>PowerPoint Presentation</vt:lpstr>
      <vt:lpstr>having</vt:lpstr>
      <vt:lpstr>distinct</vt:lpstr>
      <vt:lpstr>Practice Problems</vt:lpstr>
      <vt:lpstr>Multiple Table Queries</vt:lpstr>
      <vt:lpstr>PowerPoint Presentation</vt:lpstr>
      <vt:lpstr>Joins</vt:lpstr>
      <vt:lpstr>Joins</vt:lpstr>
      <vt:lpstr>Natural Join</vt:lpstr>
      <vt:lpstr>Inner Join</vt:lpstr>
      <vt:lpstr>Practice Problem</vt:lpstr>
      <vt:lpstr>Joins</vt:lpstr>
      <vt:lpstr>Joins</vt:lpstr>
      <vt:lpstr>Joins</vt:lpstr>
      <vt:lpstr>Practice Problem</vt:lpstr>
      <vt:lpstr>Joins</vt:lpstr>
      <vt:lpstr>Joins</vt:lpstr>
      <vt:lpstr>Joins</vt:lpstr>
      <vt:lpstr>Practice Problem</vt:lpstr>
      <vt:lpstr>Joins</vt:lpstr>
      <vt:lpstr>Joins</vt:lpstr>
      <vt:lpstr>Joins</vt:lpstr>
      <vt:lpstr>Practice Problem</vt:lpstr>
      <vt:lpstr>Nested Queries</vt:lpstr>
      <vt:lpstr>Adding data to database</vt:lpstr>
      <vt:lpstr>Adding data to database</vt:lpstr>
      <vt:lpstr>Adding data to database</vt:lpstr>
      <vt:lpstr>Adding data to database</vt:lpstr>
      <vt:lpstr>Alternative in pandas:  to_sql</vt:lpstr>
      <vt:lpstr>Removing data to 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Databases</dc:title>
  <dc:creator>Aric Shafran</dc:creator>
  <cp:lastModifiedBy>Aric P. Shafran</cp:lastModifiedBy>
  <cp:revision>53</cp:revision>
  <dcterms:created xsi:type="dcterms:W3CDTF">2014-10-22T18:35:03Z</dcterms:created>
  <dcterms:modified xsi:type="dcterms:W3CDTF">2024-11-12T18:50:04Z</dcterms:modified>
</cp:coreProperties>
</file>