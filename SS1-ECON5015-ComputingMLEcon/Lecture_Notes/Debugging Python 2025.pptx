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BDFFE6-3086-4C6B-AC47-CB53FAAAEC52}" v="2" dt="2025-10-14T17:49:59.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9" autoAdjust="0"/>
    <p:restoredTop sz="94660"/>
  </p:normalViewPr>
  <p:slideViewPr>
    <p:cSldViewPr snapToGrid="0">
      <p:cViewPr varScale="1">
        <p:scale>
          <a:sx n="75" d="100"/>
          <a:sy n="75" d="100"/>
        </p:scale>
        <p:origin x="288"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c P. Shafran" userId="b021f175-2a5f-4649-9d0b-6ba6b924ac79" providerId="ADAL" clId="{35F98376-317F-4488-B9C6-683F18BFCBF1}"/>
    <pc:docChg chg="custSel addSld delSld modSld">
      <pc:chgData name="Aric P. Shafran" userId="b021f175-2a5f-4649-9d0b-6ba6b924ac79" providerId="ADAL" clId="{35F98376-317F-4488-B9C6-683F18BFCBF1}" dt="2025-10-14T17:50:21.997" v="1497" actId="20577"/>
      <pc:docMkLst>
        <pc:docMk/>
      </pc:docMkLst>
      <pc:sldChg chg="modSp mod">
        <pc:chgData name="Aric P. Shafran" userId="b021f175-2a5f-4649-9d0b-6ba6b924ac79" providerId="ADAL" clId="{35F98376-317F-4488-B9C6-683F18BFCBF1}" dt="2025-10-14T17:50:11.774" v="1484" actId="20577"/>
        <pc:sldMkLst>
          <pc:docMk/>
          <pc:sldMk cId="1185835617" sldId="259"/>
        </pc:sldMkLst>
        <pc:spChg chg="mod">
          <ac:chgData name="Aric P. Shafran" userId="b021f175-2a5f-4649-9d0b-6ba6b924ac79" providerId="ADAL" clId="{35F98376-317F-4488-B9C6-683F18BFCBF1}" dt="2025-10-14T17:50:11.774" v="1484" actId="20577"/>
          <ac:spMkLst>
            <pc:docMk/>
            <pc:sldMk cId="1185835617" sldId="259"/>
            <ac:spMk id="2" creationId="{00000000-0000-0000-0000-000000000000}"/>
          </ac:spMkLst>
        </pc:spChg>
        <pc:spChg chg="mod">
          <ac:chgData name="Aric P. Shafran" userId="b021f175-2a5f-4649-9d0b-6ba6b924ac79" providerId="ADAL" clId="{35F98376-317F-4488-B9C6-683F18BFCBF1}" dt="2025-10-14T17:43:33.348" v="484" actId="20577"/>
          <ac:spMkLst>
            <pc:docMk/>
            <pc:sldMk cId="1185835617" sldId="259"/>
            <ac:spMk id="3" creationId="{00000000-0000-0000-0000-000000000000}"/>
          </ac:spMkLst>
        </pc:spChg>
      </pc:sldChg>
      <pc:sldChg chg="modSp mod">
        <pc:chgData name="Aric P. Shafran" userId="b021f175-2a5f-4649-9d0b-6ba6b924ac79" providerId="ADAL" clId="{35F98376-317F-4488-B9C6-683F18BFCBF1}" dt="2025-10-14T17:50:21.997" v="1497" actId="20577"/>
        <pc:sldMkLst>
          <pc:docMk/>
          <pc:sldMk cId="3122784422" sldId="260"/>
        </pc:sldMkLst>
        <pc:spChg chg="mod">
          <ac:chgData name="Aric P. Shafran" userId="b021f175-2a5f-4649-9d0b-6ba6b924ac79" providerId="ADAL" clId="{35F98376-317F-4488-B9C6-683F18BFCBF1}" dt="2025-10-14T17:50:21.997" v="1497" actId="20577"/>
          <ac:spMkLst>
            <pc:docMk/>
            <pc:sldMk cId="3122784422" sldId="260"/>
            <ac:spMk id="2" creationId="{00000000-0000-0000-0000-000000000000}"/>
          </ac:spMkLst>
        </pc:spChg>
      </pc:sldChg>
      <pc:sldChg chg="add">
        <pc:chgData name="Aric P. Shafran" userId="b021f175-2a5f-4649-9d0b-6ba6b924ac79" providerId="ADAL" clId="{35F98376-317F-4488-B9C6-683F18BFCBF1}" dt="2025-10-14T17:49:59.956" v="1461"/>
        <pc:sldMkLst>
          <pc:docMk/>
          <pc:sldMk cId="1442826295" sldId="263"/>
        </pc:sldMkLst>
      </pc:sldChg>
      <pc:sldChg chg="modSp del mod">
        <pc:chgData name="Aric P. Shafran" userId="b021f175-2a5f-4649-9d0b-6ba6b924ac79" providerId="ADAL" clId="{35F98376-317F-4488-B9C6-683F18BFCBF1}" dt="2025-10-14T17:49:56.868" v="1460" actId="2696"/>
        <pc:sldMkLst>
          <pc:docMk/>
          <pc:sldMk cId="3344709218" sldId="263"/>
        </pc:sldMkLst>
        <pc:spChg chg="mod">
          <ac:chgData name="Aric P. Shafran" userId="b021f175-2a5f-4649-9d0b-6ba6b924ac79" providerId="ADAL" clId="{35F98376-317F-4488-B9C6-683F18BFCBF1}" dt="2025-10-14T17:44:40.616" v="493" actId="20577"/>
          <ac:spMkLst>
            <pc:docMk/>
            <pc:sldMk cId="3344709218" sldId="263"/>
            <ac:spMk id="2" creationId="{92CE9AAA-D726-42FA-A940-37B295870798}"/>
          </ac:spMkLst>
        </pc:spChg>
        <pc:spChg chg="mod">
          <ac:chgData name="Aric P. Shafran" userId="b021f175-2a5f-4649-9d0b-6ba6b924ac79" providerId="ADAL" clId="{35F98376-317F-4488-B9C6-683F18BFCBF1}" dt="2025-10-14T17:48:51.259" v="1435" actId="20577"/>
          <ac:spMkLst>
            <pc:docMk/>
            <pc:sldMk cId="3344709218" sldId="263"/>
            <ac:spMk id="3" creationId="{B7AFD7B5-4499-40FC-96A6-EEB8081A1A49}"/>
          </ac:spMkLst>
        </pc:spChg>
      </pc:sldChg>
      <pc:sldChg chg="modSp add del mod">
        <pc:chgData name="Aric P. Shafran" userId="b021f175-2a5f-4649-9d0b-6ba6b924ac79" providerId="ADAL" clId="{35F98376-317F-4488-B9C6-683F18BFCBF1}" dt="2025-10-14T17:49:52.023" v="1459" actId="47"/>
        <pc:sldMkLst>
          <pc:docMk/>
          <pc:sldMk cId="3685312010" sldId="264"/>
        </pc:sldMkLst>
        <pc:spChg chg="mod">
          <ac:chgData name="Aric P. Shafran" userId="b021f175-2a5f-4649-9d0b-6ba6b924ac79" providerId="ADAL" clId="{35F98376-317F-4488-B9C6-683F18BFCBF1}" dt="2025-10-14T17:49:24.505" v="1458" actId="20577"/>
          <ac:spMkLst>
            <pc:docMk/>
            <pc:sldMk cId="3685312010" sldId="264"/>
            <ac:spMk id="3" creationId="{1200F679-BE88-FAB1-3295-4A092D1559C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6BA44E-BD25-4E9D-82BA-17E02C0808B2}"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F826C-4242-46D1-9F60-886B95E6AC7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086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6BA44E-BD25-4E9D-82BA-17E02C0808B2}"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1561651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6BA44E-BD25-4E9D-82BA-17E02C0808B2}"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F826C-4242-46D1-9F60-886B95E6AC7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345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6BA44E-BD25-4E9D-82BA-17E02C0808B2}"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1739465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6BA44E-BD25-4E9D-82BA-17E02C0808B2}" type="datetimeFigureOut">
              <a:rPr lang="en-US" smtClean="0"/>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413610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6BA44E-BD25-4E9D-82BA-17E02C0808B2}"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3570869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86BA44E-BD25-4E9D-82BA-17E02C0808B2}" type="datetimeFigureOut">
              <a:rPr lang="en-US" smtClean="0"/>
              <a:t>10/14/2025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1530110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86BA44E-BD25-4E9D-82BA-17E02C0808B2}" type="datetimeFigureOut">
              <a:rPr lang="en-US" smtClean="0"/>
              <a:t>10/14/2025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FCF826C-4242-46D1-9F60-886B95E6AC7A}" type="slidenum">
              <a:rPr lang="en-US" smtClean="0"/>
              <a:t>‹#›</a:t>
            </a:fld>
            <a:endParaRPr lang="en-US"/>
          </a:p>
        </p:txBody>
      </p:sp>
    </p:spTree>
    <p:extLst>
      <p:ext uri="{BB962C8B-B14F-4D97-AF65-F5344CB8AC3E}">
        <p14:creationId xmlns:p14="http://schemas.microsoft.com/office/powerpoint/2010/main" val="11467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6BA44E-BD25-4E9D-82BA-17E02C0808B2}"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2822181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6BA44E-BD25-4E9D-82BA-17E02C0808B2}"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2476458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6BA44E-BD25-4E9D-82BA-17E02C0808B2}"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F826C-4242-46D1-9F60-886B95E6AC7A}" type="slidenum">
              <a:rPr lang="en-US" smtClean="0"/>
              <a:t>‹#›</a:t>
            </a:fld>
            <a:endParaRPr lang="en-US"/>
          </a:p>
        </p:txBody>
      </p:sp>
    </p:spTree>
    <p:extLst>
      <p:ext uri="{BB962C8B-B14F-4D97-AF65-F5344CB8AC3E}">
        <p14:creationId xmlns:p14="http://schemas.microsoft.com/office/powerpoint/2010/main" val="3635652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86BA44E-BD25-4E9D-82BA-17E02C0808B2}" type="datetimeFigureOut">
              <a:rPr lang="en-US" smtClean="0"/>
              <a:t>10/14/2025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FCF826C-4242-46D1-9F60-886B95E6AC7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47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Debugging</a:t>
            </a:r>
          </a:p>
        </p:txBody>
      </p:sp>
      <p:sp>
        <p:nvSpPr>
          <p:cNvPr id="3" name="Subtitle 2"/>
          <p:cNvSpPr>
            <a:spLocks noGrp="1"/>
          </p:cNvSpPr>
          <p:nvPr>
            <p:ph type="subTitle" idx="1"/>
          </p:nvPr>
        </p:nvSpPr>
        <p:spPr/>
        <p:txBody>
          <a:bodyPr/>
          <a:lstStyle/>
          <a:p>
            <a:r>
              <a:rPr lang="en-US" dirty="0"/>
              <a:t>Econ 524</a:t>
            </a:r>
          </a:p>
        </p:txBody>
      </p:sp>
    </p:spTree>
    <p:extLst>
      <p:ext uri="{BB962C8B-B14F-4D97-AF65-F5344CB8AC3E}">
        <p14:creationId xmlns:p14="http://schemas.microsoft.com/office/powerpoint/2010/main" val="249913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Errors and Warnings</a:t>
            </a:r>
          </a:p>
        </p:txBody>
      </p:sp>
      <p:sp>
        <p:nvSpPr>
          <p:cNvPr id="3" name="Content Placeholder 2"/>
          <p:cNvSpPr>
            <a:spLocks noGrp="1"/>
          </p:cNvSpPr>
          <p:nvPr>
            <p:ph idx="1"/>
          </p:nvPr>
        </p:nvSpPr>
        <p:spPr/>
        <p:txBody>
          <a:bodyPr/>
          <a:lstStyle/>
          <a:p>
            <a:r>
              <a:rPr lang="en-US" dirty="0"/>
              <a:t>When you get an error, the code failed to execute.  The error should provide information about why.  Common errors are:</a:t>
            </a:r>
          </a:p>
          <a:p>
            <a:pPr lvl="1"/>
            <a:r>
              <a:rPr lang="en-US" dirty="0"/>
              <a:t>not closing all parentheses or brackets (easy to fix)</a:t>
            </a:r>
          </a:p>
          <a:p>
            <a:pPr lvl="1"/>
            <a:r>
              <a:rPr lang="en-US" dirty="0"/>
              <a:t>errors related to data types (you think the variable is of one type but it’s another type so the function doesn’t work)</a:t>
            </a:r>
          </a:p>
          <a:p>
            <a:pPr lvl="1"/>
            <a:r>
              <a:rPr lang="en-US" dirty="0"/>
              <a:t>errors related to invalid indexing (you try to access an element of </a:t>
            </a:r>
            <a:r>
              <a:rPr lang="en-US"/>
              <a:t>an array or </a:t>
            </a:r>
            <a:r>
              <a:rPr lang="en-US" dirty="0"/>
              <a:t>data frame that </a:t>
            </a:r>
            <a:r>
              <a:rPr lang="en-US"/>
              <a:t>doesn’t exist)</a:t>
            </a:r>
            <a:endParaRPr lang="en-US" dirty="0"/>
          </a:p>
          <a:p>
            <a:pPr lvl="1"/>
            <a:endParaRPr lang="en-US" dirty="0"/>
          </a:p>
          <a:p>
            <a:r>
              <a:rPr lang="en-US" dirty="0"/>
              <a:t>When you get a warning, the code worked but something happened that you may want to be aware of (i.e. it might not have worked the way you want it to).  If you get a warning, don’t just ignore – make sure it’s not something you care about.</a:t>
            </a:r>
          </a:p>
        </p:txBody>
      </p:sp>
    </p:spTree>
    <p:extLst>
      <p:ext uri="{BB962C8B-B14F-4D97-AF65-F5344CB8AC3E}">
        <p14:creationId xmlns:p14="http://schemas.microsoft.com/office/powerpoint/2010/main" val="2973797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Debugging Code </a:t>
            </a:r>
          </a:p>
        </p:txBody>
      </p:sp>
      <p:sp>
        <p:nvSpPr>
          <p:cNvPr id="3" name="Content Placeholder 2"/>
          <p:cNvSpPr>
            <a:spLocks noGrp="1"/>
          </p:cNvSpPr>
          <p:nvPr>
            <p:ph idx="1"/>
          </p:nvPr>
        </p:nvSpPr>
        <p:spPr/>
        <p:txBody>
          <a:bodyPr/>
          <a:lstStyle/>
          <a:p>
            <a:r>
              <a:rPr lang="en-US" dirty="0"/>
              <a:t>Often you don’t get errors or warnings, but the result is not what you wanted/expected.</a:t>
            </a:r>
          </a:p>
          <a:p>
            <a:r>
              <a:rPr lang="en-US" dirty="0"/>
              <a:t>How to find what’s wrong?</a:t>
            </a:r>
          </a:p>
          <a:p>
            <a:r>
              <a:rPr lang="en-US" dirty="0"/>
              <a:t>Basic Idea:  step through code and see where things go wrong</a:t>
            </a:r>
          </a:p>
          <a:p>
            <a:pPr lvl="1"/>
            <a:r>
              <a:rPr lang="en-US" dirty="0"/>
              <a:t>As you step through, you should have an idea of what you think all variables should be equal to</a:t>
            </a:r>
          </a:p>
          <a:p>
            <a:pPr lvl="1"/>
            <a:r>
              <a:rPr lang="en-US" dirty="0"/>
              <a:t>When you find a variable that does not equal what you expected, that may be causing the error</a:t>
            </a:r>
          </a:p>
          <a:p>
            <a:pPr lvl="1"/>
            <a:r>
              <a:rPr lang="en-US" dirty="0"/>
              <a:t>Try to find why it doesn’t have the right value and fix it.</a:t>
            </a:r>
          </a:p>
          <a:p>
            <a:pPr lvl="1"/>
            <a:r>
              <a:rPr lang="en-US" dirty="0"/>
              <a:t>Then repeat until the code works</a:t>
            </a:r>
          </a:p>
          <a:p>
            <a:r>
              <a:rPr lang="en-US" dirty="0"/>
              <a:t>For large segments of code, it often helps to try to isolate what part of the code causes the error, then try debugging that part in isolation.  </a:t>
            </a:r>
          </a:p>
          <a:p>
            <a:r>
              <a:rPr lang="en-US" dirty="0"/>
              <a:t>Perhaps create a simple example to step through and see if you can generate the same problem in your simple example.  </a:t>
            </a:r>
          </a:p>
        </p:txBody>
      </p:sp>
    </p:spTree>
    <p:extLst>
      <p:ext uri="{BB962C8B-B14F-4D97-AF65-F5344CB8AC3E}">
        <p14:creationId xmlns:p14="http://schemas.microsoft.com/office/powerpoint/2010/main" val="3679078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Debugging Tools (print statements)</a:t>
            </a:r>
          </a:p>
        </p:txBody>
      </p:sp>
      <p:sp>
        <p:nvSpPr>
          <p:cNvPr id="3" name="Content Placeholder 2"/>
          <p:cNvSpPr>
            <a:spLocks noGrp="1"/>
          </p:cNvSpPr>
          <p:nvPr>
            <p:ph idx="1"/>
          </p:nvPr>
        </p:nvSpPr>
        <p:spPr/>
        <p:txBody>
          <a:bodyPr>
            <a:normAutofit fontScale="92500" lnSpcReduction="20000"/>
          </a:bodyPr>
          <a:lstStyle/>
          <a:p>
            <a:r>
              <a:rPr lang="en-US" dirty="0"/>
              <a:t>One easy tool is the print function.</a:t>
            </a:r>
          </a:p>
          <a:p>
            <a:r>
              <a:rPr lang="en-US" dirty="0"/>
              <a:t>&gt; print(x)</a:t>
            </a:r>
          </a:p>
          <a:p>
            <a:r>
              <a:rPr lang="en-US" dirty="0"/>
              <a:t>displays the value of the variable x in the terminal window.</a:t>
            </a:r>
          </a:p>
          <a:p>
            <a:r>
              <a:rPr lang="en-US" dirty="0"/>
              <a:t>By putting a bunch of print statements in your code, you can see what various variables are equal to and try to see where things go wrong (where the variables don’t have the values you want them to have).</a:t>
            </a:r>
          </a:p>
          <a:p>
            <a:r>
              <a:rPr lang="en-US" dirty="0"/>
              <a:t>Sometimes part of debugging is determining how many times a loop iterates.  A counter variable and print statement can be helpful.</a:t>
            </a:r>
          </a:p>
          <a:p>
            <a:pPr marL="201168" lvl="1" indent="0">
              <a:buNone/>
            </a:pPr>
            <a:r>
              <a:rPr lang="en-US" dirty="0"/>
              <a:t>a=0</a:t>
            </a:r>
          </a:p>
          <a:p>
            <a:pPr marL="201168" lvl="1" indent="0">
              <a:buNone/>
            </a:pPr>
            <a:r>
              <a:rPr lang="en-US" dirty="0"/>
              <a:t>For or while loop:</a:t>
            </a:r>
          </a:p>
          <a:p>
            <a:pPr marL="201168" lvl="1" indent="0">
              <a:buNone/>
            </a:pPr>
            <a:r>
              <a:rPr lang="en-US" dirty="0"/>
              <a:t>	…..</a:t>
            </a:r>
          </a:p>
          <a:p>
            <a:pPr marL="201168" lvl="1" indent="0">
              <a:buNone/>
            </a:pPr>
            <a:r>
              <a:rPr lang="en-US" dirty="0"/>
              <a:t>	print(a)</a:t>
            </a:r>
          </a:p>
          <a:p>
            <a:pPr marL="201168" lvl="1" indent="0">
              <a:buNone/>
            </a:pPr>
            <a:r>
              <a:rPr lang="en-US" dirty="0"/>
              <a:t>	a=</a:t>
            </a:r>
            <a:r>
              <a:rPr lang="en-US" dirty="0" err="1"/>
              <a:t>a+a</a:t>
            </a:r>
            <a:endParaRPr lang="en-US" dirty="0"/>
          </a:p>
        </p:txBody>
      </p:sp>
    </p:spTree>
    <p:extLst>
      <p:ext uri="{BB962C8B-B14F-4D97-AF65-F5344CB8AC3E}">
        <p14:creationId xmlns:p14="http://schemas.microsoft.com/office/powerpoint/2010/main" val="1185835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E9AAA-D726-42FA-A940-37B295870798}"/>
              </a:ext>
            </a:extLst>
          </p:cNvPr>
          <p:cNvSpPr>
            <a:spLocks noGrp="1"/>
          </p:cNvSpPr>
          <p:nvPr>
            <p:ph type="title"/>
          </p:nvPr>
        </p:nvSpPr>
        <p:spPr/>
        <p:txBody>
          <a:bodyPr/>
          <a:lstStyle/>
          <a:p>
            <a:r>
              <a:rPr lang="en-US" dirty="0"/>
              <a:t>Debugging Functions</a:t>
            </a:r>
          </a:p>
        </p:txBody>
      </p:sp>
      <p:sp>
        <p:nvSpPr>
          <p:cNvPr id="3" name="Content Placeholder 2">
            <a:extLst>
              <a:ext uri="{FF2B5EF4-FFF2-40B4-BE49-F238E27FC236}">
                <a16:creationId xmlns:a16="http://schemas.microsoft.com/office/drawing/2014/main" id="{B7AFD7B5-4499-40FC-96A6-EEB8081A1A49}"/>
              </a:ext>
            </a:extLst>
          </p:cNvPr>
          <p:cNvSpPr>
            <a:spLocks noGrp="1"/>
          </p:cNvSpPr>
          <p:nvPr>
            <p:ph idx="1"/>
          </p:nvPr>
        </p:nvSpPr>
        <p:spPr/>
        <p:txBody>
          <a:bodyPr/>
          <a:lstStyle/>
          <a:p>
            <a:r>
              <a:rPr lang="en-US" dirty="0"/>
              <a:t>When debugging a function, it is more difficult to step through the function to see what local variables are equal to.  At the console, if you a run a line with a function, it runs the whole function, not allowing you to step line-by-line. </a:t>
            </a:r>
          </a:p>
          <a:p>
            <a:r>
              <a:rPr lang="en-US" dirty="0"/>
              <a:t>How To Step Line-By-Line Through Function</a:t>
            </a:r>
          </a:p>
          <a:p>
            <a:pPr marL="457200" indent="-457200">
              <a:buFont typeface="+mj-lt"/>
              <a:buAutoNum type="arabicPeriod"/>
            </a:pPr>
            <a:r>
              <a:rPr lang="en-US" dirty="0"/>
              <a:t>Add print statements inside the function to see what local variables equal and/or to see how many times loops iterate</a:t>
            </a:r>
          </a:p>
          <a:p>
            <a:pPr marL="457200" indent="-457200">
              <a:buFont typeface="+mj-lt"/>
              <a:buAutoNum type="arabicPeriod"/>
            </a:pPr>
            <a:r>
              <a:rPr lang="en-US" dirty="0"/>
              <a:t>Use debugger with breakpoint inside a function.</a:t>
            </a:r>
          </a:p>
          <a:p>
            <a:pPr marL="457200" indent="-457200">
              <a:buFont typeface="+mj-lt"/>
              <a:buAutoNum type="arabicPeriod"/>
            </a:pPr>
            <a:r>
              <a:rPr lang="en-US" dirty="0"/>
              <a:t>Define the arguments to a function as global variables.  Then step through the function at the console INSTEAD of calling the function.</a:t>
            </a:r>
          </a:p>
        </p:txBody>
      </p:sp>
    </p:spTree>
    <p:extLst>
      <p:ext uri="{BB962C8B-B14F-4D97-AF65-F5344CB8AC3E}">
        <p14:creationId xmlns:p14="http://schemas.microsoft.com/office/powerpoint/2010/main" val="1442826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Debugging Tools (debugger)</a:t>
            </a:r>
          </a:p>
        </p:txBody>
      </p:sp>
      <p:sp>
        <p:nvSpPr>
          <p:cNvPr id="3" name="Content Placeholder 2"/>
          <p:cNvSpPr>
            <a:spLocks noGrp="1"/>
          </p:cNvSpPr>
          <p:nvPr>
            <p:ph idx="1"/>
          </p:nvPr>
        </p:nvSpPr>
        <p:spPr/>
        <p:txBody>
          <a:bodyPr/>
          <a:lstStyle/>
          <a:p>
            <a:r>
              <a:rPr lang="en-US" dirty="0"/>
              <a:t>Breakpoints are another important tool in Spyder (or other IDE) to debug code.  You can set a breakpoint and then run your code using the “Debug” option.  Then Python will stop executing when it reaches the breakpoint.  Your prompt will look like </a:t>
            </a:r>
          </a:p>
          <a:p>
            <a:r>
              <a:rPr lang="en-US" dirty="0" err="1"/>
              <a:t>ipdb</a:t>
            </a:r>
            <a:r>
              <a:rPr lang="en-US" dirty="0"/>
              <a:t>&gt;</a:t>
            </a:r>
          </a:p>
          <a:p>
            <a:r>
              <a:rPr lang="en-US" dirty="0"/>
              <a:t>instead of the normal prompt.</a:t>
            </a:r>
          </a:p>
          <a:p>
            <a:r>
              <a:rPr lang="en-US" dirty="0"/>
              <a:t>Then you can inspect any variables by typing the variable name at the prompt using the p command.  For example</a:t>
            </a:r>
          </a:p>
          <a:p>
            <a:r>
              <a:rPr lang="en-US" dirty="0" err="1"/>
              <a:t>ipdb</a:t>
            </a:r>
            <a:r>
              <a:rPr lang="en-US" dirty="0"/>
              <a:t>&gt; p a</a:t>
            </a:r>
          </a:p>
          <a:p>
            <a:r>
              <a:rPr lang="en-US" dirty="0"/>
              <a:t>will print the value of the variable a.  </a:t>
            </a:r>
          </a:p>
          <a:p>
            <a:endParaRPr lang="en-US" dirty="0"/>
          </a:p>
        </p:txBody>
      </p:sp>
    </p:spTree>
    <p:extLst>
      <p:ext uri="{BB962C8B-B14F-4D97-AF65-F5344CB8AC3E}">
        <p14:creationId xmlns:p14="http://schemas.microsoft.com/office/powerpoint/2010/main" val="3122784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Debugging Tools</a:t>
            </a:r>
          </a:p>
        </p:txBody>
      </p:sp>
      <p:sp>
        <p:nvSpPr>
          <p:cNvPr id="3" name="Content Placeholder 2"/>
          <p:cNvSpPr>
            <a:spLocks noGrp="1"/>
          </p:cNvSpPr>
          <p:nvPr>
            <p:ph idx="1"/>
          </p:nvPr>
        </p:nvSpPr>
        <p:spPr/>
        <p:txBody>
          <a:bodyPr>
            <a:normAutofit fontScale="85000" lnSpcReduction="10000"/>
          </a:bodyPr>
          <a:lstStyle/>
          <a:p>
            <a:r>
              <a:rPr lang="en-US" dirty="0"/>
              <a:t>To continue after reaching a breakpoint, you have several options</a:t>
            </a:r>
          </a:p>
          <a:p>
            <a:r>
              <a:rPr lang="en-US" dirty="0"/>
              <a:t>1. Step through one line at a time.  From Debug menu, choose “Step” or type “n” at the prompt.  This will execute the next line and keep you at the debug prompt.  You can see how all the variables changed after running that line by looking at the variable explorer window or by using the p command to print a variable at the prompt.</a:t>
            </a:r>
          </a:p>
          <a:p>
            <a:r>
              <a:rPr lang="en-US" dirty="0"/>
              <a:t>2. Step into a function.  From Debug menu, choose “Step Into” or type “s” at the prompt.  If the next line of code has a function call, this allows you to step through that function line-by-line instead of executing the whole line at once (which is what “n” would do)</a:t>
            </a:r>
          </a:p>
          <a:p>
            <a:r>
              <a:rPr lang="en-US" dirty="0"/>
              <a:t>3.  Continue until next breakpoint.  From Debug menu, choose “Continue” or type “c” at the prompt.  This will re-start the program until another (or the same) breakpoint is reached or until the program ends.</a:t>
            </a:r>
          </a:p>
          <a:p>
            <a:r>
              <a:rPr lang="en-US" dirty="0"/>
              <a:t>4.  Continue until next breakpoint or until end of function. From menu, choose “Step Return” or type “r” at the prompt. This will re-start the program until another (or the same) breakpoint is reached or until the function ends.  (This makes sense if you have previously stepped into a function (the “s” command above) and now want to jump to the end of that function call.) </a:t>
            </a:r>
          </a:p>
          <a:p>
            <a:r>
              <a:rPr lang="en-US" dirty="0"/>
              <a:t>5.  Stop debugging.  Type “q” at the prompt or “Stop” from the Debug menu.</a:t>
            </a:r>
          </a:p>
          <a:p>
            <a:endParaRPr lang="en-US" dirty="0"/>
          </a:p>
        </p:txBody>
      </p:sp>
    </p:spTree>
    <p:extLst>
      <p:ext uri="{BB962C8B-B14F-4D97-AF65-F5344CB8AC3E}">
        <p14:creationId xmlns:p14="http://schemas.microsoft.com/office/powerpoint/2010/main" val="47269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assignment</a:t>
            </a:r>
          </a:p>
        </p:txBody>
      </p:sp>
      <p:sp>
        <p:nvSpPr>
          <p:cNvPr id="3" name="Content Placeholder 2"/>
          <p:cNvSpPr>
            <a:spLocks noGrp="1"/>
          </p:cNvSpPr>
          <p:nvPr>
            <p:ph idx="1"/>
          </p:nvPr>
        </p:nvSpPr>
        <p:spPr/>
        <p:txBody>
          <a:bodyPr/>
          <a:lstStyle/>
          <a:p>
            <a:r>
              <a:rPr lang="en-US" dirty="0"/>
              <a:t>Open the file </a:t>
            </a:r>
            <a:r>
              <a:rPr lang="en-US" dirty="0" err="1"/>
              <a:t>debug</a:t>
            </a:r>
            <a:r>
              <a:rPr lang="en-US" err="1"/>
              <a:t>_</a:t>
            </a:r>
            <a:r>
              <a:rPr lang="en-US"/>
              <a:t>example_transpose2.</a:t>
            </a:r>
            <a:r>
              <a:rPr lang="en-US" dirty="0"/>
              <a:t>py</a:t>
            </a:r>
          </a:p>
          <a:p>
            <a:r>
              <a:rPr lang="en-US" dirty="0"/>
              <a:t>Run transpose(x) and compare to the actual transpose of x.  Note that it doesn’t work.</a:t>
            </a:r>
          </a:p>
          <a:p>
            <a:r>
              <a:rPr lang="en-US" dirty="0"/>
              <a:t>Debug the transpose function.</a:t>
            </a:r>
          </a:p>
        </p:txBody>
      </p:sp>
    </p:spTree>
    <p:extLst>
      <p:ext uri="{BB962C8B-B14F-4D97-AF65-F5344CB8AC3E}">
        <p14:creationId xmlns:p14="http://schemas.microsoft.com/office/powerpoint/2010/main" val="10472974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7284</TotalTime>
  <Words>954</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Retrospect</vt:lpstr>
      <vt:lpstr>Debugging</vt:lpstr>
      <vt:lpstr>Errors and Warnings</vt:lpstr>
      <vt:lpstr>Debugging Code </vt:lpstr>
      <vt:lpstr>Debugging Tools (print statements)</vt:lpstr>
      <vt:lpstr>Debugging Functions</vt:lpstr>
      <vt:lpstr>Debugging Tools (debugger)</vt:lpstr>
      <vt:lpstr>Debugging Tools</vt:lpstr>
      <vt:lpstr>In-class 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Debugging</dc:title>
  <dc:creator>Aric Shafran</dc:creator>
  <cp:lastModifiedBy>Aric P. Shafran</cp:lastModifiedBy>
  <cp:revision>10</cp:revision>
  <dcterms:created xsi:type="dcterms:W3CDTF">2015-10-01T21:20:59Z</dcterms:created>
  <dcterms:modified xsi:type="dcterms:W3CDTF">2025-10-14T17:50:29Z</dcterms:modified>
</cp:coreProperties>
</file>