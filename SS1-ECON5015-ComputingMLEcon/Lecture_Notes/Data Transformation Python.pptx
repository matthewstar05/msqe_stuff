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70" r:id="rId3"/>
    <p:sldId id="272" r:id="rId4"/>
    <p:sldId id="276" r:id="rId5"/>
    <p:sldId id="273" r:id="rId6"/>
    <p:sldId id="274" r:id="rId7"/>
    <p:sldId id="275" r:id="rId8"/>
    <p:sldId id="277" r:id="rId9"/>
    <p:sldId id="287" r:id="rId10"/>
    <p:sldId id="286" r:id="rId11"/>
    <p:sldId id="258" r:id="rId12"/>
    <p:sldId id="259" r:id="rId13"/>
    <p:sldId id="260" r:id="rId14"/>
    <p:sldId id="267" r:id="rId15"/>
    <p:sldId id="271" r:id="rId16"/>
    <p:sldId id="285" r:id="rId17"/>
    <p:sldId id="278" r:id="rId18"/>
    <p:sldId id="279" r:id="rId19"/>
    <p:sldId id="280" r:id="rId20"/>
    <p:sldId id="283" r:id="rId21"/>
    <p:sldId id="284" r:id="rId22"/>
    <p:sldId id="289" r:id="rId23"/>
    <p:sldId id="290" r:id="rId24"/>
    <p:sldId id="291" r:id="rId25"/>
    <p:sldId id="292" r:id="rId26"/>
    <p:sldId id="288" r:id="rId27"/>
    <p:sldId id="262" r:id="rId28"/>
    <p:sldId id="263" r:id="rId29"/>
    <p:sldId id="264" r:id="rId30"/>
    <p:sldId id="265"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509" autoAdjust="0"/>
    <p:restoredTop sz="94660"/>
  </p:normalViewPr>
  <p:slideViewPr>
    <p:cSldViewPr snapToGrid="0">
      <p:cViewPr varScale="1">
        <p:scale>
          <a:sx n="86" d="100"/>
          <a:sy n="86" d="100"/>
        </p:scale>
        <p:origin x="811"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058273E-BEFC-484B-838E-D53D277F8486}" type="datetimeFigureOut">
              <a:rPr lang="en-US" smtClean="0"/>
              <a:t>10/21/2021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884B82F-2D85-433D-AFA0-C7721CE77145}"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665629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058273E-BEFC-484B-838E-D53D277F8486}" type="datetimeFigureOut">
              <a:rPr lang="en-US" smtClean="0"/>
              <a:t>10/21/2021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884B82F-2D85-433D-AFA0-C7721CE77145}" type="slidenum">
              <a:rPr lang="en-US" smtClean="0"/>
              <a:t>‹#›</a:t>
            </a:fld>
            <a:endParaRPr lang="en-US"/>
          </a:p>
        </p:txBody>
      </p:sp>
    </p:spTree>
    <p:extLst>
      <p:ext uri="{BB962C8B-B14F-4D97-AF65-F5344CB8AC3E}">
        <p14:creationId xmlns:p14="http://schemas.microsoft.com/office/powerpoint/2010/main" val="38830883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058273E-BEFC-484B-838E-D53D277F8486}" type="datetimeFigureOut">
              <a:rPr lang="en-US" smtClean="0"/>
              <a:t>10/21/2021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884B82F-2D85-433D-AFA0-C7721CE77145}"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972993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058273E-BEFC-484B-838E-D53D277F8486}" type="datetimeFigureOut">
              <a:rPr lang="en-US" smtClean="0"/>
              <a:t>10/21/2021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884B82F-2D85-433D-AFA0-C7721CE77145}" type="slidenum">
              <a:rPr lang="en-US" smtClean="0"/>
              <a:t>‹#›</a:t>
            </a:fld>
            <a:endParaRPr lang="en-US"/>
          </a:p>
        </p:txBody>
      </p:sp>
    </p:spTree>
    <p:extLst>
      <p:ext uri="{BB962C8B-B14F-4D97-AF65-F5344CB8AC3E}">
        <p14:creationId xmlns:p14="http://schemas.microsoft.com/office/powerpoint/2010/main" val="32348983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058273E-BEFC-484B-838E-D53D277F8486}" type="datetimeFigureOut">
              <a:rPr lang="en-US" smtClean="0"/>
              <a:t>10/21/2021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884B82F-2D85-433D-AFA0-C7721CE77145}" type="slidenum">
              <a:rPr lang="en-US" smtClean="0"/>
              <a:t>‹#›</a:t>
            </a:fld>
            <a:endParaRPr lang="en-US"/>
          </a:p>
        </p:txBody>
      </p:sp>
    </p:spTree>
    <p:extLst>
      <p:ext uri="{BB962C8B-B14F-4D97-AF65-F5344CB8AC3E}">
        <p14:creationId xmlns:p14="http://schemas.microsoft.com/office/powerpoint/2010/main" val="33874836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058273E-BEFC-484B-838E-D53D277F8486}" type="datetimeFigureOut">
              <a:rPr lang="en-US" smtClean="0"/>
              <a:t>10/21/2021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884B82F-2D85-433D-AFA0-C7721CE77145}" type="slidenum">
              <a:rPr lang="en-US" smtClean="0"/>
              <a:t>‹#›</a:t>
            </a:fld>
            <a:endParaRPr lang="en-US"/>
          </a:p>
        </p:txBody>
      </p:sp>
    </p:spTree>
    <p:extLst>
      <p:ext uri="{BB962C8B-B14F-4D97-AF65-F5344CB8AC3E}">
        <p14:creationId xmlns:p14="http://schemas.microsoft.com/office/powerpoint/2010/main" val="1966208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A058273E-BEFC-484B-838E-D53D277F8486}" type="datetimeFigureOut">
              <a:rPr lang="en-US" smtClean="0"/>
              <a:t>10/21/2021</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5884B82F-2D85-433D-AFA0-C7721CE77145}" type="slidenum">
              <a:rPr lang="en-US" smtClean="0"/>
              <a:t>‹#›</a:t>
            </a:fld>
            <a:endParaRPr lang="en-US"/>
          </a:p>
        </p:txBody>
      </p:sp>
    </p:spTree>
    <p:extLst>
      <p:ext uri="{BB962C8B-B14F-4D97-AF65-F5344CB8AC3E}">
        <p14:creationId xmlns:p14="http://schemas.microsoft.com/office/powerpoint/2010/main" val="78834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A058273E-BEFC-484B-838E-D53D277F8486}" type="datetimeFigureOut">
              <a:rPr lang="en-US" smtClean="0"/>
              <a:t>10/21/2021</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5884B82F-2D85-433D-AFA0-C7721CE77145}" type="slidenum">
              <a:rPr lang="en-US" smtClean="0"/>
              <a:t>‹#›</a:t>
            </a:fld>
            <a:endParaRPr lang="en-US"/>
          </a:p>
        </p:txBody>
      </p:sp>
    </p:spTree>
    <p:extLst>
      <p:ext uri="{BB962C8B-B14F-4D97-AF65-F5344CB8AC3E}">
        <p14:creationId xmlns:p14="http://schemas.microsoft.com/office/powerpoint/2010/main" val="32475431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058273E-BEFC-484B-838E-D53D277F8486}" type="datetimeFigureOut">
              <a:rPr lang="en-US" smtClean="0"/>
              <a:t>10/21/2021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884B82F-2D85-433D-AFA0-C7721CE77145}" type="slidenum">
              <a:rPr lang="en-US" smtClean="0"/>
              <a:t>‹#›</a:t>
            </a:fld>
            <a:endParaRPr lang="en-US"/>
          </a:p>
        </p:txBody>
      </p:sp>
    </p:spTree>
    <p:extLst>
      <p:ext uri="{BB962C8B-B14F-4D97-AF65-F5344CB8AC3E}">
        <p14:creationId xmlns:p14="http://schemas.microsoft.com/office/powerpoint/2010/main" val="38647124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058273E-BEFC-484B-838E-D53D277F8486}" type="datetimeFigureOut">
              <a:rPr lang="en-US" smtClean="0"/>
              <a:t>10/21/2021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884B82F-2D85-433D-AFA0-C7721CE77145}" type="slidenum">
              <a:rPr lang="en-US" smtClean="0"/>
              <a:t>‹#›</a:t>
            </a:fld>
            <a:endParaRPr lang="en-US"/>
          </a:p>
        </p:txBody>
      </p:sp>
    </p:spTree>
    <p:extLst>
      <p:ext uri="{BB962C8B-B14F-4D97-AF65-F5344CB8AC3E}">
        <p14:creationId xmlns:p14="http://schemas.microsoft.com/office/powerpoint/2010/main" val="183013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058273E-BEFC-484B-838E-D53D277F8486}" type="datetimeFigureOut">
              <a:rPr lang="en-US" smtClean="0"/>
              <a:t>10/21/2021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884B82F-2D85-433D-AFA0-C7721CE77145}" type="slidenum">
              <a:rPr lang="en-US" smtClean="0"/>
              <a:t>‹#›</a:t>
            </a:fld>
            <a:endParaRPr lang="en-US"/>
          </a:p>
        </p:txBody>
      </p:sp>
    </p:spTree>
    <p:extLst>
      <p:ext uri="{BB962C8B-B14F-4D97-AF65-F5344CB8AC3E}">
        <p14:creationId xmlns:p14="http://schemas.microsoft.com/office/powerpoint/2010/main" val="19701326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A058273E-BEFC-484B-838E-D53D277F8486}" type="datetimeFigureOut">
              <a:rPr lang="en-US" smtClean="0"/>
              <a:t>10/21/2021</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5884B82F-2D85-433D-AFA0-C7721CE77145}"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0363303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Data Manipulation / </a:t>
            </a:r>
            <a:r>
              <a:rPr lang="en-US"/>
              <a:t>Data Wrangling</a:t>
            </a:r>
            <a:endParaRPr lang="en-US" dirty="0"/>
          </a:p>
        </p:txBody>
      </p:sp>
      <p:sp>
        <p:nvSpPr>
          <p:cNvPr id="3" name="Subtitle 2"/>
          <p:cNvSpPr>
            <a:spLocks noGrp="1"/>
          </p:cNvSpPr>
          <p:nvPr>
            <p:ph type="subTitle" idx="1"/>
          </p:nvPr>
        </p:nvSpPr>
        <p:spPr/>
        <p:txBody>
          <a:bodyPr/>
          <a:lstStyle/>
          <a:p>
            <a:r>
              <a:rPr lang="en-US" dirty="0"/>
              <a:t>Econ 524</a:t>
            </a:r>
          </a:p>
        </p:txBody>
      </p:sp>
    </p:spTree>
    <p:extLst>
      <p:ext uri="{BB962C8B-B14F-4D97-AF65-F5344CB8AC3E}">
        <p14:creationId xmlns:p14="http://schemas.microsoft.com/office/powerpoint/2010/main" val="34733990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783EAA-D5CB-4492-8A82-889BE677C927}"/>
              </a:ext>
            </a:extLst>
          </p:cNvPr>
          <p:cNvSpPr>
            <a:spLocks noGrp="1"/>
          </p:cNvSpPr>
          <p:nvPr>
            <p:ph type="title"/>
          </p:nvPr>
        </p:nvSpPr>
        <p:spPr/>
        <p:txBody>
          <a:bodyPr/>
          <a:lstStyle/>
          <a:p>
            <a:r>
              <a:rPr lang="en-US" dirty="0"/>
              <a:t>Overview</a:t>
            </a:r>
          </a:p>
        </p:txBody>
      </p:sp>
      <p:sp>
        <p:nvSpPr>
          <p:cNvPr id="3" name="Content Placeholder 2">
            <a:extLst>
              <a:ext uri="{FF2B5EF4-FFF2-40B4-BE49-F238E27FC236}">
                <a16:creationId xmlns:a16="http://schemas.microsoft.com/office/drawing/2014/main" id="{5CB019C9-1300-439D-A651-9949B3F71406}"/>
              </a:ext>
            </a:extLst>
          </p:cNvPr>
          <p:cNvSpPr>
            <a:spLocks noGrp="1"/>
          </p:cNvSpPr>
          <p:nvPr>
            <p:ph idx="1"/>
          </p:nvPr>
        </p:nvSpPr>
        <p:spPr/>
        <p:txBody>
          <a:bodyPr/>
          <a:lstStyle/>
          <a:p>
            <a:r>
              <a:rPr lang="en-US" dirty="0"/>
              <a:t>These slides will cover some of the pandas functions that assist with data wrangling.</a:t>
            </a:r>
          </a:p>
          <a:p>
            <a:r>
              <a:rPr lang="en-US" dirty="0"/>
              <a:t>I will give an overview of functions that I think are particularly useful but I will not cover all features of these functions nor will I cover every function.</a:t>
            </a:r>
          </a:p>
          <a:p>
            <a:r>
              <a:rPr lang="en-US" dirty="0"/>
              <a:t>1. Grouping and aggregation:  define groups of rows that share a common key and compute aggregate values for each group</a:t>
            </a:r>
          </a:p>
          <a:p>
            <a:r>
              <a:rPr lang="en-US" dirty="0"/>
              <a:t>2.  Merge / join:  merge two data sets that share some a common “key” which links the two data sets together</a:t>
            </a:r>
          </a:p>
          <a:p>
            <a:r>
              <a:rPr lang="en-US" dirty="0"/>
              <a:t>3. Reshape:  move data from wide to long format and vice versa</a:t>
            </a:r>
          </a:p>
          <a:p>
            <a:endParaRPr lang="en-US" dirty="0"/>
          </a:p>
          <a:p>
            <a:endParaRPr lang="en-US" dirty="0"/>
          </a:p>
        </p:txBody>
      </p:sp>
    </p:spTree>
    <p:extLst>
      <p:ext uri="{BB962C8B-B14F-4D97-AF65-F5344CB8AC3E}">
        <p14:creationId xmlns:p14="http://schemas.microsoft.com/office/powerpoint/2010/main" val="12333317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DF0E7-282F-461E-A440-EC46976D3B05}"/>
              </a:ext>
            </a:extLst>
          </p:cNvPr>
          <p:cNvSpPr>
            <a:spLocks noGrp="1"/>
          </p:cNvSpPr>
          <p:nvPr>
            <p:ph type="title"/>
          </p:nvPr>
        </p:nvSpPr>
        <p:spPr/>
        <p:txBody>
          <a:bodyPr/>
          <a:lstStyle/>
          <a:p>
            <a:r>
              <a:rPr lang="en-US" dirty="0" err="1"/>
              <a:t>groupby</a:t>
            </a:r>
            <a:endParaRPr lang="en-US" dirty="0"/>
          </a:p>
        </p:txBody>
      </p:sp>
      <p:sp>
        <p:nvSpPr>
          <p:cNvPr id="3" name="Content Placeholder 2">
            <a:extLst>
              <a:ext uri="{FF2B5EF4-FFF2-40B4-BE49-F238E27FC236}">
                <a16:creationId xmlns:a16="http://schemas.microsoft.com/office/drawing/2014/main" id="{47B082E6-2FAE-452C-9B93-1F36AB79A69E}"/>
              </a:ext>
            </a:extLst>
          </p:cNvPr>
          <p:cNvSpPr>
            <a:spLocks noGrp="1"/>
          </p:cNvSpPr>
          <p:nvPr>
            <p:ph idx="1"/>
          </p:nvPr>
        </p:nvSpPr>
        <p:spPr/>
        <p:txBody>
          <a:bodyPr/>
          <a:lstStyle/>
          <a:p>
            <a:r>
              <a:rPr lang="en-US" dirty="0"/>
              <a:t>Collapse data frame to a single observation per group and generate aggregated values for each group</a:t>
            </a:r>
          </a:p>
          <a:p>
            <a:r>
              <a:rPr lang="en-US" dirty="0"/>
              <a:t>Suppose you have panel data with 10 observations per person and you want to create a data frame with one observation per person that has the mean, min, max, and standard dev of values for that person.</a:t>
            </a:r>
          </a:p>
        </p:txBody>
      </p:sp>
    </p:spTree>
    <p:extLst>
      <p:ext uri="{BB962C8B-B14F-4D97-AF65-F5344CB8AC3E}">
        <p14:creationId xmlns:p14="http://schemas.microsoft.com/office/powerpoint/2010/main" val="728757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58E101FA-DDE8-4657-88DF-4300D5E441D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1100" y="485775"/>
            <a:ext cx="7658100" cy="57435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36078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nvGraphicFramePr>
        <p:xfrm>
          <a:off x="942392" y="578498"/>
          <a:ext cx="4935894" cy="5240461"/>
        </p:xfrm>
        <a:graphic>
          <a:graphicData uri="http://schemas.openxmlformats.org/drawingml/2006/table">
            <a:tbl>
              <a:tblPr firstRow="1" bandRow="1">
                <a:tableStyleId>{5C22544A-7EE6-4342-B048-85BDC9FD1C3A}</a:tableStyleId>
              </a:tblPr>
              <a:tblGrid>
                <a:gridCol w="1645298">
                  <a:extLst>
                    <a:ext uri="{9D8B030D-6E8A-4147-A177-3AD203B41FA5}">
                      <a16:colId xmlns:a16="http://schemas.microsoft.com/office/drawing/2014/main" val="20000"/>
                    </a:ext>
                  </a:extLst>
                </a:gridCol>
                <a:gridCol w="1645298">
                  <a:extLst>
                    <a:ext uri="{9D8B030D-6E8A-4147-A177-3AD203B41FA5}">
                      <a16:colId xmlns:a16="http://schemas.microsoft.com/office/drawing/2014/main" val="20001"/>
                    </a:ext>
                  </a:extLst>
                </a:gridCol>
                <a:gridCol w="1645298">
                  <a:extLst>
                    <a:ext uri="{9D8B030D-6E8A-4147-A177-3AD203B41FA5}">
                      <a16:colId xmlns:a16="http://schemas.microsoft.com/office/drawing/2014/main" val="20002"/>
                    </a:ext>
                  </a:extLst>
                </a:gridCol>
              </a:tblGrid>
              <a:tr h="643597">
                <a:tc>
                  <a:txBody>
                    <a:bodyPr/>
                    <a:lstStyle/>
                    <a:p>
                      <a:r>
                        <a:rPr lang="en-US" dirty="0"/>
                        <a:t>Person</a:t>
                      </a:r>
                    </a:p>
                  </a:txBody>
                  <a:tcPr/>
                </a:tc>
                <a:tc>
                  <a:txBody>
                    <a:bodyPr/>
                    <a:lstStyle/>
                    <a:p>
                      <a:r>
                        <a:rPr lang="en-US" dirty="0"/>
                        <a:t>Day</a:t>
                      </a:r>
                    </a:p>
                  </a:txBody>
                  <a:tcPr/>
                </a:tc>
                <a:tc>
                  <a:txBody>
                    <a:bodyPr/>
                    <a:lstStyle/>
                    <a:p>
                      <a:r>
                        <a:rPr lang="en-US" dirty="0" err="1"/>
                        <a:t>Num_bananas</a:t>
                      </a:r>
                      <a:endParaRPr lang="en-US" dirty="0"/>
                    </a:p>
                  </a:txBody>
                  <a:tcPr/>
                </a:tc>
                <a:extLst>
                  <a:ext uri="{0D108BD9-81ED-4DB2-BD59-A6C34878D82A}">
                    <a16:rowId xmlns:a16="http://schemas.microsoft.com/office/drawing/2014/main" val="10000"/>
                  </a:ext>
                </a:extLst>
              </a:tr>
              <a:tr h="766144">
                <a:tc>
                  <a:txBody>
                    <a:bodyPr/>
                    <a:lstStyle/>
                    <a:p>
                      <a:r>
                        <a:rPr lang="en-US" dirty="0"/>
                        <a:t>1</a:t>
                      </a:r>
                    </a:p>
                  </a:txBody>
                  <a:tcPr/>
                </a:tc>
                <a:tc>
                  <a:txBody>
                    <a:bodyPr/>
                    <a:lstStyle/>
                    <a:p>
                      <a:r>
                        <a:rPr lang="en-US" dirty="0"/>
                        <a:t>1</a:t>
                      </a:r>
                    </a:p>
                  </a:txBody>
                  <a:tcPr/>
                </a:tc>
                <a:tc>
                  <a:txBody>
                    <a:bodyPr/>
                    <a:lstStyle/>
                    <a:p>
                      <a:r>
                        <a:rPr lang="en-US" dirty="0"/>
                        <a:t>3</a:t>
                      </a:r>
                    </a:p>
                  </a:txBody>
                  <a:tcPr/>
                </a:tc>
                <a:extLst>
                  <a:ext uri="{0D108BD9-81ED-4DB2-BD59-A6C34878D82A}">
                    <a16:rowId xmlns:a16="http://schemas.microsoft.com/office/drawing/2014/main" val="10001"/>
                  </a:ext>
                </a:extLst>
              </a:tr>
              <a:tr h="766144">
                <a:tc>
                  <a:txBody>
                    <a:bodyPr/>
                    <a:lstStyle/>
                    <a:p>
                      <a:r>
                        <a:rPr lang="en-US" dirty="0"/>
                        <a:t>1</a:t>
                      </a:r>
                    </a:p>
                  </a:txBody>
                  <a:tcPr/>
                </a:tc>
                <a:tc>
                  <a:txBody>
                    <a:bodyPr/>
                    <a:lstStyle/>
                    <a:p>
                      <a:r>
                        <a:rPr lang="en-US" dirty="0"/>
                        <a:t>2</a:t>
                      </a:r>
                    </a:p>
                  </a:txBody>
                  <a:tcPr/>
                </a:tc>
                <a:tc>
                  <a:txBody>
                    <a:bodyPr/>
                    <a:lstStyle/>
                    <a:p>
                      <a:r>
                        <a:rPr lang="en-US" dirty="0"/>
                        <a:t>1</a:t>
                      </a:r>
                    </a:p>
                  </a:txBody>
                  <a:tcPr/>
                </a:tc>
                <a:extLst>
                  <a:ext uri="{0D108BD9-81ED-4DB2-BD59-A6C34878D82A}">
                    <a16:rowId xmlns:a16="http://schemas.microsoft.com/office/drawing/2014/main" val="10002"/>
                  </a:ext>
                </a:extLst>
              </a:tr>
              <a:tr h="766144">
                <a:tc>
                  <a:txBody>
                    <a:bodyPr/>
                    <a:lstStyle/>
                    <a:p>
                      <a:r>
                        <a:rPr lang="en-US" dirty="0"/>
                        <a:t>1</a:t>
                      </a:r>
                    </a:p>
                  </a:txBody>
                  <a:tcPr/>
                </a:tc>
                <a:tc>
                  <a:txBody>
                    <a:bodyPr/>
                    <a:lstStyle/>
                    <a:p>
                      <a:r>
                        <a:rPr lang="en-US" dirty="0"/>
                        <a:t>3</a:t>
                      </a:r>
                    </a:p>
                  </a:txBody>
                  <a:tcPr/>
                </a:tc>
                <a:tc>
                  <a:txBody>
                    <a:bodyPr/>
                    <a:lstStyle/>
                    <a:p>
                      <a:r>
                        <a:rPr lang="en-US" dirty="0"/>
                        <a:t>2</a:t>
                      </a:r>
                    </a:p>
                  </a:txBody>
                  <a:tcPr/>
                </a:tc>
                <a:extLst>
                  <a:ext uri="{0D108BD9-81ED-4DB2-BD59-A6C34878D82A}">
                    <a16:rowId xmlns:a16="http://schemas.microsoft.com/office/drawing/2014/main" val="10003"/>
                  </a:ext>
                </a:extLst>
              </a:tr>
              <a:tr h="766144">
                <a:tc>
                  <a:txBody>
                    <a:bodyPr/>
                    <a:lstStyle/>
                    <a:p>
                      <a:r>
                        <a:rPr lang="en-US" dirty="0"/>
                        <a:t>2</a:t>
                      </a:r>
                    </a:p>
                  </a:txBody>
                  <a:tcPr/>
                </a:tc>
                <a:tc>
                  <a:txBody>
                    <a:bodyPr/>
                    <a:lstStyle/>
                    <a:p>
                      <a:r>
                        <a:rPr lang="en-US" dirty="0"/>
                        <a:t>1</a:t>
                      </a:r>
                    </a:p>
                  </a:txBody>
                  <a:tcPr/>
                </a:tc>
                <a:tc>
                  <a:txBody>
                    <a:bodyPr/>
                    <a:lstStyle/>
                    <a:p>
                      <a:r>
                        <a:rPr lang="en-US" dirty="0"/>
                        <a:t>4</a:t>
                      </a:r>
                    </a:p>
                  </a:txBody>
                  <a:tcPr/>
                </a:tc>
                <a:extLst>
                  <a:ext uri="{0D108BD9-81ED-4DB2-BD59-A6C34878D82A}">
                    <a16:rowId xmlns:a16="http://schemas.microsoft.com/office/drawing/2014/main" val="10004"/>
                  </a:ext>
                </a:extLst>
              </a:tr>
              <a:tr h="766144">
                <a:tc>
                  <a:txBody>
                    <a:bodyPr/>
                    <a:lstStyle/>
                    <a:p>
                      <a:r>
                        <a:rPr lang="en-US" dirty="0"/>
                        <a:t>2</a:t>
                      </a:r>
                    </a:p>
                  </a:txBody>
                  <a:tcPr/>
                </a:tc>
                <a:tc>
                  <a:txBody>
                    <a:bodyPr/>
                    <a:lstStyle/>
                    <a:p>
                      <a:r>
                        <a:rPr lang="en-US" dirty="0"/>
                        <a:t>2</a:t>
                      </a:r>
                    </a:p>
                  </a:txBody>
                  <a:tcPr/>
                </a:tc>
                <a:tc>
                  <a:txBody>
                    <a:bodyPr/>
                    <a:lstStyle/>
                    <a:p>
                      <a:r>
                        <a:rPr lang="en-US" dirty="0"/>
                        <a:t>4</a:t>
                      </a:r>
                    </a:p>
                  </a:txBody>
                  <a:tcPr/>
                </a:tc>
                <a:extLst>
                  <a:ext uri="{0D108BD9-81ED-4DB2-BD59-A6C34878D82A}">
                    <a16:rowId xmlns:a16="http://schemas.microsoft.com/office/drawing/2014/main" val="111665527"/>
                  </a:ext>
                </a:extLst>
              </a:tr>
              <a:tr h="766144">
                <a:tc>
                  <a:txBody>
                    <a:bodyPr/>
                    <a:lstStyle/>
                    <a:p>
                      <a:r>
                        <a:rPr lang="en-US" dirty="0"/>
                        <a:t>2</a:t>
                      </a:r>
                    </a:p>
                  </a:txBody>
                  <a:tcPr/>
                </a:tc>
                <a:tc>
                  <a:txBody>
                    <a:bodyPr/>
                    <a:lstStyle/>
                    <a:p>
                      <a:r>
                        <a:rPr lang="en-US" dirty="0"/>
                        <a:t>3</a:t>
                      </a:r>
                    </a:p>
                  </a:txBody>
                  <a:tcPr/>
                </a:tc>
                <a:tc>
                  <a:txBody>
                    <a:bodyPr/>
                    <a:lstStyle/>
                    <a:p>
                      <a:r>
                        <a:rPr lang="en-US" dirty="0"/>
                        <a:t>5</a:t>
                      </a:r>
                    </a:p>
                  </a:txBody>
                  <a:tcPr/>
                </a:tc>
                <a:extLst>
                  <a:ext uri="{0D108BD9-81ED-4DB2-BD59-A6C34878D82A}">
                    <a16:rowId xmlns:a16="http://schemas.microsoft.com/office/drawing/2014/main" val="1759111329"/>
                  </a:ext>
                </a:extLst>
              </a:tr>
            </a:tbl>
          </a:graphicData>
        </a:graphic>
      </p:graphicFrame>
    </p:spTree>
    <p:extLst>
      <p:ext uri="{BB962C8B-B14F-4D97-AF65-F5344CB8AC3E}">
        <p14:creationId xmlns:p14="http://schemas.microsoft.com/office/powerpoint/2010/main" val="42808967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D235A5-FCE2-42F0-A106-9481944D29E6}"/>
              </a:ext>
            </a:extLst>
          </p:cNvPr>
          <p:cNvSpPr>
            <a:spLocks noGrp="1"/>
          </p:cNvSpPr>
          <p:nvPr>
            <p:ph type="title"/>
          </p:nvPr>
        </p:nvSpPr>
        <p:spPr/>
        <p:txBody>
          <a:bodyPr/>
          <a:lstStyle/>
          <a:p>
            <a:r>
              <a:rPr lang="en-US" dirty="0" err="1"/>
              <a:t>groupby</a:t>
            </a:r>
            <a:r>
              <a:rPr lang="en-US" dirty="0"/>
              <a:t>  (with </a:t>
            </a:r>
            <a:r>
              <a:rPr lang="en-US" dirty="0" err="1"/>
              <a:t>agg</a:t>
            </a:r>
            <a:r>
              <a:rPr lang="en-US" dirty="0"/>
              <a:t>)</a:t>
            </a:r>
          </a:p>
        </p:txBody>
      </p:sp>
      <p:sp>
        <p:nvSpPr>
          <p:cNvPr id="3" name="Content Placeholder 2">
            <a:extLst>
              <a:ext uri="{FF2B5EF4-FFF2-40B4-BE49-F238E27FC236}">
                <a16:creationId xmlns:a16="http://schemas.microsoft.com/office/drawing/2014/main" id="{4573BA51-E6AD-417D-841E-30957A3BCF5A}"/>
              </a:ext>
            </a:extLst>
          </p:cNvPr>
          <p:cNvSpPr>
            <a:spLocks noGrp="1"/>
          </p:cNvSpPr>
          <p:nvPr>
            <p:ph idx="1"/>
          </p:nvPr>
        </p:nvSpPr>
        <p:spPr/>
        <p:txBody>
          <a:bodyPr/>
          <a:lstStyle/>
          <a:p>
            <a:r>
              <a:rPr lang="en-US" dirty="0"/>
              <a:t>Suppose bananas is name of data frame</a:t>
            </a:r>
          </a:p>
          <a:p>
            <a:r>
              <a:rPr lang="en-US" dirty="0" err="1"/>
              <a:t>banana_groupby</a:t>
            </a:r>
            <a:r>
              <a:rPr lang="en-US" dirty="0"/>
              <a:t> = </a:t>
            </a:r>
            <a:r>
              <a:rPr lang="en-US" dirty="0" err="1"/>
              <a:t>bananas.groupby</a:t>
            </a:r>
            <a:r>
              <a:rPr lang="en-US" dirty="0"/>
              <a:t>(“Person”)</a:t>
            </a:r>
          </a:p>
          <a:p>
            <a:r>
              <a:rPr lang="en-US" dirty="0" err="1"/>
              <a:t>banana_by_person</a:t>
            </a:r>
            <a:r>
              <a:rPr lang="en-US" dirty="0"/>
              <a:t> = </a:t>
            </a:r>
            <a:r>
              <a:rPr lang="en-US" dirty="0" err="1"/>
              <a:t>banana_groupby.agg</a:t>
            </a:r>
            <a:r>
              <a:rPr lang="en-US" dirty="0"/>
              <a:t>({“</a:t>
            </a:r>
            <a:r>
              <a:rPr lang="en-US" dirty="0" err="1"/>
              <a:t>Num_bananas</a:t>
            </a:r>
            <a:r>
              <a:rPr lang="en-US" dirty="0"/>
              <a:t>”: [“mean”, “min”, “max”, “std”]}) </a:t>
            </a:r>
          </a:p>
        </p:txBody>
      </p:sp>
    </p:spTree>
    <p:extLst>
      <p:ext uri="{BB962C8B-B14F-4D97-AF65-F5344CB8AC3E}">
        <p14:creationId xmlns:p14="http://schemas.microsoft.com/office/powerpoint/2010/main" val="35546903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nvGraphicFramePr>
        <p:xfrm>
          <a:off x="942392" y="578498"/>
          <a:ext cx="5994920" cy="2175885"/>
        </p:xfrm>
        <a:graphic>
          <a:graphicData uri="http://schemas.openxmlformats.org/drawingml/2006/table">
            <a:tbl>
              <a:tblPr firstRow="1" bandRow="1">
                <a:tableStyleId>{5C22544A-7EE6-4342-B048-85BDC9FD1C3A}</a:tableStyleId>
              </a:tblPr>
              <a:tblGrid>
                <a:gridCol w="1198984">
                  <a:extLst>
                    <a:ext uri="{9D8B030D-6E8A-4147-A177-3AD203B41FA5}">
                      <a16:colId xmlns:a16="http://schemas.microsoft.com/office/drawing/2014/main" val="20000"/>
                    </a:ext>
                  </a:extLst>
                </a:gridCol>
                <a:gridCol w="1198984">
                  <a:extLst>
                    <a:ext uri="{9D8B030D-6E8A-4147-A177-3AD203B41FA5}">
                      <a16:colId xmlns:a16="http://schemas.microsoft.com/office/drawing/2014/main" val="20001"/>
                    </a:ext>
                  </a:extLst>
                </a:gridCol>
                <a:gridCol w="1198984">
                  <a:extLst>
                    <a:ext uri="{9D8B030D-6E8A-4147-A177-3AD203B41FA5}">
                      <a16:colId xmlns:a16="http://schemas.microsoft.com/office/drawing/2014/main" val="3165788770"/>
                    </a:ext>
                  </a:extLst>
                </a:gridCol>
                <a:gridCol w="1198984">
                  <a:extLst>
                    <a:ext uri="{9D8B030D-6E8A-4147-A177-3AD203B41FA5}">
                      <a16:colId xmlns:a16="http://schemas.microsoft.com/office/drawing/2014/main" val="4032751965"/>
                    </a:ext>
                  </a:extLst>
                </a:gridCol>
                <a:gridCol w="1198984">
                  <a:extLst>
                    <a:ext uri="{9D8B030D-6E8A-4147-A177-3AD203B41FA5}">
                      <a16:colId xmlns:a16="http://schemas.microsoft.com/office/drawing/2014/main" val="1667408120"/>
                    </a:ext>
                  </a:extLst>
                </a:gridCol>
              </a:tblGrid>
              <a:tr h="643597">
                <a:tc>
                  <a:txBody>
                    <a:bodyPr/>
                    <a:lstStyle/>
                    <a:p>
                      <a:r>
                        <a:rPr lang="en-US" dirty="0"/>
                        <a:t>Person</a:t>
                      </a:r>
                    </a:p>
                  </a:txBody>
                  <a:tcPr/>
                </a:tc>
                <a:tc>
                  <a:txBody>
                    <a:bodyPr/>
                    <a:lstStyle/>
                    <a:p>
                      <a:r>
                        <a:rPr lang="en-US" dirty="0"/>
                        <a:t>Avg</a:t>
                      </a:r>
                    </a:p>
                  </a:txBody>
                  <a:tcPr/>
                </a:tc>
                <a:tc>
                  <a:txBody>
                    <a:bodyPr/>
                    <a:lstStyle/>
                    <a:p>
                      <a:r>
                        <a:rPr lang="en-US" dirty="0"/>
                        <a:t>Min</a:t>
                      </a:r>
                    </a:p>
                  </a:txBody>
                  <a:tcPr/>
                </a:tc>
                <a:tc>
                  <a:txBody>
                    <a:bodyPr/>
                    <a:lstStyle/>
                    <a:p>
                      <a:r>
                        <a:rPr lang="en-US" dirty="0"/>
                        <a:t>max</a:t>
                      </a:r>
                    </a:p>
                  </a:txBody>
                  <a:tcPr/>
                </a:tc>
                <a:tc>
                  <a:txBody>
                    <a:bodyPr/>
                    <a:lstStyle/>
                    <a:p>
                      <a:r>
                        <a:rPr lang="en-US" dirty="0" err="1"/>
                        <a:t>Stddev</a:t>
                      </a:r>
                      <a:endParaRPr lang="en-US" dirty="0"/>
                    </a:p>
                  </a:txBody>
                  <a:tcPr/>
                </a:tc>
                <a:extLst>
                  <a:ext uri="{0D108BD9-81ED-4DB2-BD59-A6C34878D82A}">
                    <a16:rowId xmlns:a16="http://schemas.microsoft.com/office/drawing/2014/main" val="10000"/>
                  </a:ext>
                </a:extLst>
              </a:tr>
              <a:tr h="766144">
                <a:tc>
                  <a:txBody>
                    <a:bodyPr/>
                    <a:lstStyle/>
                    <a:p>
                      <a:r>
                        <a:rPr lang="en-US" dirty="0"/>
                        <a:t>1</a:t>
                      </a:r>
                    </a:p>
                  </a:txBody>
                  <a:tcPr/>
                </a:tc>
                <a:tc>
                  <a:txBody>
                    <a:bodyPr/>
                    <a:lstStyle/>
                    <a:p>
                      <a:r>
                        <a:rPr lang="en-US" dirty="0"/>
                        <a:t>2</a:t>
                      </a:r>
                    </a:p>
                  </a:txBody>
                  <a:tcPr/>
                </a:tc>
                <a:tc>
                  <a:txBody>
                    <a:bodyPr/>
                    <a:lstStyle/>
                    <a:p>
                      <a:r>
                        <a:rPr lang="en-US" dirty="0"/>
                        <a:t>1</a:t>
                      </a:r>
                    </a:p>
                  </a:txBody>
                  <a:tcPr/>
                </a:tc>
                <a:tc>
                  <a:txBody>
                    <a:bodyPr/>
                    <a:lstStyle/>
                    <a:p>
                      <a:r>
                        <a:rPr lang="en-US" dirty="0"/>
                        <a:t>3</a:t>
                      </a:r>
                    </a:p>
                  </a:txBody>
                  <a:tcPr/>
                </a:tc>
                <a:tc>
                  <a:txBody>
                    <a:bodyPr/>
                    <a:lstStyle/>
                    <a:p>
                      <a:r>
                        <a:rPr lang="en-US" dirty="0"/>
                        <a:t>1</a:t>
                      </a:r>
                    </a:p>
                  </a:txBody>
                  <a:tcPr/>
                </a:tc>
                <a:extLst>
                  <a:ext uri="{0D108BD9-81ED-4DB2-BD59-A6C34878D82A}">
                    <a16:rowId xmlns:a16="http://schemas.microsoft.com/office/drawing/2014/main" val="10001"/>
                  </a:ext>
                </a:extLst>
              </a:tr>
              <a:tr h="766144">
                <a:tc>
                  <a:txBody>
                    <a:bodyPr/>
                    <a:lstStyle/>
                    <a:p>
                      <a:r>
                        <a:rPr lang="en-US" dirty="0"/>
                        <a:t>2</a:t>
                      </a:r>
                    </a:p>
                  </a:txBody>
                  <a:tcPr/>
                </a:tc>
                <a:tc>
                  <a:txBody>
                    <a:bodyPr/>
                    <a:lstStyle/>
                    <a:p>
                      <a:r>
                        <a:rPr lang="en-US" dirty="0"/>
                        <a:t>4.33</a:t>
                      </a:r>
                    </a:p>
                  </a:txBody>
                  <a:tcPr/>
                </a:tc>
                <a:tc>
                  <a:txBody>
                    <a:bodyPr/>
                    <a:lstStyle/>
                    <a:p>
                      <a:r>
                        <a:rPr lang="en-US" dirty="0"/>
                        <a:t>4</a:t>
                      </a:r>
                    </a:p>
                  </a:txBody>
                  <a:tcPr/>
                </a:tc>
                <a:tc>
                  <a:txBody>
                    <a:bodyPr/>
                    <a:lstStyle/>
                    <a:p>
                      <a:r>
                        <a:rPr lang="en-US" dirty="0"/>
                        <a:t>5</a:t>
                      </a:r>
                    </a:p>
                  </a:txBody>
                  <a:tcPr/>
                </a:tc>
                <a:tc>
                  <a:txBody>
                    <a:bodyPr/>
                    <a:lstStyle/>
                    <a:p>
                      <a:r>
                        <a:rPr lang="en-US" dirty="0"/>
                        <a:t>0.577</a:t>
                      </a:r>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7136507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109CA0-E4CE-45B5-99B5-0B607DF7601A}"/>
              </a:ext>
            </a:extLst>
          </p:cNvPr>
          <p:cNvSpPr>
            <a:spLocks noGrp="1"/>
          </p:cNvSpPr>
          <p:nvPr>
            <p:ph type="title"/>
          </p:nvPr>
        </p:nvSpPr>
        <p:spPr/>
        <p:txBody>
          <a:bodyPr/>
          <a:lstStyle/>
          <a:p>
            <a:r>
              <a:rPr lang="en-US" dirty="0" err="1"/>
              <a:t>groupby</a:t>
            </a:r>
            <a:r>
              <a:rPr lang="en-US" dirty="0"/>
              <a:t> aggregation functions</a:t>
            </a:r>
          </a:p>
        </p:txBody>
      </p:sp>
      <p:sp>
        <p:nvSpPr>
          <p:cNvPr id="3" name="Content Placeholder 2">
            <a:extLst>
              <a:ext uri="{FF2B5EF4-FFF2-40B4-BE49-F238E27FC236}">
                <a16:creationId xmlns:a16="http://schemas.microsoft.com/office/drawing/2014/main" id="{343CF4EF-9143-4D05-B5FA-8A0D22B2688D}"/>
              </a:ext>
            </a:extLst>
          </p:cNvPr>
          <p:cNvSpPr>
            <a:spLocks noGrp="1"/>
          </p:cNvSpPr>
          <p:nvPr>
            <p:ph idx="1"/>
          </p:nvPr>
        </p:nvSpPr>
        <p:spPr/>
        <p:txBody>
          <a:bodyPr>
            <a:normAutofit fontScale="55000" lnSpcReduction="20000"/>
          </a:bodyPr>
          <a:lstStyle/>
          <a:p>
            <a:pPr algn="l">
              <a:buFont typeface="+mj-lt"/>
              <a:buAutoNum type="arabicPeriod"/>
            </a:pPr>
            <a:r>
              <a:rPr lang="en-US" b="1" i="0" dirty="0">
                <a:solidFill>
                  <a:srgbClr val="222222"/>
                </a:solidFill>
                <a:effectLst/>
                <a:latin typeface="Palatino Linotype" panose="02040502050505030304" pitchFamily="18" charset="0"/>
              </a:rPr>
              <a:t>mean()</a:t>
            </a:r>
            <a:r>
              <a:rPr lang="en-US" b="0" i="0" dirty="0">
                <a:solidFill>
                  <a:srgbClr val="222222"/>
                </a:solidFill>
                <a:effectLst/>
                <a:latin typeface="Palatino Linotype" panose="02040502050505030304" pitchFamily="18" charset="0"/>
              </a:rPr>
              <a:t>: Compute mean of groups</a:t>
            </a:r>
          </a:p>
          <a:p>
            <a:pPr algn="l">
              <a:buFont typeface="+mj-lt"/>
              <a:buAutoNum type="arabicPeriod"/>
            </a:pPr>
            <a:r>
              <a:rPr lang="en-US" b="1" i="0" dirty="0">
                <a:solidFill>
                  <a:srgbClr val="222222"/>
                </a:solidFill>
                <a:effectLst/>
                <a:latin typeface="Palatino Linotype" panose="02040502050505030304" pitchFamily="18" charset="0"/>
              </a:rPr>
              <a:t>sum()</a:t>
            </a:r>
            <a:r>
              <a:rPr lang="en-US" b="0" i="0" dirty="0">
                <a:solidFill>
                  <a:srgbClr val="222222"/>
                </a:solidFill>
                <a:effectLst/>
                <a:latin typeface="Palatino Linotype" panose="02040502050505030304" pitchFamily="18" charset="0"/>
              </a:rPr>
              <a:t>: Compute sum of group values</a:t>
            </a:r>
          </a:p>
          <a:p>
            <a:pPr algn="l">
              <a:buFont typeface="+mj-lt"/>
              <a:buAutoNum type="arabicPeriod"/>
            </a:pPr>
            <a:r>
              <a:rPr lang="en-US" b="1" i="0" dirty="0">
                <a:solidFill>
                  <a:srgbClr val="222222"/>
                </a:solidFill>
                <a:effectLst/>
                <a:latin typeface="Palatino Linotype" panose="02040502050505030304" pitchFamily="18" charset="0"/>
              </a:rPr>
              <a:t>size()</a:t>
            </a:r>
            <a:r>
              <a:rPr lang="en-US" b="0" i="0" dirty="0">
                <a:solidFill>
                  <a:srgbClr val="222222"/>
                </a:solidFill>
                <a:effectLst/>
                <a:latin typeface="Palatino Linotype" panose="02040502050505030304" pitchFamily="18" charset="0"/>
              </a:rPr>
              <a:t>: Compute group sizes</a:t>
            </a:r>
          </a:p>
          <a:p>
            <a:pPr algn="l">
              <a:buFont typeface="+mj-lt"/>
              <a:buAutoNum type="arabicPeriod"/>
            </a:pPr>
            <a:r>
              <a:rPr lang="en-US" b="1" i="0" dirty="0">
                <a:solidFill>
                  <a:srgbClr val="222222"/>
                </a:solidFill>
                <a:effectLst/>
                <a:latin typeface="Palatino Linotype" panose="02040502050505030304" pitchFamily="18" charset="0"/>
              </a:rPr>
              <a:t>count()</a:t>
            </a:r>
            <a:r>
              <a:rPr lang="en-US" b="0" i="0" dirty="0">
                <a:solidFill>
                  <a:srgbClr val="222222"/>
                </a:solidFill>
                <a:effectLst/>
                <a:latin typeface="Palatino Linotype" panose="02040502050505030304" pitchFamily="18" charset="0"/>
              </a:rPr>
              <a:t>: Compute count of group</a:t>
            </a:r>
          </a:p>
          <a:p>
            <a:pPr algn="l">
              <a:buFont typeface="+mj-lt"/>
              <a:buAutoNum type="arabicPeriod"/>
            </a:pPr>
            <a:r>
              <a:rPr lang="en-US" b="1" i="0" dirty="0">
                <a:solidFill>
                  <a:srgbClr val="222222"/>
                </a:solidFill>
                <a:effectLst/>
                <a:latin typeface="Palatino Linotype" panose="02040502050505030304" pitchFamily="18" charset="0"/>
              </a:rPr>
              <a:t>std()</a:t>
            </a:r>
            <a:r>
              <a:rPr lang="en-US" b="0" i="0" dirty="0">
                <a:solidFill>
                  <a:srgbClr val="222222"/>
                </a:solidFill>
                <a:effectLst/>
                <a:latin typeface="Palatino Linotype" panose="02040502050505030304" pitchFamily="18" charset="0"/>
              </a:rPr>
              <a:t>: Standard deviation of groups</a:t>
            </a:r>
          </a:p>
          <a:p>
            <a:pPr algn="l">
              <a:buFont typeface="+mj-lt"/>
              <a:buAutoNum type="arabicPeriod"/>
            </a:pPr>
            <a:r>
              <a:rPr lang="en-US" b="1" i="0" dirty="0">
                <a:solidFill>
                  <a:srgbClr val="222222"/>
                </a:solidFill>
                <a:effectLst/>
                <a:latin typeface="Palatino Linotype" panose="02040502050505030304" pitchFamily="18" charset="0"/>
              </a:rPr>
              <a:t>var()</a:t>
            </a:r>
            <a:r>
              <a:rPr lang="en-US" b="0" i="0" dirty="0">
                <a:solidFill>
                  <a:srgbClr val="222222"/>
                </a:solidFill>
                <a:effectLst/>
                <a:latin typeface="Palatino Linotype" panose="02040502050505030304" pitchFamily="18" charset="0"/>
              </a:rPr>
              <a:t>: Compute variance of groups</a:t>
            </a:r>
          </a:p>
          <a:p>
            <a:pPr algn="l">
              <a:buFont typeface="+mj-lt"/>
              <a:buAutoNum type="arabicPeriod"/>
            </a:pPr>
            <a:r>
              <a:rPr lang="en-US" b="1" i="0" dirty="0" err="1">
                <a:solidFill>
                  <a:srgbClr val="222222"/>
                </a:solidFill>
                <a:effectLst/>
                <a:latin typeface="Palatino Linotype" panose="02040502050505030304" pitchFamily="18" charset="0"/>
              </a:rPr>
              <a:t>sem</a:t>
            </a:r>
            <a:r>
              <a:rPr lang="en-US" b="1" i="0" dirty="0">
                <a:solidFill>
                  <a:srgbClr val="222222"/>
                </a:solidFill>
                <a:effectLst/>
                <a:latin typeface="Palatino Linotype" panose="02040502050505030304" pitchFamily="18" charset="0"/>
              </a:rPr>
              <a:t>()</a:t>
            </a:r>
            <a:r>
              <a:rPr lang="en-US" b="0" i="0" dirty="0">
                <a:solidFill>
                  <a:srgbClr val="222222"/>
                </a:solidFill>
                <a:effectLst/>
                <a:latin typeface="Palatino Linotype" panose="02040502050505030304" pitchFamily="18" charset="0"/>
              </a:rPr>
              <a:t>: Standard error of the mean of groups</a:t>
            </a:r>
          </a:p>
          <a:p>
            <a:pPr algn="l">
              <a:buFont typeface="+mj-lt"/>
              <a:buAutoNum type="arabicPeriod"/>
            </a:pPr>
            <a:r>
              <a:rPr lang="en-US" b="1" i="0" dirty="0">
                <a:solidFill>
                  <a:srgbClr val="222222"/>
                </a:solidFill>
                <a:effectLst/>
                <a:latin typeface="Palatino Linotype" panose="02040502050505030304" pitchFamily="18" charset="0"/>
              </a:rPr>
              <a:t>describe()</a:t>
            </a:r>
            <a:r>
              <a:rPr lang="en-US" b="0" i="0" dirty="0">
                <a:solidFill>
                  <a:srgbClr val="222222"/>
                </a:solidFill>
                <a:effectLst/>
                <a:latin typeface="Palatino Linotype" panose="02040502050505030304" pitchFamily="18" charset="0"/>
              </a:rPr>
              <a:t>: Generates descriptive statistics</a:t>
            </a:r>
          </a:p>
          <a:p>
            <a:pPr algn="l">
              <a:buFont typeface="+mj-lt"/>
              <a:buAutoNum type="arabicPeriod"/>
            </a:pPr>
            <a:r>
              <a:rPr lang="en-US" b="1" i="0" dirty="0">
                <a:solidFill>
                  <a:srgbClr val="222222"/>
                </a:solidFill>
                <a:effectLst/>
                <a:latin typeface="Palatino Linotype" panose="02040502050505030304" pitchFamily="18" charset="0"/>
              </a:rPr>
              <a:t>first()</a:t>
            </a:r>
            <a:r>
              <a:rPr lang="en-US" b="0" i="0" dirty="0">
                <a:solidFill>
                  <a:srgbClr val="222222"/>
                </a:solidFill>
                <a:effectLst/>
                <a:latin typeface="Palatino Linotype" panose="02040502050505030304" pitchFamily="18" charset="0"/>
              </a:rPr>
              <a:t>: Compute first of group values</a:t>
            </a:r>
          </a:p>
          <a:p>
            <a:pPr algn="l">
              <a:buFont typeface="+mj-lt"/>
              <a:buAutoNum type="arabicPeriod"/>
            </a:pPr>
            <a:r>
              <a:rPr lang="en-US" b="1" i="0" dirty="0">
                <a:solidFill>
                  <a:srgbClr val="222222"/>
                </a:solidFill>
                <a:effectLst/>
                <a:latin typeface="Palatino Linotype" panose="02040502050505030304" pitchFamily="18" charset="0"/>
              </a:rPr>
              <a:t>last()</a:t>
            </a:r>
            <a:r>
              <a:rPr lang="en-US" b="0" i="0" dirty="0">
                <a:solidFill>
                  <a:srgbClr val="222222"/>
                </a:solidFill>
                <a:effectLst/>
                <a:latin typeface="Palatino Linotype" panose="02040502050505030304" pitchFamily="18" charset="0"/>
              </a:rPr>
              <a:t>: Compute last of group values</a:t>
            </a:r>
          </a:p>
          <a:p>
            <a:pPr algn="l">
              <a:buFont typeface="+mj-lt"/>
              <a:buAutoNum type="arabicPeriod"/>
            </a:pPr>
            <a:r>
              <a:rPr lang="en-US" b="1" i="0" dirty="0">
                <a:solidFill>
                  <a:srgbClr val="222222"/>
                </a:solidFill>
                <a:effectLst/>
                <a:latin typeface="Palatino Linotype" panose="02040502050505030304" pitchFamily="18" charset="0"/>
              </a:rPr>
              <a:t>nth() </a:t>
            </a:r>
            <a:r>
              <a:rPr lang="en-US" b="0" i="0" dirty="0">
                <a:solidFill>
                  <a:srgbClr val="222222"/>
                </a:solidFill>
                <a:effectLst/>
                <a:latin typeface="Palatino Linotype" panose="02040502050505030304" pitchFamily="18" charset="0"/>
              </a:rPr>
              <a:t>: Take nth value, or a subset if n is a list</a:t>
            </a:r>
          </a:p>
          <a:p>
            <a:pPr algn="l">
              <a:buFont typeface="+mj-lt"/>
              <a:buAutoNum type="arabicPeriod"/>
            </a:pPr>
            <a:r>
              <a:rPr lang="en-US" b="1" i="0" dirty="0">
                <a:solidFill>
                  <a:srgbClr val="222222"/>
                </a:solidFill>
                <a:effectLst/>
                <a:latin typeface="Palatino Linotype" panose="02040502050505030304" pitchFamily="18" charset="0"/>
              </a:rPr>
              <a:t>min()</a:t>
            </a:r>
            <a:r>
              <a:rPr lang="en-US" b="0" i="0" dirty="0">
                <a:solidFill>
                  <a:srgbClr val="222222"/>
                </a:solidFill>
                <a:effectLst/>
                <a:latin typeface="Palatino Linotype" panose="02040502050505030304" pitchFamily="18" charset="0"/>
              </a:rPr>
              <a:t>: Compute min of group values</a:t>
            </a:r>
          </a:p>
          <a:p>
            <a:pPr algn="l">
              <a:buFont typeface="+mj-lt"/>
              <a:buAutoNum type="arabicPeriod"/>
            </a:pPr>
            <a:r>
              <a:rPr lang="en-US" b="1" i="0" dirty="0">
                <a:solidFill>
                  <a:srgbClr val="222222"/>
                </a:solidFill>
                <a:effectLst/>
                <a:latin typeface="Palatino Linotype" panose="02040502050505030304" pitchFamily="18" charset="0"/>
              </a:rPr>
              <a:t>max()</a:t>
            </a:r>
            <a:r>
              <a:rPr lang="en-US" b="0" i="0" dirty="0">
                <a:solidFill>
                  <a:srgbClr val="222222"/>
                </a:solidFill>
                <a:effectLst/>
                <a:latin typeface="Palatino Linotype" panose="02040502050505030304" pitchFamily="18" charset="0"/>
              </a:rPr>
              <a:t>: Compute max of group values</a:t>
            </a:r>
          </a:p>
          <a:p>
            <a:endParaRPr lang="en-US" dirty="0"/>
          </a:p>
        </p:txBody>
      </p:sp>
    </p:spTree>
    <p:extLst>
      <p:ext uri="{BB962C8B-B14F-4D97-AF65-F5344CB8AC3E}">
        <p14:creationId xmlns:p14="http://schemas.microsoft.com/office/powerpoint/2010/main" val="8998977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C9316-AB3E-4596-A2B9-05275F83BF59}"/>
              </a:ext>
            </a:extLst>
          </p:cNvPr>
          <p:cNvSpPr>
            <a:spLocks noGrp="1"/>
          </p:cNvSpPr>
          <p:nvPr>
            <p:ph type="title"/>
          </p:nvPr>
        </p:nvSpPr>
        <p:spPr/>
        <p:txBody>
          <a:bodyPr/>
          <a:lstStyle/>
          <a:p>
            <a:r>
              <a:rPr lang="en-US" dirty="0" err="1"/>
              <a:t>groupby</a:t>
            </a:r>
            <a:r>
              <a:rPr lang="en-US" dirty="0"/>
              <a:t> </a:t>
            </a:r>
            <a:r>
              <a:rPr lang="en-US" dirty="0" err="1"/>
              <a:t>aggregration</a:t>
            </a:r>
            <a:r>
              <a:rPr lang="en-US" dirty="0"/>
              <a:t> functions</a:t>
            </a:r>
          </a:p>
        </p:txBody>
      </p:sp>
      <p:sp>
        <p:nvSpPr>
          <p:cNvPr id="3" name="Content Placeholder 2">
            <a:extLst>
              <a:ext uri="{FF2B5EF4-FFF2-40B4-BE49-F238E27FC236}">
                <a16:creationId xmlns:a16="http://schemas.microsoft.com/office/drawing/2014/main" id="{0A7E3264-E841-496C-92CC-6D62292FAB82}"/>
              </a:ext>
            </a:extLst>
          </p:cNvPr>
          <p:cNvSpPr>
            <a:spLocks noGrp="1"/>
          </p:cNvSpPr>
          <p:nvPr>
            <p:ph idx="1"/>
          </p:nvPr>
        </p:nvSpPr>
        <p:spPr/>
        <p:txBody>
          <a:bodyPr/>
          <a:lstStyle/>
          <a:p>
            <a:r>
              <a:rPr lang="en-US" dirty="0"/>
              <a:t>The ones on previous slide can be included in quotes in </a:t>
            </a:r>
            <a:r>
              <a:rPr lang="en-US" dirty="0" err="1"/>
              <a:t>agg</a:t>
            </a:r>
            <a:r>
              <a:rPr lang="en-US" dirty="0"/>
              <a:t> (as in the bananas example).  </a:t>
            </a:r>
          </a:p>
          <a:p>
            <a:r>
              <a:rPr lang="en-US" dirty="0"/>
              <a:t>They can also be called directly  (for example, </a:t>
            </a:r>
            <a:r>
              <a:rPr lang="en-US" dirty="0" err="1"/>
              <a:t>banana_groupby.mean</a:t>
            </a:r>
            <a:r>
              <a:rPr lang="en-US" dirty="0"/>
              <a:t>()</a:t>
            </a:r>
          </a:p>
          <a:p>
            <a:r>
              <a:rPr lang="en-US" dirty="0"/>
              <a:t>With the </a:t>
            </a:r>
            <a:r>
              <a:rPr lang="en-US" dirty="0" err="1"/>
              <a:t>agg</a:t>
            </a:r>
            <a:r>
              <a:rPr lang="en-US" dirty="0"/>
              <a:t> function, in addition to the functions noted on the previous slide, you can supply any built-in function or any user-defined function by name.  See datawrangling.py for more examples.  </a:t>
            </a:r>
          </a:p>
          <a:p>
            <a:r>
              <a:rPr lang="en-US" dirty="0"/>
              <a:t>See also:  transform (instead of collapsing to one observation per group, data frame stays same size but allows calculations involving group-aggregated values, for example, calculate deviation from group mean)</a:t>
            </a:r>
          </a:p>
          <a:p>
            <a:r>
              <a:rPr lang="en-US" dirty="0"/>
              <a:t>See also:  apply (offers more flexibility than </a:t>
            </a:r>
            <a:r>
              <a:rPr lang="en-US" dirty="0" err="1"/>
              <a:t>agg</a:t>
            </a:r>
            <a:r>
              <a:rPr lang="en-US" dirty="0"/>
              <a:t> and transform)</a:t>
            </a:r>
          </a:p>
        </p:txBody>
      </p:sp>
    </p:spTree>
    <p:extLst>
      <p:ext uri="{BB962C8B-B14F-4D97-AF65-F5344CB8AC3E}">
        <p14:creationId xmlns:p14="http://schemas.microsoft.com/office/powerpoint/2010/main" val="35127360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689AA4-4972-4911-94B0-9097A7B2D8B0}"/>
              </a:ext>
            </a:extLst>
          </p:cNvPr>
          <p:cNvSpPr>
            <a:spLocks noGrp="1"/>
          </p:cNvSpPr>
          <p:nvPr>
            <p:ph type="title"/>
          </p:nvPr>
        </p:nvSpPr>
        <p:spPr/>
        <p:txBody>
          <a:bodyPr/>
          <a:lstStyle/>
          <a:p>
            <a:r>
              <a:rPr lang="en-US" dirty="0"/>
              <a:t>Example python code</a:t>
            </a:r>
          </a:p>
        </p:txBody>
      </p:sp>
      <p:sp>
        <p:nvSpPr>
          <p:cNvPr id="3" name="Content Placeholder 2">
            <a:extLst>
              <a:ext uri="{FF2B5EF4-FFF2-40B4-BE49-F238E27FC236}">
                <a16:creationId xmlns:a16="http://schemas.microsoft.com/office/drawing/2014/main" id="{CB6C358C-66E3-43C3-B005-FA1DD86348F7}"/>
              </a:ext>
            </a:extLst>
          </p:cNvPr>
          <p:cNvSpPr>
            <a:spLocks noGrp="1"/>
          </p:cNvSpPr>
          <p:nvPr>
            <p:ph idx="1"/>
          </p:nvPr>
        </p:nvSpPr>
        <p:spPr/>
        <p:txBody>
          <a:bodyPr/>
          <a:lstStyle/>
          <a:p>
            <a:r>
              <a:rPr lang="en-US" dirty="0"/>
              <a:t>More examples in datawrangling.py</a:t>
            </a:r>
          </a:p>
        </p:txBody>
      </p:sp>
    </p:spTree>
    <p:extLst>
      <p:ext uri="{BB962C8B-B14F-4D97-AF65-F5344CB8AC3E}">
        <p14:creationId xmlns:p14="http://schemas.microsoft.com/office/powerpoint/2010/main" val="36655157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merge</a:t>
            </a:r>
          </a:p>
        </p:txBody>
      </p:sp>
      <p:sp>
        <p:nvSpPr>
          <p:cNvPr id="3" name="Content Placeholder 2"/>
          <p:cNvSpPr>
            <a:spLocks noGrp="1"/>
          </p:cNvSpPr>
          <p:nvPr>
            <p:ph idx="1"/>
          </p:nvPr>
        </p:nvSpPr>
        <p:spPr/>
        <p:txBody>
          <a:bodyPr/>
          <a:lstStyle/>
          <a:p>
            <a:r>
              <a:rPr lang="en-US" dirty="0"/>
              <a:t>Often you have data from two different sources.</a:t>
            </a:r>
          </a:p>
          <a:p>
            <a:r>
              <a:rPr lang="en-US" dirty="0"/>
              <a:t>For example, suppose you were looking for a link between property crime and drug use.  </a:t>
            </a:r>
          </a:p>
          <a:p>
            <a:pPr lvl="1"/>
            <a:r>
              <a:rPr lang="en-US" dirty="0"/>
              <a:t>The FBI uniform crime reports give you data on crime rate by state and year.</a:t>
            </a:r>
          </a:p>
          <a:p>
            <a:pPr lvl="1"/>
            <a:r>
              <a:rPr lang="en-US" dirty="0"/>
              <a:t>The National Survey on Drug Use and Health gives you data on drug use by state and year.</a:t>
            </a:r>
          </a:p>
          <a:p>
            <a:pPr lvl="1"/>
            <a:r>
              <a:rPr lang="en-US" dirty="0"/>
              <a:t>You need to combine these into a single data set that has 4 columns:  the state, the year, the crime rate, and drug use.</a:t>
            </a:r>
          </a:p>
          <a:p>
            <a:pPr lvl="1"/>
            <a:r>
              <a:rPr lang="en-US" dirty="0"/>
              <a:t>The variables used to link the data sets are the state and year.</a:t>
            </a:r>
          </a:p>
        </p:txBody>
      </p:sp>
    </p:spTree>
    <p:extLst>
      <p:ext uri="{BB962C8B-B14F-4D97-AF65-F5344CB8AC3E}">
        <p14:creationId xmlns:p14="http://schemas.microsoft.com/office/powerpoint/2010/main" val="1920450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3386324324"/>
              </p:ext>
            </p:extLst>
          </p:nvPr>
        </p:nvGraphicFramePr>
        <p:xfrm>
          <a:off x="295564" y="2171699"/>
          <a:ext cx="2701086" cy="3631685"/>
        </p:xfrm>
        <a:graphic>
          <a:graphicData uri="http://schemas.openxmlformats.org/drawingml/2006/table">
            <a:tbl>
              <a:tblPr firstRow="1" bandRow="1">
                <a:tableStyleId>{5C22544A-7EE6-4342-B048-85BDC9FD1C3A}</a:tableStyleId>
              </a:tblPr>
              <a:tblGrid>
                <a:gridCol w="891796">
                  <a:extLst>
                    <a:ext uri="{9D8B030D-6E8A-4147-A177-3AD203B41FA5}">
                      <a16:colId xmlns:a16="http://schemas.microsoft.com/office/drawing/2014/main" val="20000"/>
                    </a:ext>
                  </a:extLst>
                </a:gridCol>
                <a:gridCol w="904645">
                  <a:extLst>
                    <a:ext uri="{9D8B030D-6E8A-4147-A177-3AD203B41FA5}">
                      <a16:colId xmlns:a16="http://schemas.microsoft.com/office/drawing/2014/main" val="20001"/>
                    </a:ext>
                  </a:extLst>
                </a:gridCol>
                <a:gridCol w="904645">
                  <a:extLst>
                    <a:ext uri="{9D8B030D-6E8A-4147-A177-3AD203B41FA5}">
                      <a16:colId xmlns:a16="http://schemas.microsoft.com/office/drawing/2014/main" val="20002"/>
                    </a:ext>
                  </a:extLst>
                </a:gridCol>
              </a:tblGrid>
              <a:tr h="726337">
                <a:tc>
                  <a:txBody>
                    <a:bodyPr/>
                    <a:lstStyle/>
                    <a:p>
                      <a:r>
                        <a:rPr lang="en-US" dirty="0"/>
                        <a:t>State</a:t>
                      </a:r>
                    </a:p>
                  </a:txBody>
                  <a:tcPr/>
                </a:tc>
                <a:tc>
                  <a:txBody>
                    <a:bodyPr/>
                    <a:lstStyle/>
                    <a:p>
                      <a:r>
                        <a:rPr lang="en-US" dirty="0"/>
                        <a:t>Year</a:t>
                      </a:r>
                    </a:p>
                  </a:txBody>
                  <a:tcPr/>
                </a:tc>
                <a:tc>
                  <a:txBody>
                    <a:bodyPr/>
                    <a:lstStyle/>
                    <a:p>
                      <a:r>
                        <a:rPr lang="en-US" dirty="0" err="1"/>
                        <a:t>CrimeRate</a:t>
                      </a:r>
                      <a:endParaRPr lang="en-US" dirty="0"/>
                    </a:p>
                  </a:txBody>
                  <a:tcPr/>
                </a:tc>
                <a:extLst>
                  <a:ext uri="{0D108BD9-81ED-4DB2-BD59-A6C34878D82A}">
                    <a16:rowId xmlns:a16="http://schemas.microsoft.com/office/drawing/2014/main" val="10000"/>
                  </a:ext>
                </a:extLst>
              </a:tr>
              <a:tr h="726337">
                <a:tc>
                  <a:txBody>
                    <a:bodyPr/>
                    <a:lstStyle/>
                    <a:p>
                      <a:r>
                        <a:rPr lang="en-US" dirty="0"/>
                        <a:t>CA</a:t>
                      </a:r>
                    </a:p>
                  </a:txBody>
                  <a:tcPr/>
                </a:tc>
                <a:tc>
                  <a:txBody>
                    <a:bodyPr/>
                    <a:lstStyle/>
                    <a:p>
                      <a:r>
                        <a:rPr lang="en-US" dirty="0"/>
                        <a:t>2000</a:t>
                      </a:r>
                    </a:p>
                  </a:txBody>
                  <a:tcPr/>
                </a:tc>
                <a:tc>
                  <a:txBody>
                    <a:bodyPr/>
                    <a:lstStyle/>
                    <a:p>
                      <a:r>
                        <a:rPr lang="en-US" dirty="0"/>
                        <a:t>0.15</a:t>
                      </a:r>
                    </a:p>
                  </a:txBody>
                  <a:tcPr/>
                </a:tc>
                <a:extLst>
                  <a:ext uri="{0D108BD9-81ED-4DB2-BD59-A6C34878D82A}">
                    <a16:rowId xmlns:a16="http://schemas.microsoft.com/office/drawing/2014/main" val="10001"/>
                  </a:ext>
                </a:extLst>
              </a:tr>
              <a:tr h="726337">
                <a:tc>
                  <a:txBody>
                    <a:bodyPr/>
                    <a:lstStyle/>
                    <a:p>
                      <a:r>
                        <a:rPr lang="en-US" dirty="0"/>
                        <a:t>CA</a:t>
                      </a:r>
                    </a:p>
                  </a:txBody>
                  <a:tcPr/>
                </a:tc>
                <a:tc>
                  <a:txBody>
                    <a:bodyPr/>
                    <a:lstStyle/>
                    <a:p>
                      <a:r>
                        <a:rPr lang="en-US" dirty="0"/>
                        <a:t>2001</a:t>
                      </a:r>
                    </a:p>
                  </a:txBody>
                  <a:tcPr/>
                </a:tc>
                <a:tc>
                  <a:txBody>
                    <a:bodyPr/>
                    <a:lstStyle/>
                    <a:p>
                      <a:r>
                        <a:rPr lang="en-US" dirty="0"/>
                        <a:t>0.18</a:t>
                      </a:r>
                    </a:p>
                  </a:txBody>
                  <a:tcPr/>
                </a:tc>
                <a:extLst>
                  <a:ext uri="{0D108BD9-81ED-4DB2-BD59-A6C34878D82A}">
                    <a16:rowId xmlns:a16="http://schemas.microsoft.com/office/drawing/2014/main" val="10002"/>
                  </a:ext>
                </a:extLst>
              </a:tr>
              <a:tr h="726337">
                <a:tc>
                  <a:txBody>
                    <a:bodyPr/>
                    <a:lstStyle/>
                    <a:p>
                      <a:r>
                        <a:rPr lang="en-US" dirty="0"/>
                        <a:t>OR</a:t>
                      </a:r>
                    </a:p>
                  </a:txBody>
                  <a:tcPr/>
                </a:tc>
                <a:tc>
                  <a:txBody>
                    <a:bodyPr/>
                    <a:lstStyle/>
                    <a:p>
                      <a:r>
                        <a:rPr lang="en-US" dirty="0"/>
                        <a:t>2000</a:t>
                      </a:r>
                    </a:p>
                  </a:txBody>
                  <a:tcPr/>
                </a:tc>
                <a:tc>
                  <a:txBody>
                    <a:bodyPr/>
                    <a:lstStyle/>
                    <a:p>
                      <a:r>
                        <a:rPr lang="en-US" dirty="0"/>
                        <a:t>0.09</a:t>
                      </a:r>
                    </a:p>
                  </a:txBody>
                  <a:tcPr/>
                </a:tc>
                <a:extLst>
                  <a:ext uri="{0D108BD9-81ED-4DB2-BD59-A6C34878D82A}">
                    <a16:rowId xmlns:a16="http://schemas.microsoft.com/office/drawing/2014/main" val="10003"/>
                  </a:ext>
                </a:extLst>
              </a:tr>
              <a:tr h="726337">
                <a:tc>
                  <a:txBody>
                    <a:bodyPr/>
                    <a:lstStyle/>
                    <a:p>
                      <a:r>
                        <a:rPr lang="en-US" dirty="0"/>
                        <a:t>OR</a:t>
                      </a:r>
                    </a:p>
                  </a:txBody>
                  <a:tcPr/>
                </a:tc>
                <a:tc>
                  <a:txBody>
                    <a:bodyPr/>
                    <a:lstStyle/>
                    <a:p>
                      <a:r>
                        <a:rPr lang="en-US" dirty="0"/>
                        <a:t>2001</a:t>
                      </a:r>
                    </a:p>
                  </a:txBody>
                  <a:tcPr/>
                </a:tc>
                <a:tc>
                  <a:txBody>
                    <a:bodyPr/>
                    <a:lstStyle/>
                    <a:p>
                      <a:r>
                        <a:rPr lang="en-US" dirty="0"/>
                        <a:t>0.10</a:t>
                      </a:r>
                    </a:p>
                  </a:txBody>
                  <a:tcPr/>
                </a:tc>
                <a:extLst>
                  <a:ext uri="{0D108BD9-81ED-4DB2-BD59-A6C34878D82A}">
                    <a16:rowId xmlns:a16="http://schemas.microsoft.com/office/drawing/2014/main" val="10004"/>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2318218638"/>
              </p:ext>
            </p:extLst>
          </p:nvPr>
        </p:nvGraphicFramePr>
        <p:xfrm>
          <a:off x="3421823" y="137490"/>
          <a:ext cx="2713935" cy="3631685"/>
        </p:xfrm>
        <a:graphic>
          <a:graphicData uri="http://schemas.openxmlformats.org/drawingml/2006/table">
            <a:tbl>
              <a:tblPr firstRow="1" bandRow="1">
                <a:tableStyleId>{5C22544A-7EE6-4342-B048-85BDC9FD1C3A}</a:tableStyleId>
              </a:tblPr>
              <a:tblGrid>
                <a:gridCol w="904645">
                  <a:extLst>
                    <a:ext uri="{9D8B030D-6E8A-4147-A177-3AD203B41FA5}">
                      <a16:colId xmlns:a16="http://schemas.microsoft.com/office/drawing/2014/main" val="20000"/>
                    </a:ext>
                  </a:extLst>
                </a:gridCol>
                <a:gridCol w="904645">
                  <a:extLst>
                    <a:ext uri="{9D8B030D-6E8A-4147-A177-3AD203B41FA5}">
                      <a16:colId xmlns:a16="http://schemas.microsoft.com/office/drawing/2014/main" val="20001"/>
                    </a:ext>
                  </a:extLst>
                </a:gridCol>
                <a:gridCol w="904645">
                  <a:extLst>
                    <a:ext uri="{9D8B030D-6E8A-4147-A177-3AD203B41FA5}">
                      <a16:colId xmlns:a16="http://schemas.microsoft.com/office/drawing/2014/main" val="20002"/>
                    </a:ext>
                  </a:extLst>
                </a:gridCol>
              </a:tblGrid>
              <a:tr h="726337">
                <a:tc>
                  <a:txBody>
                    <a:bodyPr/>
                    <a:lstStyle/>
                    <a:p>
                      <a:r>
                        <a:rPr lang="en-US" dirty="0"/>
                        <a:t>State</a:t>
                      </a:r>
                    </a:p>
                  </a:txBody>
                  <a:tcPr/>
                </a:tc>
                <a:tc>
                  <a:txBody>
                    <a:bodyPr/>
                    <a:lstStyle/>
                    <a:p>
                      <a:r>
                        <a:rPr lang="en-US" dirty="0"/>
                        <a:t>Year</a:t>
                      </a:r>
                    </a:p>
                  </a:txBody>
                  <a:tcPr/>
                </a:tc>
                <a:tc>
                  <a:txBody>
                    <a:bodyPr/>
                    <a:lstStyle/>
                    <a:p>
                      <a:r>
                        <a:rPr lang="en-US" dirty="0"/>
                        <a:t>Drug Use</a:t>
                      </a:r>
                    </a:p>
                  </a:txBody>
                  <a:tcPr/>
                </a:tc>
                <a:extLst>
                  <a:ext uri="{0D108BD9-81ED-4DB2-BD59-A6C34878D82A}">
                    <a16:rowId xmlns:a16="http://schemas.microsoft.com/office/drawing/2014/main" val="10000"/>
                  </a:ext>
                </a:extLst>
              </a:tr>
              <a:tr h="726337">
                <a:tc>
                  <a:txBody>
                    <a:bodyPr/>
                    <a:lstStyle/>
                    <a:p>
                      <a:r>
                        <a:rPr lang="en-US" dirty="0"/>
                        <a:t>CA</a:t>
                      </a:r>
                    </a:p>
                  </a:txBody>
                  <a:tcPr/>
                </a:tc>
                <a:tc>
                  <a:txBody>
                    <a:bodyPr/>
                    <a:lstStyle/>
                    <a:p>
                      <a:r>
                        <a:rPr lang="en-US" dirty="0"/>
                        <a:t>2000</a:t>
                      </a:r>
                    </a:p>
                  </a:txBody>
                  <a:tcPr/>
                </a:tc>
                <a:tc>
                  <a:txBody>
                    <a:bodyPr/>
                    <a:lstStyle/>
                    <a:p>
                      <a:r>
                        <a:rPr lang="en-US" dirty="0"/>
                        <a:t>12</a:t>
                      </a:r>
                    </a:p>
                  </a:txBody>
                  <a:tcPr/>
                </a:tc>
                <a:extLst>
                  <a:ext uri="{0D108BD9-81ED-4DB2-BD59-A6C34878D82A}">
                    <a16:rowId xmlns:a16="http://schemas.microsoft.com/office/drawing/2014/main" val="10001"/>
                  </a:ext>
                </a:extLst>
              </a:tr>
              <a:tr h="726337">
                <a:tc>
                  <a:txBody>
                    <a:bodyPr/>
                    <a:lstStyle/>
                    <a:p>
                      <a:r>
                        <a:rPr lang="en-US" dirty="0"/>
                        <a:t>CA</a:t>
                      </a:r>
                    </a:p>
                  </a:txBody>
                  <a:tcPr/>
                </a:tc>
                <a:tc>
                  <a:txBody>
                    <a:bodyPr/>
                    <a:lstStyle/>
                    <a:p>
                      <a:r>
                        <a:rPr lang="en-US" dirty="0"/>
                        <a:t>2001</a:t>
                      </a:r>
                    </a:p>
                  </a:txBody>
                  <a:tcPr/>
                </a:tc>
                <a:tc>
                  <a:txBody>
                    <a:bodyPr/>
                    <a:lstStyle/>
                    <a:p>
                      <a:r>
                        <a:rPr lang="en-US" dirty="0"/>
                        <a:t>11</a:t>
                      </a:r>
                    </a:p>
                  </a:txBody>
                  <a:tcPr/>
                </a:tc>
                <a:extLst>
                  <a:ext uri="{0D108BD9-81ED-4DB2-BD59-A6C34878D82A}">
                    <a16:rowId xmlns:a16="http://schemas.microsoft.com/office/drawing/2014/main" val="10002"/>
                  </a:ext>
                </a:extLst>
              </a:tr>
              <a:tr h="726337">
                <a:tc>
                  <a:txBody>
                    <a:bodyPr/>
                    <a:lstStyle/>
                    <a:p>
                      <a:r>
                        <a:rPr lang="en-US" dirty="0"/>
                        <a:t>OR</a:t>
                      </a:r>
                    </a:p>
                  </a:txBody>
                  <a:tcPr/>
                </a:tc>
                <a:tc>
                  <a:txBody>
                    <a:bodyPr/>
                    <a:lstStyle/>
                    <a:p>
                      <a:r>
                        <a:rPr lang="en-US" dirty="0"/>
                        <a:t>2000</a:t>
                      </a:r>
                    </a:p>
                  </a:txBody>
                  <a:tcPr/>
                </a:tc>
                <a:tc>
                  <a:txBody>
                    <a:bodyPr/>
                    <a:lstStyle/>
                    <a:p>
                      <a:r>
                        <a:rPr lang="en-US" dirty="0"/>
                        <a:t>14</a:t>
                      </a:r>
                    </a:p>
                  </a:txBody>
                  <a:tcPr/>
                </a:tc>
                <a:extLst>
                  <a:ext uri="{0D108BD9-81ED-4DB2-BD59-A6C34878D82A}">
                    <a16:rowId xmlns:a16="http://schemas.microsoft.com/office/drawing/2014/main" val="10003"/>
                  </a:ext>
                </a:extLst>
              </a:tr>
              <a:tr h="726337">
                <a:tc>
                  <a:txBody>
                    <a:bodyPr/>
                    <a:lstStyle/>
                    <a:p>
                      <a:r>
                        <a:rPr lang="en-US" dirty="0"/>
                        <a:t>OR</a:t>
                      </a:r>
                    </a:p>
                  </a:txBody>
                  <a:tcPr/>
                </a:tc>
                <a:tc>
                  <a:txBody>
                    <a:bodyPr/>
                    <a:lstStyle/>
                    <a:p>
                      <a:r>
                        <a:rPr lang="en-US" dirty="0"/>
                        <a:t>2001</a:t>
                      </a:r>
                    </a:p>
                  </a:txBody>
                  <a:tcPr/>
                </a:tc>
                <a:tc>
                  <a:txBody>
                    <a:bodyPr/>
                    <a:lstStyle/>
                    <a:p>
                      <a:r>
                        <a:rPr lang="en-US" dirty="0"/>
                        <a:t>16</a:t>
                      </a:r>
                    </a:p>
                  </a:txBody>
                  <a:tcPr/>
                </a:tc>
                <a:extLst>
                  <a:ext uri="{0D108BD9-81ED-4DB2-BD59-A6C34878D82A}">
                    <a16:rowId xmlns:a16="http://schemas.microsoft.com/office/drawing/2014/main" val="10004"/>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469150968"/>
              </p:ext>
            </p:extLst>
          </p:nvPr>
        </p:nvGraphicFramePr>
        <p:xfrm>
          <a:off x="6864075" y="2375347"/>
          <a:ext cx="4352236" cy="3545428"/>
        </p:xfrm>
        <a:graphic>
          <a:graphicData uri="http://schemas.openxmlformats.org/drawingml/2006/table">
            <a:tbl>
              <a:tblPr firstRow="1" bandRow="1">
                <a:tableStyleId>{5C22544A-7EE6-4342-B048-85BDC9FD1C3A}</a:tableStyleId>
              </a:tblPr>
              <a:tblGrid>
                <a:gridCol w="1088059">
                  <a:extLst>
                    <a:ext uri="{9D8B030D-6E8A-4147-A177-3AD203B41FA5}">
                      <a16:colId xmlns:a16="http://schemas.microsoft.com/office/drawing/2014/main" val="20000"/>
                    </a:ext>
                  </a:extLst>
                </a:gridCol>
                <a:gridCol w="1088059">
                  <a:extLst>
                    <a:ext uri="{9D8B030D-6E8A-4147-A177-3AD203B41FA5}">
                      <a16:colId xmlns:a16="http://schemas.microsoft.com/office/drawing/2014/main" val="20001"/>
                    </a:ext>
                  </a:extLst>
                </a:gridCol>
                <a:gridCol w="1088059">
                  <a:extLst>
                    <a:ext uri="{9D8B030D-6E8A-4147-A177-3AD203B41FA5}">
                      <a16:colId xmlns:a16="http://schemas.microsoft.com/office/drawing/2014/main" val="20002"/>
                    </a:ext>
                  </a:extLst>
                </a:gridCol>
                <a:gridCol w="1088059">
                  <a:extLst>
                    <a:ext uri="{9D8B030D-6E8A-4147-A177-3AD203B41FA5}">
                      <a16:colId xmlns:a16="http://schemas.microsoft.com/office/drawing/2014/main" val="20003"/>
                    </a:ext>
                  </a:extLst>
                </a:gridCol>
              </a:tblGrid>
              <a:tr h="0">
                <a:tc>
                  <a:txBody>
                    <a:bodyPr/>
                    <a:lstStyle/>
                    <a:p>
                      <a:r>
                        <a:rPr lang="en-US" dirty="0"/>
                        <a:t>State</a:t>
                      </a:r>
                    </a:p>
                  </a:txBody>
                  <a:tcPr/>
                </a:tc>
                <a:tc>
                  <a:txBody>
                    <a:bodyPr/>
                    <a:lstStyle/>
                    <a:p>
                      <a:r>
                        <a:rPr lang="en-US" dirty="0"/>
                        <a:t>Year</a:t>
                      </a:r>
                    </a:p>
                  </a:txBody>
                  <a:tcPr/>
                </a:tc>
                <a:tc>
                  <a:txBody>
                    <a:bodyPr/>
                    <a:lstStyle/>
                    <a:p>
                      <a:r>
                        <a:rPr lang="en-US" dirty="0" err="1"/>
                        <a:t>CrimeRate</a:t>
                      </a:r>
                      <a:endParaRPr lang="en-US" dirty="0"/>
                    </a:p>
                  </a:txBody>
                  <a:tcPr/>
                </a:tc>
                <a:tc>
                  <a:txBody>
                    <a:bodyPr/>
                    <a:lstStyle/>
                    <a:p>
                      <a:r>
                        <a:rPr lang="en-US" dirty="0"/>
                        <a:t>Drug Use</a:t>
                      </a:r>
                    </a:p>
                  </a:txBody>
                  <a:tcPr/>
                </a:tc>
                <a:extLst>
                  <a:ext uri="{0D108BD9-81ED-4DB2-BD59-A6C34878D82A}">
                    <a16:rowId xmlns:a16="http://schemas.microsoft.com/office/drawing/2014/main" val="10000"/>
                  </a:ext>
                </a:extLst>
              </a:tr>
              <a:tr h="726337">
                <a:tc>
                  <a:txBody>
                    <a:bodyPr/>
                    <a:lstStyle/>
                    <a:p>
                      <a:r>
                        <a:rPr lang="en-US" dirty="0"/>
                        <a:t>CA</a:t>
                      </a:r>
                    </a:p>
                  </a:txBody>
                  <a:tcPr/>
                </a:tc>
                <a:tc>
                  <a:txBody>
                    <a:bodyPr/>
                    <a:lstStyle/>
                    <a:p>
                      <a:r>
                        <a:rPr lang="en-US" dirty="0"/>
                        <a:t>2000</a:t>
                      </a:r>
                    </a:p>
                  </a:txBody>
                  <a:tcPr/>
                </a:tc>
                <a:tc>
                  <a:txBody>
                    <a:bodyPr/>
                    <a:lstStyle/>
                    <a:p>
                      <a:r>
                        <a:rPr lang="en-US" dirty="0"/>
                        <a:t>0.15</a:t>
                      </a:r>
                    </a:p>
                  </a:txBody>
                  <a:tcPr/>
                </a:tc>
                <a:tc>
                  <a:txBody>
                    <a:bodyPr/>
                    <a:lstStyle/>
                    <a:p>
                      <a:r>
                        <a:rPr lang="en-US" dirty="0"/>
                        <a:t>12</a:t>
                      </a:r>
                    </a:p>
                  </a:txBody>
                  <a:tcPr/>
                </a:tc>
                <a:extLst>
                  <a:ext uri="{0D108BD9-81ED-4DB2-BD59-A6C34878D82A}">
                    <a16:rowId xmlns:a16="http://schemas.microsoft.com/office/drawing/2014/main" val="10001"/>
                  </a:ext>
                </a:extLst>
              </a:tr>
              <a:tr h="726337">
                <a:tc>
                  <a:txBody>
                    <a:bodyPr/>
                    <a:lstStyle/>
                    <a:p>
                      <a:r>
                        <a:rPr lang="en-US" dirty="0"/>
                        <a:t>CA</a:t>
                      </a:r>
                    </a:p>
                  </a:txBody>
                  <a:tcPr/>
                </a:tc>
                <a:tc>
                  <a:txBody>
                    <a:bodyPr/>
                    <a:lstStyle/>
                    <a:p>
                      <a:r>
                        <a:rPr lang="en-US" dirty="0"/>
                        <a:t>2001</a:t>
                      </a:r>
                    </a:p>
                  </a:txBody>
                  <a:tcPr/>
                </a:tc>
                <a:tc>
                  <a:txBody>
                    <a:bodyPr/>
                    <a:lstStyle/>
                    <a:p>
                      <a:r>
                        <a:rPr lang="en-US" dirty="0"/>
                        <a:t>0.18</a:t>
                      </a:r>
                    </a:p>
                  </a:txBody>
                  <a:tcPr/>
                </a:tc>
                <a:tc>
                  <a:txBody>
                    <a:bodyPr/>
                    <a:lstStyle/>
                    <a:p>
                      <a:r>
                        <a:rPr lang="en-US" dirty="0"/>
                        <a:t>11</a:t>
                      </a:r>
                    </a:p>
                  </a:txBody>
                  <a:tcPr/>
                </a:tc>
                <a:extLst>
                  <a:ext uri="{0D108BD9-81ED-4DB2-BD59-A6C34878D82A}">
                    <a16:rowId xmlns:a16="http://schemas.microsoft.com/office/drawing/2014/main" val="10002"/>
                  </a:ext>
                </a:extLst>
              </a:tr>
              <a:tr h="726337">
                <a:tc>
                  <a:txBody>
                    <a:bodyPr/>
                    <a:lstStyle/>
                    <a:p>
                      <a:r>
                        <a:rPr lang="en-US" dirty="0"/>
                        <a:t>OR</a:t>
                      </a:r>
                    </a:p>
                  </a:txBody>
                  <a:tcPr/>
                </a:tc>
                <a:tc>
                  <a:txBody>
                    <a:bodyPr/>
                    <a:lstStyle/>
                    <a:p>
                      <a:r>
                        <a:rPr lang="en-US" dirty="0"/>
                        <a:t>2000</a:t>
                      </a:r>
                    </a:p>
                  </a:txBody>
                  <a:tcPr/>
                </a:tc>
                <a:tc>
                  <a:txBody>
                    <a:bodyPr/>
                    <a:lstStyle/>
                    <a:p>
                      <a:r>
                        <a:rPr lang="en-US" dirty="0"/>
                        <a:t>0.09</a:t>
                      </a:r>
                    </a:p>
                  </a:txBody>
                  <a:tcPr/>
                </a:tc>
                <a:tc>
                  <a:txBody>
                    <a:bodyPr/>
                    <a:lstStyle/>
                    <a:p>
                      <a:r>
                        <a:rPr lang="en-US" dirty="0"/>
                        <a:t>14</a:t>
                      </a:r>
                    </a:p>
                  </a:txBody>
                  <a:tcPr/>
                </a:tc>
                <a:extLst>
                  <a:ext uri="{0D108BD9-81ED-4DB2-BD59-A6C34878D82A}">
                    <a16:rowId xmlns:a16="http://schemas.microsoft.com/office/drawing/2014/main" val="10003"/>
                  </a:ext>
                </a:extLst>
              </a:tr>
              <a:tr h="726337">
                <a:tc>
                  <a:txBody>
                    <a:bodyPr/>
                    <a:lstStyle/>
                    <a:p>
                      <a:r>
                        <a:rPr lang="en-US" dirty="0"/>
                        <a:t>OR</a:t>
                      </a:r>
                    </a:p>
                  </a:txBody>
                  <a:tcPr/>
                </a:tc>
                <a:tc>
                  <a:txBody>
                    <a:bodyPr/>
                    <a:lstStyle/>
                    <a:p>
                      <a:r>
                        <a:rPr lang="en-US" dirty="0"/>
                        <a:t>2001</a:t>
                      </a:r>
                    </a:p>
                  </a:txBody>
                  <a:tcPr/>
                </a:tc>
                <a:tc>
                  <a:txBody>
                    <a:bodyPr/>
                    <a:lstStyle/>
                    <a:p>
                      <a:r>
                        <a:rPr lang="en-US" dirty="0"/>
                        <a:t>0.10</a:t>
                      </a:r>
                    </a:p>
                  </a:txBody>
                  <a:tcPr/>
                </a:tc>
                <a:tc>
                  <a:txBody>
                    <a:bodyPr/>
                    <a:lstStyle/>
                    <a:p>
                      <a:r>
                        <a:rPr lang="en-US" dirty="0"/>
                        <a:t>16</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5191300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merge</a:t>
            </a:r>
          </a:p>
        </p:txBody>
      </p:sp>
      <p:sp>
        <p:nvSpPr>
          <p:cNvPr id="3" name="Content Placeholder 2"/>
          <p:cNvSpPr>
            <a:spLocks noGrp="1"/>
          </p:cNvSpPr>
          <p:nvPr>
            <p:ph idx="1"/>
          </p:nvPr>
        </p:nvSpPr>
        <p:spPr/>
        <p:txBody>
          <a:bodyPr/>
          <a:lstStyle/>
          <a:p>
            <a:r>
              <a:rPr lang="en-US" dirty="0"/>
              <a:t>&gt; crime = </a:t>
            </a:r>
            <a:r>
              <a:rPr lang="en-US" dirty="0" err="1"/>
              <a:t>pd.read_csv</a:t>
            </a:r>
            <a:r>
              <a:rPr lang="en-US" dirty="0"/>
              <a:t>(“crime.csv”)</a:t>
            </a:r>
          </a:p>
          <a:p>
            <a:r>
              <a:rPr lang="en-US" dirty="0"/>
              <a:t>&gt; drug = </a:t>
            </a:r>
            <a:r>
              <a:rPr lang="en-US" dirty="0" err="1"/>
              <a:t>pd.read_csv</a:t>
            </a:r>
            <a:r>
              <a:rPr lang="en-US" dirty="0"/>
              <a:t>(“drug.csv”)</a:t>
            </a:r>
          </a:p>
          <a:p>
            <a:r>
              <a:rPr lang="en-US" dirty="0"/>
              <a:t>&gt; merged = </a:t>
            </a:r>
            <a:r>
              <a:rPr lang="en-US" dirty="0" err="1"/>
              <a:t>pd.merge</a:t>
            </a:r>
            <a:r>
              <a:rPr lang="en-US" dirty="0"/>
              <a:t>(crime, drug)</a:t>
            </a:r>
          </a:p>
          <a:p>
            <a:r>
              <a:rPr lang="en-US" dirty="0"/>
              <a:t>merge will automatically use the common columns (in this case, state and year) to do the join.</a:t>
            </a:r>
          </a:p>
        </p:txBody>
      </p:sp>
    </p:spTree>
    <p:extLst>
      <p:ext uri="{BB962C8B-B14F-4D97-AF65-F5344CB8AC3E}">
        <p14:creationId xmlns:p14="http://schemas.microsoft.com/office/powerpoint/2010/main" val="37228760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merge with on</a:t>
            </a:r>
          </a:p>
        </p:txBody>
      </p:sp>
      <p:sp>
        <p:nvSpPr>
          <p:cNvPr id="3" name="Content Placeholder 2"/>
          <p:cNvSpPr>
            <a:spLocks noGrp="1"/>
          </p:cNvSpPr>
          <p:nvPr>
            <p:ph idx="1"/>
          </p:nvPr>
        </p:nvSpPr>
        <p:spPr/>
        <p:txBody>
          <a:bodyPr>
            <a:normAutofit/>
          </a:bodyPr>
          <a:lstStyle/>
          <a:p>
            <a:r>
              <a:rPr lang="en-US" dirty="0"/>
              <a:t>In previous example, join was based on columns with same name (“State” and “Year”).</a:t>
            </a:r>
          </a:p>
          <a:p>
            <a:r>
              <a:rPr lang="en-US" dirty="0"/>
              <a:t>What if we only wanted to join using State (not Year) </a:t>
            </a:r>
          </a:p>
          <a:p>
            <a:r>
              <a:rPr lang="en-US" dirty="0" err="1"/>
              <a:t>pd.merge</a:t>
            </a:r>
            <a:r>
              <a:rPr lang="en-US" dirty="0"/>
              <a:t>(</a:t>
            </a:r>
            <a:r>
              <a:rPr lang="en-US" dirty="0" err="1"/>
              <a:t>crime,drug,on</a:t>
            </a:r>
            <a:r>
              <a:rPr lang="en-US" dirty="0"/>
              <a:t>=“State”)</a:t>
            </a:r>
          </a:p>
          <a:p>
            <a:r>
              <a:rPr lang="en-US" dirty="0"/>
              <a:t>This will do the join using only State (instead of the default to use all common columns, State and Year).</a:t>
            </a:r>
          </a:p>
          <a:p>
            <a:r>
              <a:rPr lang="en-US" dirty="0"/>
              <a:t>For this example, this would be a </a:t>
            </a:r>
            <a:r>
              <a:rPr lang="en-US" dirty="0" err="1"/>
              <a:t>many:many</a:t>
            </a:r>
            <a:r>
              <a:rPr lang="en-US" dirty="0"/>
              <a:t> join, more details later</a:t>
            </a:r>
          </a:p>
          <a:p>
            <a:r>
              <a:rPr lang="en-US" dirty="0"/>
              <a:t>Note: doing the join this way doesn’t make sense for this example but it would make sense if Year was a column that only had common name by coincidence.</a:t>
            </a:r>
          </a:p>
        </p:txBody>
      </p:sp>
    </p:spTree>
    <p:extLst>
      <p:ext uri="{BB962C8B-B14F-4D97-AF65-F5344CB8AC3E}">
        <p14:creationId xmlns:p14="http://schemas.microsoft.com/office/powerpoint/2010/main" val="39529503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merge (</a:t>
            </a:r>
            <a:r>
              <a:rPr lang="en-US" dirty="0" err="1"/>
              <a:t>left_on</a:t>
            </a:r>
            <a:r>
              <a:rPr lang="en-US" dirty="0"/>
              <a:t> and </a:t>
            </a:r>
            <a:r>
              <a:rPr lang="en-US" dirty="0" err="1"/>
              <a:t>right_on</a:t>
            </a:r>
            <a:r>
              <a:rPr lang="en-US" dirty="0"/>
              <a:t>)</a:t>
            </a:r>
          </a:p>
        </p:txBody>
      </p:sp>
      <p:sp>
        <p:nvSpPr>
          <p:cNvPr id="3" name="Content Placeholder 2"/>
          <p:cNvSpPr>
            <a:spLocks noGrp="1"/>
          </p:cNvSpPr>
          <p:nvPr>
            <p:ph idx="1"/>
          </p:nvPr>
        </p:nvSpPr>
        <p:spPr/>
        <p:txBody>
          <a:bodyPr>
            <a:normAutofit/>
          </a:bodyPr>
          <a:lstStyle/>
          <a:p>
            <a:r>
              <a:rPr lang="en-US" dirty="0"/>
              <a:t>In previous example, join was based on columns with same name (“State” and “Year”).</a:t>
            </a:r>
          </a:p>
          <a:p>
            <a:r>
              <a:rPr lang="en-US" dirty="0"/>
              <a:t>What if crime data set had “”State” and “Year” and drug use had “state” and “year”?</a:t>
            </a:r>
          </a:p>
          <a:p>
            <a:r>
              <a:rPr lang="en-US" dirty="0" err="1"/>
              <a:t>pd.merge</a:t>
            </a:r>
            <a:r>
              <a:rPr lang="en-US" dirty="0"/>
              <a:t>(</a:t>
            </a:r>
            <a:r>
              <a:rPr lang="en-US" dirty="0" err="1"/>
              <a:t>crime,drug,left_on</a:t>
            </a:r>
            <a:r>
              <a:rPr lang="en-US" dirty="0"/>
              <a:t>=[“</a:t>
            </a:r>
            <a:r>
              <a:rPr lang="en-US" dirty="0" err="1"/>
              <a:t>State”,”Year</a:t>
            </a:r>
            <a:r>
              <a:rPr lang="en-US" dirty="0"/>
              <a:t>”],</a:t>
            </a:r>
            <a:r>
              <a:rPr lang="en-US" dirty="0" err="1"/>
              <a:t>right_on</a:t>
            </a:r>
            <a:r>
              <a:rPr lang="en-US" dirty="0"/>
              <a:t>=[“</a:t>
            </a:r>
            <a:r>
              <a:rPr lang="en-US" dirty="0" err="1"/>
              <a:t>state”,”year</a:t>
            </a:r>
            <a:r>
              <a:rPr lang="en-US" dirty="0"/>
              <a:t>”])</a:t>
            </a:r>
          </a:p>
          <a:p>
            <a:endParaRPr lang="en-US" dirty="0"/>
          </a:p>
        </p:txBody>
      </p:sp>
    </p:spTree>
    <p:extLst>
      <p:ext uri="{BB962C8B-B14F-4D97-AF65-F5344CB8AC3E}">
        <p14:creationId xmlns:p14="http://schemas.microsoft.com/office/powerpoint/2010/main" val="20095419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2F1540-2A62-452E-B3D4-5016CD695F57}"/>
              </a:ext>
            </a:extLst>
          </p:cNvPr>
          <p:cNvSpPr>
            <a:spLocks noGrp="1"/>
          </p:cNvSpPr>
          <p:nvPr>
            <p:ph type="title"/>
          </p:nvPr>
        </p:nvSpPr>
        <p:spPr/>
        <p:txBody>
          <a:bodyPr/>
          <a:lstStyle/>
          <a:p>
            <a:r>
              <a:rPr lang="en-US" dirty="0"/>
              <a:t>merge (</a:t>
            </a:r>
            <a:r>
              <a:rPr lang="en-US" dirty="0" err="1"/>
              <a:t>left_index</a:t>
            </a:r>
            <a:r>
              <a:rPr lang="en-US" dirty="0"/>
              <a:t> and </a:t>
            </a:r>
            <a:r>
              <a:rPr lang="en-US" dirty="0" err="1"/>
              <a:t>right_index</a:t>
            </a:r>
            <a:r>
              <a:rPr lang="en-US" dirty="0"/>
              <a:t>)</a:t>
            </a:r>
          </a:p>
        </p:txBody>
      </p:sp>
      <p:sp>
        <p:nvSpPr>
          <p:cNvPr id="3" name="Content Placeholder 2">
            <a:extLst>
              <a:ext uri="{FF2B5EF4-FFF2-40B4-BE49-F238E27FC236}">
                <a16:creationId xmlns:a16="http://schemas.microsoft.com/office/drawing/2014/main" id="{4BCD0C90-0758-4C8E-9581-8B0C3D174413}"/>
              </a:ext>
            </a:extLst>
          </p:cNvPr>
          <p:cNvSpPr>
            <a:spLocks noGrp="1"/>
          </p:cNvSpPr>
          <p:nvPr>
            <p:ph idx="1"/>
          </p:nvPr>
        </p:nvSpPr>
        <p:spPr/>
        <p:txBody>
          <a:bodyPr/>
          <a:lstStyle/>
          <a:p>
            <a:r>
              <a:rPr lang="en-US" dirty="0"/>
              <a:t>You can merge on an index instead of a column. </a:t>
            </a:r>
          </a:p>
          <a:p>
            <a:r>
              <a:rPr lang="en-US" dirty="0"/>
              <a:t>To do this, provide argument </a:t>
            </a:r>
            <a:r>
              <a:rPr lang="en-US" dirty="0" err="1"/>
              <a:t>left_index</a:t>
            </a:r>
            <a:r>
              <a:rPr lang="en-US" dirty="0"/>
              <a:t>=True and </a:t>
            </a:r>
            <a:r>
              <a:rPr lang="en-US" dirty="0" err="1"/>
              <a:t>right_index</a:t>
            </a:r>
            <a:r>
              <a:rPr lang="en-US" dirty="0"/>
              <a:t>=True instead of providing on or </a:t>
            </a:r>
            <a:r>
              <a:rPr lang="en-US" dirty="0" err="1"/>
              <a:t>left_on</a:t>
            </a:r>
            <a:r>
              <a:rPr lang="en-US" dirty="0"/>
              <a:t> or </a:t>
            </a:r>
            <a:r>
              <a:rPr lang="en-US" dirty="0" err="1"/>
              <a:t>right_on</a:t>
            </a:r>
            <a:r>
              <a:rPr lang="en-US" dirty="0"/>
              <a:t> arguments.</a:t>
            </a:r>
          </a:p>
          <a:p>
            <a:r>
              <a:rPr lang="en-US" dirty="0"/>
              <a:t>Will work exactly the same but use the index values to link the two </a:t>
            </a:r>
            <a:r>
              <a:rPr lang="en-US" dirty="0" err="1"/>
              <a:t>dataframes</a:t>
            </a:r>
            <a:r>
              <a:rPr lang="en-US" dirty="0"/>
              <a:t> rather than column values.</a:t>
            </a:r>
          </a:p>
        </p:txBody>
      </p:sp>
    </p:spTree>
    <p:extLst>
      <p:ext uri="{BB962C8B-B14F-4D97-AF65-F5344CB8AC3E}">
        <p14:creationId xmlns:p14="http://schemas.microsoft.com/office/powerpoint/2010/main" val="2365059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A0770-C77E-48D1-9C05-B08192B4785E}"/>
              </a:ext>
            </a:extLst>
          </p:cNvPr>
          <p:cNvSpPr>
            <a:spLocks noGrp="1"/>
          </p:cNvSpPr>
          <p:nvPr>
            <p:ph type="title"/>
          </p:nvPr>
        </p:nvSpPr>
        <p:spPr/>
        <p:txBody>
          <a:bodyPr/>
          <a:lstStyle/>
          <a:p>
            <a:r>
              <a:rPr lang="en-US" dirty="0"/>
              <a:t>Types of joins</a:t>
            </a:r>
          </a:p>
        </p:txBody>
      </p:sp>
      <p:sp>
        <p:nvSpPr>
          <p:cNvPr id="3" name="Content Placeholder 2">
            <a:extLst>
              <a:ext uri="{FF2B5EF4-FFF2-40B4-BE49-F238E27FC236}">
                <a16:creationId xmlns:a16="http://schemas.microsoft.com/office/drawing/2014/main" id="{E401555D-53D6-4D04-A28A-98AB4387F74C}"/>
              </a:ext>
            </a:extLst>
          </p:cNvPr>
          <p:cNvSpPr>
            <a:spLocks noGrp="1"/>
          </p:cNvSpPr>
          <p:nvPr>
            <p:ph idx="1"/>
          </p:nvPr>
        </p:nvSpPr>
        <p:spPr/>
        <p:txBody>
          <a:bodyPr>
            <a:normAutofit/>
          </a:bodyPr>
          <a:lstStyle/>
          <a:p>
            <a:r>
              <a:rPr lang="en-US" dirty="0"/>
              <a:t>What if one of the data frames has more entries than the other?</a:t>
            </a:r>
          </a:p>
          <a:p>
            <a:r>
              <a:rPr lang="en-US" dirty="0"/>
              <a:t>For example, what if the drug data frame has no entry for California in 2000?  Should the CA-2000 observation be kept with an NAN for drug use?  Or should it be dropped?</a:t>
            </a:r>
          </a:p>
          <a:p>
            <a:r>
              <a:rPr lang="en-US" dirty="0"/>
              <a:t>Inner join:  keep rows that match from both data frames, drop other rows</a:t>
            </a:r>
          </a:p>
          <a:p>
            <a:r>
              <a:rPr lang="en-US" dirty="0"/>
              <a:t>Outer join:  keep all rows from both data frames, use NAN where needed </a:t>
            </a:r>
          </a:p>
          <a:p>
            <a:r>
              <a:rPr lang="en-US" dirty="0"/>
              <a:t>Left join:  keep all rows from crime, only keep rows from drug that match with crime</a:t>
            </a:r>
          </a:p>
          <a:p>
            <a:r>
              <a:rPr lang="en-US" dirty="0"/>
              <a:t>Right join:  keep all rows from drug, keep only rows from crime that match with drug</a:t>
            </a:r>
          </a:p>
          <a:p>
            <a:endParaRPr lang="en-US" dirty="0"/>
          </a:p>
          <a:p>
            <a:r>
              <a:rPr lang="en-US" b="1" dirty="0"/>
              <a:t>Use the how argument in merge to specify type of join (inner by default).</a:t>
            </a:r>
          </a:p>
        </p:txBody>
      </p:sp>
    </p:spTree>
    <p:extLst>
      <p:ext uri="{BB962C8B-B14F-4D97-AF65-F5344CB8AC3E}">
        <p14:creationId xmlns:p14="http://schemas.microsoft.com/office/powerpoint/2010/main" val="23717543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nvGraphicFramePr>
        <p:xfrm>
          <a:off x="282715" y="2171699"/>
          <a:ext cx="2713935" cy="4358022"/>
        </p:xfrm>
        <a:graphic>
          <a:graphicData uri="http://schemas.openxmlformats.org/drawingml/2006/table">
            <a:tbl>
              <a:tblPr firstRow="1" bandRow="1">
                <a:tableStyleId>{5C22544A-7EE6-4342-B048-85BDC9FD1C3A}</a:tableStyleId>
              </a:tblPr>
              <a:tblGrid>
                <a:gridCol w="904645">
                  <a:extLst>
                    <a:ext uri="{9D8B030D-6E8A-4147-A177-3AD203B41FA5}">
                      <a16:colId xmlns:a16="http://schemas.microsoft.com/office/drawing/2014/main" val="20000"/>
                    </a:ext>
                  </a:extLst>
                </a:gridCol>
                <a:gridCol w="904645">
                  <a:extLst>
                    <a:ext uri="{9D8B030D-6E8A-4147-A177-3AD203B41FA5}">
                      <a16:colId xmlns:a16="http://schemas.microsoft.com/office/drawing/2014/main" val="20001"/>
                    </a:ext>
                  </a:extLst>
                </a:gridCol>
                <a:gridCol w="904645">
                  <a:extLst>
                    <a:ext uri="{9D8B030D-6E8A-4147-A177-3AD203B41FA5}">
                      <a16:colId xmlns:a16="http://schemas.microsoft.com/office/drawing/2014/main" val="20002"/>
                    </a:ext>
                  </a:extLst>
                </a:gridCol>
              </a:tblGrid>
              <a:tr h="726337">
                <a:tc>
                  <a:txBody>
                    <a:bodyPr/>
                    <a:lstStyle/>
                    <a:p>
                      <a:r>
                        <a:rPr lang="en-US" dirty="0"/>
                        <a:t>State</a:t>
                      </a:r>
                    </a:p>
                  </a:txBody>
                  <a:tcPr/>
                </a:tc>
                <a:tc>
                  <a:txBody>
                    <a:bodyPr/>
                    <a:lstStyle/>
                    <a:p>
                      <a:r>
                        <a:rPr lang="en-US" dirty="0"/>
                        <a:t>Year</a:t>
                      </a:r>
                    </a:p>
                  </a:txBody>
                  <a:tcPr/>
                </a:tc>
                <a:tc>
                  <a:txBody>
                    <a:bodyPr/>
                    <a:lstStyle/>
                    <a:p>
                      <a:r>
                        <a:rPr lang="en-US" dirty="0" err="1"/>
                        <a:t>CrimeRate</a:t>
                      </a:r>
                      <a:endParaRPr lang="en-US" dirty="0"/>
                    </a:p>
                  </a:txBody>
                  <a:tcPr/>
                </a:tc>
                <a:extLst>
                  <a:ext uri="{0D108BD9-81ED-4DB2-BD59-A6C34878D82A}">
                    <a16:rowId xmlns:a16="http://schemas.microsoft.com/office/drawing/2014/main" val="10000"/>
                  </a:ext>
                </a:extLst>
              </a:tr>
              <a:tr h="726337">
                <a:tc>
                  <a:txBody>
                    <a:bodyPr/>
                    <a:lstStyle/>
                    <a:p>
                      <a:r>
                        <a:rPr lang="en-US" dirty="0"/>
                        <a:t>CA</a:t>
                      </a:r>
                    </a:p>
                  </a:txBody>
                  <a:tcPr/>
                </a:tc>
                <a:tc>
                  <a:txBody>
                    <a:bodyPr/>
                    <a:lstStyle/>
                    <a:p>
                      <a:r>
                        <a:rPr lang="en-US" dirty="0"/>
                        <a:t>2000</a:t>
                      </a:r>
                    </a:p>
                  </a:txBody>
                  <a:tcPr/>
                </a:tc>
                <a:tc>
                  <a:txBody>
                    <a:bodyPr/>
                    <a:lstStyle/>
                    <a:p>
                      <a:r>
                        <a:rPr lang="en-US" dirty="0"/>
                        <a:t>0.15</a:t>
                      </a:r>
                    </a:p>
                  </a:txBody>
                  <a:tcPr/>
                </a:tc>
                <a:extLst>
                  <a:ext uri="{0D108BD9-81ED-4DB2-BD59-A6C34878D82A}">
                    <a16:rowId xmlns:a16="http://schemas.microsoft.com/office/drawing/2014/main" val="10001"/>
                  </a:ext>
                </a:extLst>
              </a:tr>
              <a:tr h="726337">
                <a:tc>
                  <a:txBody>
                    <a:bodyPr/>
                    <a:lstStyle/>
                    <a:p>
                      <a:r>
                        <a:rPr lang="en-US" dirty="0"/>
                        <a:t>CA</a:t>
                      </a:r>
                    </a:p>
                  </a:txBody>
                  <a:tcPr/>
                </a:tc>
                <a:tc>
                  <a:txBody>
                    <a:bodyPr/>
                    <a:lstStyle/>
                    <a:p>
                      <a:r>
                        <a:rPr lang="en-US" dirty="0"/>
                        <a:t>2001</a:t>
                      </a:r>
                    </a:p>
                  </a:txBody>
                  <a:tcPr/>
                </a:tc>
                <a:tc>
                  <a:txBody>
                    <a:bodyPr/>
                    <a:lstStyle/>
                    <a:p>
                      <a:r>
                        <a:rPr lang="en-US" dirty="0"/>
                        <a:t>0.18</a:t>
                      </a:r>
                    </a:p>
                  </a:txBody>
                  <a:tcPr/>
                </a:tc>
                <a:extLst>
                  <a:ext uri="{0D108BD9-81ED-4DB2-BD59-A6C34878D82A}">
                    <a16:rowId xmlns:a16="http://schemas.microsoft.com/office/drawing/2014/main" val="10002"/>
                  </a:ext>
                </a:extLst>
              </a:tr>
              <a:tr h="726337">
                <a:tc>
                  <a:txBody>
                    <a:bodyPr/>
                    <a:lstStyle/>
                    <a:p>
                      <a:r>
                        <a:rPr lang="en-US" dirty="0"/>
                        <a:t>CA</a:t>
                      </a:r>
                    </a:p>
                  </a:txBody>
                  <a:tcPr/>
                </a:tc>
                <a:tc>
                  <a:txBody>
                    <a:bodyPr/>
                    <a:lstStyle/>
                    <a:p>
                      <a:r>
                        <a:rPr lang="en-US" dirty="0"/>
                        <a:t>2002</a:t>
                      </a:r>
                    </a:p>
                  </a:txBody>
                  <a:tcPr/>
                </a:tc>
                <a:tc>
                  <a:txBody>
                    <a:bodyPr/>
                    <a:lstStyle/>
                    <a:p>
                      <a:r>
                        <a:rPr lang="en-US" dirty="0"/>
                        <a:t>0.16</a:t>
                      </a:r>
                    </a:p>
                  </a:txBody>
                  <a:tcPr/>
                </a:tc>
                <a:extLst>
                  <a:ext uri="{0D108BD9-81ED-4DB2-BD59-A6C34878D82A}">
                    <a16:rowId xmlns:a16="http://schemas.microsoft.com/office/drawing/2014/main" val="587791061"/>
                  </a:ext>
                </a:extLst>
              </a:tr>
              <a:tr h="726337">
                <a:tc>
                  <a:txBody>
                    <a:bodyPr/>
                    <a:lstStyle/>
                    <a:p>
                      <a:r>
                        <a:rPr lang="en-US" dirty="0"/>
                        <a:t>OR</a:t>
                      </a:r>
                    </a:p>
                  </a:txBody>
                  <a:tcPr/>
                </a:tc>
                <a:tc>
                  <a:txBody>
                    <a:bodyPr/>
                    <a:lstStyle/>
                    <a:p>
                      <a:r>
                        <a:rPr lang="en-US" dirty="0"/>
                        <a:t>2000</a:t>
                      </a:r>
                    </a:p>
                  </a:txBody>
                  <a:tcPr/>
                </a:tc>
                <a:tc>
                  <a:txBody>
                    <a:bodyPr/>
                    <a:lstStyle/>
                    <a:p>
                      <a:r>
                        <a:rPr lang="en-US" dirty="0"/>
                        <a:t>0.09</a:t>
                      </a:r>
                    </a:p>
                  </a:txBody>
                  <a:tcPr/>
                </a:tc>
                <a:extLst>
                  <a:ext uri="{0D108BD9-81ED-4DB2-BD59-A6C34878D82A}">
                    <a16:rowId xmlns:a16="http://schemas.microsoft.com/office/drawing/2014/main" val="10003"/>
                  </a:ext>
                </a:extLst>
              </a:tr>
              <a:tr h="726337">
                <a:tc>
                  <a:txBody>
                    <a:bodyPr/>
                    <a:lstStyle/>
                    <a:p>
                      <a:r>
                        <a:rPr lang="en-US" dirty="0"/>
                        <a:t>OR</a:t>
                      </a:r>
                    </a:p>
                  </a:txBody>
                  <a:tcPr/>
                </a:tc>
                <a:tc>
                  <a:txBody>
                    <a:bodyPr/>
                    <a:lstStyle/>
                    <a:p>
                      <a:r>
                        <a:rPr lang="en-US" dirty="0"/>
                        <a:t>2001</a:t>
                      </a:r>
                    </a:p>
                  </a:txBody>
                  <a:tcPr/>
                </a:tc>
                <a:tc>
                  <a:txBody>
                    <a:bodyPr/>
                    <a:lstStyle/>
                    <a:p>
                      <a:r>
                        <a:rPr lang="en-US" dirty="0"/>
                        <a:t>0.10</a:t>
                      </a:r>
                    </a:p>
                  </a:txBody>
                  <a:tcPr/>
                </a:tc>
                <a:extLst>
                  <a:ext uri="{0D108BD9-81ED-4DB2-BD59-A6C34878D82A}">
                    <a16:rowId xmlns:a16="http://schemas.microsoft.com/office/drawing/2014/main" val="10004"/>
                  </a:ext>
                </a:extLst>
              </a:tr>
            </a:tbl>
          </a:graphicData>
        </a:graphic>
      </p:graphicFrame>
      <p:graphicFrame>
        <p:nvGraphicFramePr>
          <p:cNvPr id="5" name="Table 4"/>
          <p:cNvGraphicFramePr>
            <a:graphicFrameLocks noGrp="1"/>
          </p:cNvGraphicFramePr>
          <p:nvPr/>
        </p:nvGraphicFramePr>
        <p:xfrm>
          <a:off x="3421823" y="137490"/>
          <a:ext cx="2713935" cy="4358022"/>
        </p:xfrm>
        <a:graphic>
          <a:graphicData uri="http://schemas.openxmlformats.org/drawingml/2006/table">
            <a:tbl>
              <a:tblPr firstRow="1" bandRow="1">
                <a:tableStyleId>{5C22544A-7EE6-4342-B048-85BDC9FD1C3A}</a:tableStyleId>
              </a:tblPr>
              <a:tblGrid>
                <a:gridCol w="904645">
                  <a:extLst>
                    <a:ext uri="{9D8B030D-6E8A-4147-A177-3AD203B41FA5}">
                      <a16:colId xmlns:a16="http://schemas.microsoft.com/office/drawing/2014/main" val="20000"/>
                    </a:ext>
                  </a:extLst>
                </a:gridCol>
                <a:gridCol w="904645">
                  <a:extLst>
                    <a:ext uri="{9D8B030D-6E8A-4147-A177-3AD203B41FA5}">
                      <a16:colId xmlns:a16="http://schemas.microsoft.com/office/drawing/2014/main" val="20001"/>
                    </a:ext>
                  </a:extLst>
                </a:gridCol>
                <a:gridCol w="904645">
                  <a:extLst>
                    <a:ext uri="{9D8B030D-6E8A-4147-A177-3AD203B41FA5}">
                      <a16:colId xmlns:a16="http://schemas.microsoft.com/office/drawing/2014/main" val="20002"/>
                    </a:ext>
                  </a:extLst>
                </a:gridCol>
              </a:tblGrid>
              <a:tr h="726337">
                <a:tc>
                  <a:txBody>
                    <a:bodyPr/>
                    <a:lstStyle/>
                    <a:p>
                      <a:r>
                        <a:rPr lang="en-US" dirty="0"/>
                        <a:t>State</a:t>
                      </a:r>
                    </a:p>
                  </a:txBody>
                  <a:tcPr/>
                </a:tc>
                <a:tc>
                  <a:txBody>
                    <a:bodyPr/>
                    <a:lstStyle/>
                    <a:p>
                      <a:r>
                        <a:rPr lang="en-US" dirty="0"/>
                        <a:t>Year</a:t>
                      </a:r>
                    </a:p>
                  </a:txBody>
                  <a:tcPr/>
                </a:tc>
                <a:tc>
                  <a:txBody>
                    <a:bodyPr/>
                    <a:lstStyle/>
                    <a:p>
                      <a:r>
                        <a:rPr lang="en-US" dirty="0"/>
                        <a:t>Drug Use</a:t>
                      </a:r>
                    </a:p>
                  </a:txBody>
                  <a:tcPr/>
                </a:tc>
                <a:extLst>
                  <a:ext uri="{0D108BD9-81ED-4DB2-BD59-A6C34878D82A}">
                    <a16:rowId xmlns:a16="http://schemas.microsoft.com/office/drawing/2014/main" val="10000"/>
                  </a:ext>
                </a:extLst>
              </a:tr>
              <a:tr h="726337">
                <a:tc>
                  <a:txBody>
                    <a:bodyPr/>
                    <a:lstStyle/>
                    <a:p>
                      <a:r>
                        <a:rPr lang="en-US" dirty="0"/>
                        <a:t>CA</a:t>
                      </a:r>
                    </a:p>
                  </a:txBody>
                  <a:tcPr/>
                </a:tc>
                <a:tc>
                  <a:txBody>
                    <a:bodyPr/>
                    <a:lstStyle/>
                    <a:p>
                      <a:r>
                        <a:rPr lang="en-US" dirty="0"/>
                        <a:t>2000</a:t>
                      </a:r>
                    </a:p>
                  </a:txBody>
                  <a:tcPr/>
                </a:tc>
                <a:tc>
                  <a:txBody>
                    <a:bodyPr/>
                    <a:lstStyle/>
                    <a:p>
                      <a:r>
                        <a:rPr lang="en-US" dirty="0"/>
                        <a:t>12</a:t>
                      </a:r>
                    </a:p>
                  </a:txBody>
                  <a:tcPr/>
                </a:tc>
                <a:extLst>
                  <a:ext uri="{0D108BD9-81ED-4DB2-BD59-A6C34878D82A}">
                    <a16:rowId xmlns:a16="http://schemas.microsoft.com/office/drawing/2014/main" val="10001"/>
                  </a:ext>
                </a:extLst>
              </a:tr>
              <a:tr h="726337">
                <a:tc>
                  <a:txBody>
                    <a:bodyPr/>
                    <a:lstStyle/>
                    <a:p>
                      <a:r>
                        <a:rPr lang="en-US" dirty="0"/>
                        <a:t>CA</a:t>
                      </a:r>
                    </a:p>
                  </a:txBody>
                  <a:tcPr/>
                </a:tc>
                <a:tc>
                  <a:txBody>
                    <a:bodyPr/>
                    <a:lstStyle/>
                    <a:p>
                      <a:r>
                        <a:rPr lang="en-US" dirty="0"/>
                        <a:t>2001</a:t>
                      </a:r>
                    </a:p>
                  </a:txBody>
                  <a:tcPr/>
                </a:tc>
                <a:tc>
                  <a:txBody>
                    <a:bodyPr/>
                    <a:lstStyle/>
                    <a:p>
                      <a:r>
                        <a:rPr lang="en-US" dirty="0"/>
                        <a:t>11</a:t>
                      </a:r>
                    </a:p>
                  </a:txBody>
                  <a:tcPr/>
                </a:tc>
                <a:extLst>
                  <a:ext uri="{0D108BD9-81ED-4DB2-BD59-A6C34878D82A}">
                    <a16:rowId xmlns:a16="http://schemas.microsoft.com/office/drawing/2014/main" val="10002"/>
                  </a:ext>
                </a:extLst>
              </a:tr>
              <a:tr h="726337">
                <a:tc>
                  <a:txBody>
                    <a:bodyPr/>
                    <a:lstStyle/>
                    <a:p>
                      <a:r>
                        <a:rPr lang="en-US" dirty="0"/>
                        <a:t>OR</a:t>
                      </a:r>
                    </a:p>
                  </a:txBody>
                  <a:tcPr/>
                </a:tc>
                <a:tc>
                  <a:txBody>
                    <a:bodyPr/>
                    <a:lstStyle/>
                    <a:p>
                      <a:r>
                        <a:rPr lang="en-US" dirty="0"/>
                        <a:t>2000</a:t>
                      </a:r>
                    </a:p>
                  </a:txBody>
                  <a:tcPr/>
                </a:tc>
                <a:tc>
                  <a:txBody>
                    <a:bodyPr/>
                    <a:lstStyle/>
                    <a:p>
                      <a:r>
                        <a:rPr lang="en-US" dirty="0"/>
                        <a:t>14</a:t>
                      </a:r>
                    </a:p>
                  </a:txBody>
                  <a:tcPr/>
                </a:tc>
                <a:extLst>
                  <a:ext uri="{0D108BD9-81ED-4DB2-BD59-A6C34878D82A}">
                    <a16:rowId xmlns:a16="http://schemas.microsoft.com/office/drawing/2014/main" val="10003"/>
                  </a:ext>
                </a:extLst>
              </a:tr>
              <a:tr h="726337">
                <a:tc>
                  <a:txBody>
                    <a:bodyPr/>
                    <a:lstStyle/>
                    <a:p>
                      <a:r>
                        <a:rPr lang="en-US" dirty="0"/>
                        <a:t>OR</a:t>
                      </a:r>
                    </a:p>
                  </a:txBody>
                  <a:tcPr/>
                </a:tc>
                <a:tc>
                  <a:txBody>
                    <a:bodyPr/>
                    <a:lstStyle/>
                    <a:p>
                      <a:r>
                        <a:rPr lang="en-US" dirty="0"/>
                        <a:t>2001</a:t>
                      </a:r>
                    </a:p>
                  </a:txBody>
                  <a:tcPr/>
                </a:tc>
                <a:tc>
                  <a:txBody>
                    <a:bodyPr/>
                    <a:lstStyle/>
                    <a:p>
                      <a:r>
                        <a:rPr lang="en-US" dirty="0"/>
                        <a:t>16</a:t>
                      </a:r>
                    </a:p>
                  </a:txBody>
                  <a:tcPr/>
                </a:tc>
                <a:extLst>
                  <a:ext uri="{0D108BD9-81ED-4DB2-BD59-A6C34878D82A}">
                    <a16:rowId xmlns:a16="http://schemas.microsoft.com/office/drawing/2014/main" val="10004"/>
                  </a:ext>
                </a:extLst>
              </a:tr>
              <a:tr h="726337">
                <a:tc>
                  <a:txBody>
                    <a:bodyPr/>
                    <a:lstStyle/>
                    <a:p>
                      <a:r>
                        <a:rPr lang="en-US" dirty="0"/>
                        <a:t>OR </a:t>
                      </a:r>
                    </a:p>
                  </a:txBody>
                  <a:tcPr/>
                </a:tc>
                <a:tc>
                  <a:txBody>
                    <a:bodyPr/>
                    <a:lstStyle/>
                    <a:p>
                      <a:r>
                        <a:rPr lang="en-US" dirty="0"/>
                        <a:t>2002</a:t>
                      </a:r>
                    </a:p>
                  </a:txBody>
                  <a:tcPr/>
                </a:tc>
                <a:tc>
                  <a:txBody>
                    <a:bodyPr/>
                    <a:lstStyle/>
                    <a:p>
                      <a:r>
                        <a:rPr lang="en-US" dirty="0"/>
                        <a:t>15</a:t>
                      </a:r>
                    </a:p>
                  </a:txBody>
                  <a:tcPr/>
                </a:tc>
                <a:extLst>
                  <a:ext uri="{0D108BD9-81ED-4DB2-BD59-A6C34878D82A}">
                    <a16:rowId xmlns:a16="http://schemas.microsoft.com/office/drawing/2014/main" val="5424316"/>
                  </a:ext>
                </a:extLst>
              </a:tr>
            </a:tbl>
          </a:graphicData>
        </a:graphic>
      </p:graphicFrame>
      <p:graphicFrame>
        <p:nvGraphicFramePr>
          <p:cNvPr id="6" name="Table 5"/>
          <p:cNvGraphicFramePr>
            <a:graphicFrameLocks noGrp="1"/>
          </p:cNvGraphicFramePr>
          <p:nvPr/>
        </p:nvGraphicFramePr>
        <p:xfrm>
          <a:off x="6864075" y="2375347"/>
          <a:ext cx="4352236" cy="3545428"/>
        </p:xfrm>
        <a:graphic>
          <a:graphicData uri="http://schemas.openxmlformats.org/drawingml/2006/table">
            <a:tbl>
              <a:tblPr firstRow="1" bandRow="1">
                <a:tableStyleId>{5C22544A-7EE6-4342-B048-85BDC9FD1C3A}</a:tableStyleId>
              </a:tblPr>
              <a:tblGrid>
                <a:gridCol w="1088059">
                  <a:extLst>
                    <a:ext uri="{9D8B030D-6E8A-4147-A177-3AD203B41FA5}">
                      <a16:colId xmlns:a16="http://schemas.microsoft.com/office/drawing/2014/main" val="20000"/>
                    </a:ext>
                  </a:extLst>
                </a:gridCol>
                <a:gridCol w="1088059">
                  <a:extLst>
                    <a:ext uri="{9D8B030D-6E8A-4147-A177-3AD203B41FA5}">
                      <a16:colId xmlns:a16="http://schemas.microsoft.com/office/drawing/2014/main" val="20001"/>
                    </a:ext>
                  </a:extLst>
                </a:gridCol>
                <a:gridCol w="1088059">
                  <a:extLst>
                    <a:ext uri="{9D8B030D-6E8A-4147-A177-3AD203B41FA5}">
                      <a16:colId xmlns:a16="http://schemas.microsoft.com/office/drawing/2014/main" val="20002"/>
                    </a:ext>
                  </a:extLst>
                </a:gridCol>
                <a:gridCol w="1088059">
                  <a:extLst>
                    <a:ext uri="{9D8B030D-6E8A-4147-A177-3AD203B41FA5}">
                      <a16:colId xmlns:a16="http://schemas.microsoft.com/office/drawing/2014/main" val="20003"/>
                    </a:ext>
                  </a:extLst>
                </a:gridCol>
              </a:tblGrid>
              <a:tr h="0">
                <a:tc>
                  <a:txBody>
                    <a:bodyPr/>
                    <a:lstStyle/>
                    <a:p>
                      <a:r>
                        <a:rPr lang="en-US" dirty="0"/>
                        <a:t>State</a:t>
                      </a:r>
                    </a:p>
                  </a:txBody>
                  <a:tcPr/>
                </a:tc>
                <a:tc>
                  <a:txBody>
                    <a:bodyPr/>
                    <a:lstStyle/>
                    <a:p>
                      <a:r>
                        <a:rPr lang="en-US" dirty="0"/>
                        <a:t>Year</a:t>
                      </a:r>
                    </a:p>
                  </a:txBody>
                  <a:tcPr/>
                </a:tc>
                <a:tc>
                  <a:txBody>
                    <a:bodyPr/>
                    <a:lstStyle/>
                    <a:p>
                      <a:r>
                        <a:rPr lang="en-US" dirty="0" err="1"/>
                        <a:t>CrimeRate</a:t>
                      </a:r>
                      <a:endParaRPr lang="en-US" dirty="0"/>
                    </a:p>
                  </a:txBody>
                  <a:tcPr/>
                </a:tc>
                <a:tc>
                  <a:txBody>
                    <a:bodyPr/>
                    <a:lstStyle/>
                    <a:p>
                      <a:r>
                        <a:rPr lang="en-US" dirty="0"/>
                        <a:t>Drug Use</a:t>
                      </a:r>
                    </a:p>
                  </a:txBody>
                  <a:tcPr/>
                </a:tc>
                <a:extLst>
                  <a:ext uri="{0D108BD9-81ED-4DB2-BD59-A6C34878D82A}">
                    <a16:rowId xmlns:a16="http://schemas.microsoft.com/office/drawing/2014/main" val="10000"/>
                  </a:ext>
                </a:extLst>
              </a:tr>
              <a:tr h="726337">
                <a:tc>
                  <a:txBody>
                    <a:bodyPr/>
                    <a:lstStyle/>
                    <a:p>
                      <a:r>
                        <a:rPr lang="en-US" dirty="0"/>
                        <a:t>CA</a:t>
                      </a:r>
                    </a:p>
                  </a:txBody>
                  <a:tcPr/>
                </a:tc>
                <a:tc>
                  <a:txBody>
                    <a:bodyPr/>
                    <a:lstStyle/>
                    <a:p>
                      <a:r>
                        <a:rPr lang="en-US" dirty="0"/>
                        <a:t>2000</a:t>
                      </a:r>
                    </a:p>
                  </a:txBody>
                  <a:tcPr/>
                </a:tc>
                <a:tc>
                  <a:txBody>
                    <a:bodyPr/>
                    <a:lstStyle/>
                    <a:p>
                      <a:r>
                        <a:rPr lang="en-US" dirty="0"/>
                        <a:t>0.15</a:t>
                      </a:r>
                    </a:p>
                  </a:txBody>
                  <a:tcPr/>
                </a:tc>
                <a:tc>
                  <a:txBody>
                    <a:bodyPr/>
                    <a:lstStyle/>
                    <a:p>
                      <a:r>
                        <a:rPr lang="en-US" dirty="0"/>
                        <a:t>12</a:t>
                      </a:r>
                    </a:p>
                  </a:txBody>
                  <a:tcPr/>
                </a:tc>
                <a:extLst>
                  <a:ext uri="{0D108BD9-81ED-4DB2-BD59-A6C34878D82A}">
                    <a16:rowId xmlns:a16="http://schemas.microsoft.com/office/drawing/2014/main" val="10001"/>
                  </a:ext>
                </a:extLst>
              </a:tr>
              <a:tr h="726337">
                <a:tc>
                  <a:txBody>
                    <a:bodyPr/>
                    <a:lstStyle/>
                    <a:p>
                      <a:r>
                        <a:rPr lang="en-US" dirty="0"/>
                        <a:t>CA</a:t>
                      </a:r>
                    </a:p>
                  </a:txBody>
                  <a:tcPr/>
                </a:tc>
                <a:tc>
                  <a:txBody>
                    <a:bodyPr/>
                    <a:lstStyle/>
                    <a:p>
                      <a:r>
                        <a:rPr lang="en-US" dirty="0"/>
                        <a:t>2001</a:t>
                      </a:r>
                    </a:p>
                  </a:txBody>
                  <a:tcPr/>
                </a:tc>
                <a:tc>
                  <a:txBody>
                    <a:bodyPr/>
                    <a:lstStyle/>
                    <a:p>
                      <a:r>
                        <a:rPr lang="en-US" dirty="0"/>
                        <a:t>0.18</a:t>
                      </a:r>
                    </a:p>
                  </a:txBody>
                  <a:tcPr/>
                </a:tc>
                <a:tc>
                  <a:txBody>
                    <a:bodyPr/>
                    <a:lstStyle/>
                    <a:p>
                      <a:r>
                        <a:rPr lang="en-US" dirty="0"/>
                        <a:t>11</a:t>
                      </a:r>
                    </a:p>
                  </a:txBody>
                  <a:tcPr/>
                </a:tc>
                <a:extLst>
                  <a:ext uri="{0D108BD9-81ED-4DB2-BD59-A6C34878D82A}">
                    <a16:rowId xmlns:a16="http://schemas.microsoft.com/office/drawing/2014/main" val="10002"/>
                  </a:ext>
                </a:extLst>
              </a:tr>
              <a:tr h="726337">
                <a:tc>
                  <a:txBody>
                    <a:bodyPr/>
                    <a:lstStyle/>
                    <a:p>
                      <a:r>
                        <a:rPr lang="en-US" dirty="0"/>
                        <a:t>OR</a:t>
                      </a:r>
                    </a:p>
                  </a:txBody>
                  <a:tcPr/>
                </a:tc>
                <a:tc>
                  <a:txBody>
                    <a:bodyPr/>
                    <a:lstStyle/>
                    <a:p>
                      <a:r>
                        <a:rPr lang="en-US" dirty="0"/>
                        <a:t>2000</a:t>
                      </a:r>
                    </a:p>
                  </a:txBody>
                  <a:tcPr/>
                </a:tc>
                <a:tc>
                  <a:txBody>
                    <a:bodyPr/>
                    <a:lstStyle/>
                    <a:p>
                      <a:r>
                        <a:rPr lang="en-US" dirty="0"/>
                        <a:t>0.09</a:t>
                      </a:r>
                    </a:p>
                  </a:txBody>
                  <a:tcPr/>
                </a:tc>
                <a:tc>
                  <a:txBody>
                    <a:bodyPr/>
                    <a:lstStyle/>
                    <a:p>
                      <a:r>
                        <a:rPr lang="en-US" dirty="0"/>
                        <a:t>14</a:t>
                      </a:r>
                    </a:p>
                  </a:txBody>
                  <a:tcPr/>
                </a:tc>
                <a:extLst>
                  <a:ext uri="{0D108BD9-81ED-4DB2-BD59-A6C34878D82A}">
                    <a16:rowId xmlns:a16="http://schemas.microsoft.com/office/drawing/2014/main" val="10003"/>
                  </a:ext>
                </a:extLst>
              </a:tr>
              <a:tr h="726337">
                <a:tc>
                  <a:txBody>
                    <a:bodyPr/>
                    <a:lstStyle/>
                    <a:p>
                      <a:r>
                        <a:rPr lang="en-US" dirty="0"/>
                        <a:t>OR</a:t>
                      </a:r>
                    </a:p>
                  </a:txBody>
                  <a:tcPr/>
                </a:tc>
                <a:tc>
                  <a:txBody>
                    <a:bodyPr/>
                    <a:lstStyle/>
                    <a:p>
                      <a:r>
                        <a:rPr lang="en-US" dirty="0"/>
                        <a:t>2001</a:t>
                      </a:r>
                    </a:p>
                  </a:txBody>
                  <a:tcPr/>
                </a:tc>
                <a:tc>
                  <a:txBody>
                    <a:bodyPr/>
                    <a:lstStyle/>
                    <a:p>
                      <a:r>
                        <a:rPr lang="en-US" dirty="0"/>
                        <a:t>0.10</a:t>
                      </a:r>
                    </a:p>
                  </a:txBody>
                  <a:tcPr/>
                </a:tc>
                <a:tc>
                  <a:txBody>
                    <a:bodyPr/>
                    <a:lstStyle/>
                    <a:p>
                      <a:r>
                        <a:rPr lang="en-US" dirty="0"/>
                        <a:t>16</a:t>
                      </a:r>
                    </a:p>
                  </a:txBody>
                  <a:tcPr/>
                </a:tc>
                <a:extLst>
                  <a:ext uri="{0D108BD9-81ED-4DB2-BD59-A6C34878D82A}">
                    <a16:rowId xmlns:a16="http://schemas.microsoft.com/office/drawing/2014/main" val="10004"/>
                  </a:ext>
                </a:extLst>
              </a:tr>
            </a:tbl>
          </a:graphicData>
        </a:graphic>
      </p:graphicFrame>
      <p:sp>
        <p:nvSpPr>
          <p:cNvPr id="2" name="TextBox 1">
            <a:extLst>
              <a:ext uri="{FF2B5EF4-FFF2-40B4-BE49-F238E27FC236}">
                <a16:creationId xmlns:a16="http://schemas.microsoft.com/office/drawing/2014/main" id="{BDE957B5-73B3-44AD-BCFE-4990E52FE9CB}"/>
              </a:ext>
            </a:extLst>
          </p:cNvPr>
          <p:cNvSpPr txBox="1"/>
          <p:nvPr/>
        </p:nvSpPr>
        <p:spPr>
          <a:xfrm>
            <a:off x="282715" y="385763"/>
            <a:ext cx="2974835" cy="646331"/>
          </a:xfrm>
          <a:prstGeom prst="rect">
            <a:avLst/>
          </a:prstGeom>
          <a:noFill/>
        </p:spPr>
        <p:txBody>
          <a:bodyPr wrap="square" rtlCol="0">
            <a:spAutoFit/>
          </a:bodyPr>
          <a:lstStyle/>
          <a:p>
            <a:r>
              <a:rPr lang="en-US" sz="3600" b="1" dirty="0"/>
              <a:t>Inner Join</a:t>
            </a:r>
          </a:p>
        </p:txBody>
      </p:sp>
    </p:spTree>
    <p:extLst>
      <p:ext uri="{BB962C8B-B14F-4D97-AF65-F5344CB8AC3E}">
        <p14:creationId xmlns:p14="http://schemas.microsoft.com/office/powerpoint/2010/main" val="42718958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nvGraphicFramePr>
        <p:xfrm>
          <a:off x="282715" y="2171699"/>
          <a:ext cx="2713935" cy="4358022"/>
        </p:xfrm>
        <a:graphic>
          <a:graphicData uri="http://schemas.openxmlformats.org/drawingml/2006/table">
            <a:tbl>
              <a:tblPr firstRow="1" bandRow="1">
                <a:tableStyleId>{5C22544A-7EE6-4342-B048-85BDC9FD1C3A}</a:tableStyleId>
              </a:tblPr>
              <a:tblGrid>
                <a:gridCol w="904645">
                  <a:extLst>
                    <a:ext uri="{9D8B030D-6E8A-4147-A177-3AD203B41FA5}">
                      <a16:colId xmlns:a16="http://schemas.microsoft.com/office/drawing/2014/main" val="20000"/>
                    </a:ext>
                  </a:extLst>
                </a:gridCol>
                <a:gridCol w="904645">
                  <a:extLst>
                    <a:ext uri="{9D8B030D-6E8A-4147-A177-3AD203B41FA5}">
                      <a16:colId xmlns:a16="http://schemas.microsoft.com/office/drawing/2014/main" val="20001"/>
                    </a:ext>
                  </a:extLst>
                </a:gridCol>
                <a:gridCol w="904645">
                  <a:extLst>
                    <a:ext uri="{9D8B030D-6E8A-4147-A177-3AD203B41FA5}">
                      <a16:colId xmlns:a16="http://schemas.microsoft.com/office/drawing/2014/main" val="20002"/>
                    </a:ext>
                  </a:extLst>
                </a:gridCol>
              </a:tblGrid>
              <a:tr h="726337">
                <a:tc>
                  <a:txBody>
                    <a:bodyPr/>
                    <a:lstStyle/>
                    <a:p>
                      <a:r>
                        <a:rPr lang="en-US" dirty="0"/>
                        <a:t>State</a:t>
                      </a:r>
                    </a:p>
                  </a:txBody>
                  <a:tcPr/>
                </a:tc>
                <a:tc>
                  <a:txBody>
                    <a:bodyPr/>
                    <a:lstStyle/>
                    <a:p>
                      <a:r>
                        <a:rPr lang="en-US" dirty="0"/>
                        <a:t>Year</a:t>
                      </a:r>
                    </a:p>
                  </a:txBody>
                  <a:tcPr/>
                </a:tc>
                <a:tc>
                  <a:txBody>
                    <a:bodyPr/>
                    <a:lstStyle/>
                    <a:p>
                      <a:r>
                        <a:rPr lang="en-US" dirty="0" err="1"/>
                        <a:t>CrimeRate</a:t>
                      </a:r>
                      <a:endParaRPr lang="en-US" dirty="0"/>
                    </a:p>
                  </a:txBody>
                  <a:tcPr/>
                </a:tc>
                <a:extLst>
                  <a:ext uri="{0D108BD9-81ED-4DB2-BD59-A6C34878D82A}">
                    <a16:rowId xmlns:a16="http://schemas.microsoft.com/office/drawing/2014/main" val="10000"/>
                  </a:ext>
                </a:extLst>
              </a:tr>
              <a:tr h="726337">
                <a:tc>
                  <a:txBody>
                    <a:bodyPr/>
                    <a:lstStyle/>
                    <a:p>
                      <a:r>
                        <a:rPr lang="en-US" dirty="0"/>
                        <a:t>CA</a:t>
                      </a:r>
                    </a:p>
                  </a:txBody>
                  <a:tcPr/>
                </a:tc>
                <a:tc>
                  <a:txBody>
                    <a:bodyPr/>
                    <a:lstStyle/>
                    <a:p>
                      <a:r>
                        <a:rPr lang="en-US" dirty="0"/>
                        <a:t>2000</a:t>
                      </a:r>
                    </a:p>
                  </a:txBody>
                  <a:tcPr/>
                </a:tc>
                <a:tc>
                  <a:txBody>
                    <a:bodyPr/>
                    <a:lstStyle/>
                    <a:p>
                      <a:r>
                        <a:rPr lang="en-US" dirty="0"/>
                        <a:t>0.15</a:t>
                      </a:r>
                    </a:p>
                  </a:txBody>
                  <a:tcPr/>
                </a:tc>
                <a:extLst>
                  <a:ext uri="{0D108BD9-81ED-4DB2-BD59-A6C34878D82A}">
                    <a16:rowId xmlns:a16="http://schemas.microsoft.com/office/drawing/2014/main" val="10001"/>
                  </a:ext>
                </a:extLst>
              </a:tr>
              <a:tr h="726337">
                <a:tc>
                  <a:txBody>
                    <a:bodyPr/>
                    <a:lstStyle/>
                    <a:p>
                      <a:r>
                        <a:rPr lang="en-US" dirty="0"/>
                        <a:t>CA</a:t>
                      </a:r>
                    </a:p>
                  </a:txBody>
                  <a:tcPr/>
                </a:tc>
                <a:tc>
                  <a:txBody>
                    <a:bodyPr/>
                    <a:lstStyle/>
                    <a:p>
                      <a:r>
                        <a:rPr lang="en-US" dirty="0"/>
                        <a:t>2001</a:t>
                      </a:r>
                    </a:p>
                  </a:txBody>
                  <a:tcPr/>
                </a:tc>
                <a:tc>
                  <a:txBody>
                    <a:bodyPr/>
                    <a:lstStyle/>
                    <a:p>
                      <a:r>
                        <a:rPr lang="en-US" dirty="0"/>
                        <a:t>0.18</a:t>
                      </a:r>
                    </a:p>
                  </a:txBody>
                  <a:tcPr/>
                </a:tc>
                <a:extLst>
                  <a:ext uri="{0D108BD9-81ED-4DB2-BD59-A6C34878D82A}">
                    <a16:rowId xmlns:a16="http://schemas.microsoft.com/office/drawing/2014/main" val="10002"/>
                  </a:ext>
                </a:extLst>
              </a:tr>
              <a:tr h="726337">
                <a:tc>
                  <a:txBody>
                    <a:bodyPr/>
                    <a:lstStyle/>
                    <a:p>
                      <a:r>
                        <a:rPr lang="en-US" dirty="0"/>
                        <a:t>CA</a:t>
                      </a:r>
                    </a:p>
                  </a:txBody>
                  <a:tcPr/>
                </a:tc>
                <a:tc>
                  <a:txBody>
                    <a:bodyPr/>
                    <a:lstStyle/>
                    <a:p>
                      <a:r>
                        <a:rPr lang="en-US" dirty="0"/>
                        <a:t>2002</a:t>
                      </a:r>
                    </a:p>
                  </a:txBody>
                  <a:tcPr/>
                </a:tc>
                <a:tc>
                  <a:txBody>
                    <a:bodyPr/>
                    <a:lstStyle/>
                    <a:p>
                      <a:r>
                        <a:rPr lang="en-US" dirty="0"/>
                        <a:t>0.16</a:t>
                      </a:r>
                    </a:p>
                  </a:txBody>
                  <a:tcPr/>
                </a:tc>
                <a:extLst>
                  <a:ext uri="{0D108BD9-81ED-4DB2-BD59-A6C34878D82A}">
                    <a16:rowId xmlns:a16="http://schemas.microsoft.com/office/drawing/2014/main" val="587791061"/>
                  </a:ext>
                </a:extLst>
              </a:tr>
              <a:tr h="726337">
                <a:tc>
                  <a:txBody>
                    <a:bodyPr/>
                    <a:lstStyle/>
                    <a:p>
                      <a:r>
                        <a:rPr lang="en-US" dirty="0"/>
                        <a:t>OR</a:t>
                      </a:r>
                    </a:p>
                  </a:txBody>
                  <a:tcPr/>
                </a:tc>
                <a:tc>
                  <a:txBody>
                    <a:bodyPr/>
                    <a:lstStyle/>
                    <a:p>
                      <a:r>
                        <a:rPr lang="en-US" dirty="0"/>
                        <a:t>2000</a:t>
                      </a:r>
                    </a:p>
                  </a:txBody>
                  <a:tcPr/>
                </a:tc>
                <a:tc>
                  <a:txBody>
                    <a:bodyPr/>
                    <a:lstStyle/>
                    <a:p>
                      <a:r>
                        <a:rPr lang="en-US" dirty="0"/>
                        <a:t>0.09</a:t>
                      </a:r>
                    </a:p>
                  </a:txBody>
                  <a:tcPr/>
                </a:tc>
                <a:extLst>
                  <a:ext uri="{0D108BD9-81ED-4DB2-BD59-A6C34878D82A}">
                    <a16:rowId xmlns:a16="http://schemas.microsoft.com/office/drawing/2014/main" val="10003"/>
                  </a:ext>
                </a:extLst>
              </a:tr>
              <a:tr h="726337">
                <a:tc>
                  <a:txBody>
                    <a:bodyPr/>
                    <a:lstStyle/>
                    <a:p>
                      <a:r>
                        <a:rPr lang="en-US" dirty="0"/>
                        <a:t>OR</a:t>
                      </a:r>
                    </a:p>
                  </a:txBody>
                  <a:tcPr/>
                </a:tc>
                <a:tc>
                  <a:txBody>
                    <a:bodyPr/>
                    <a:lstStyle/>
                    <a:p>
                      <a:r>
                        <a:rPr lang="en-US" dirty="0"/>
                        <a:t>2001</a:t>
                      </a:r>
                    </a:p>
                  </a:txBody>
                  <a:tcPr/>
                </a:tc>
                <a:tc>
                  <a:txBody>
                    <a:bodyPr/>
                    <a:lstStyle/>
                    <a:p>
                      <a:r>
                        <a:rPr lang="en-US" dirty="0"/>
                        <a:t>0.10</a:t>
                      </a:r>
                    </a:p>
                  </a:txBody>
                  <a:tcPr/>
                </a:tc>
                <a:extLst>
                  <a:ext uri="{0D108BD9-81ED-4DB2-BD59-A6C34878D82A}">
                    <a16:rowId xmlns:a16="http://schemas.microsoft.com/office/drawing/2014/main" val="10004"/>
                  </a:ext>
                </a:extLst>
              </a:tr>
            </a:tbl>
          </a:graphicData>
        </a:graphic>
      </p:graphicFrame>
      <p:graphicFrame>
        <p:nvGraphicFramePr>
          <p:cNvPr id="5" name="Table 4"/>
          <p:cNvGraphicFramePr>
            <a:graphicFrameLocks noGrp="1"/>
          </p:cNvGraphicFramePr>
          <p:nvPr/>
        </p:nvGraphicFramePr>
        <p:xfrm>
          <a:off x="3421823" y="137490"/>
          <a:ext cx="2713935" cy="4358022"/>
        </p:xfrm>
        <a:graphic>
          <a:graphicData uri="http://schemas.openxmlformats.org/drawingml/2006/table">
            <a:tbl>
              <a:tblPr firstRow="1" bandRow="1">
                <a:tableStyleId>{5C22544A-7EE6-4342-B048-85BDC9FD1C3A}</a:tableStyleId>
              </a:tblPr>
              <a:tblGrid>
                <a:gridCol w="904645">
                  <a:extLst>
                    <a:ext uri="{9D8B030D-6E8A-4147-A177-3AD203B41FA5}">
                      <a16:colId xmlns:a16="http://schemas.microsoft.com/office/drawing/2014/main" val="20000"/>
                    </a:ext>
                  </a:extLst>
                </a:gridCol>
                <a:gridCol w="904645">
                  <a:extLst>
                    <a:ext uri="{9D8B030D-6E8A-4147-A177-3AD203B41FA5}">
                      <a16:colId xmlns:a16="http://schemas.microsoft.com/office/drawing/2014/main" val="20001"/>
                    </a:ext>
                  </a:extLst>
                </a:gridCol>
                <a:gridCol w="904645">
                  <a:extLst>
                    <a:ext uri="{9D8B030D-6E8A-4147-A177-3AD203B41FA5}">
                      <a16:colId xmlns:a16="http://schemas.microsoft.com/office/drawing/2014/main" val="20002"/>
                    </a:ext>
                  </a:extLst>
                </a:gridCol>
              </a:tblGrid>
              <a:tr h="726337">
                <a:tc>
                  <a:txBody>
                    <a:bodyPr/>
                    <a:lstStyle/>
                    <a:p>
                      <a:r>
                        <a:rPr lang="en-US" dirty="0"/>
                        <a:t>State</a:t>
                      </a:r>
                    </a:p>
                  </a:txBody>
                  <a:tcPr/>
                </a:tc>
                <a:tc>
                  <a:txBody>
                    <a:bodyPr/>
                    <a:lstStyle/>
                    <a:p>
                      <a:r>
                        <a:rPr lang="en-US" dirty="0"/>
                        <a:t>Year</a:t>
                      </a:r>
                    </a:p>
                  </a:txBody>
                  <a:tcPr/>
                </a:tc>
                <a:tc>
                  <a:txBody>
                    <a:bodyPr/>
                    <a:lstStyle/>
                    <a:p>
                      <a:r>
                        <a:rPr lang="en-US" dirty="0"/>
                        <a:t>Drug Use</a:t>
                      </a:r>
                    </a:p>
                  </a:txBody>
                  <a:tcPr/>
                </a:tc>
                <a:extLst>
                  <a:ext uri="{0D108BD9-81ED-4DB2-BD59-A6C34878D82A}">
                    <a16:rowId xmlns:a16="http://schemas.microsoft.com/office/drawing/2014/main" val="10000"/>
                  </a:ext>
                </a:extLst>
              </a:tr>
              <a:tr h="726337">
                <a:tc>
                  <a:txBody>
                    <a:bodyPr/>
                    <a:lstStyle/>
                    <a:p>
                      <a:r>
                        <a:rPr lang="en-US" dirty="0"/>
                        <a:t>CA</a:t>
                      </a:r>
                    </a:p>
                  </a:txBody>
                  <a:tcPr/>
                </a:tc>
                <a:tc>
                  <a:txBody>
                    <a:bodyPr/>
                    <a:lstStyle/>
                    <a:p>
                      <a:r>
                        <a:rPr lang="en-US" dirty="0"/>
                        <a:t>2000</a:t>
                      </a:r>
                    </a:p>
                  </a:txBody>
                  <a:tcPr/>
                </a:tc>
                <a:tc>
                  <a:txBody>
                    <a:bodyPr/>
                    <a:lstStyle/>
                    <a:p>
                      <a:r>
                        <a:rPr lang="en-US" dirty="0"/>
                        <a:t>12</a:t>
                      </a:r>
                    </a:p>
                  </a:txBody>
                  <a:tcPr/>
                </a:tc>
                <a:extLst>
                  <a:ext uri="{0D108BD9-81ED-4DB2-BD59-A6C34878D82A}">
                    <a16:rowId xmlns:a16="http://schemas.microsoft.com/office/drawing/2014/main" val="10001"/>
                  </a:ext>
                </a:extLst>
              </a:tr>
              <a:tr h="726337">
                <a:tc>
                  <a:txBody>
                    <a:bodyPr/>
                    <a:lstStyle/>
                    <a:p>
                      <a:r>
                        <a:rPr lang="en-US" dirty="0"/>
                        <a:t>CA</a:t>
                      </a:r>
                    </a:p>
                  </a:txBody>
                  <a:tcPr/>
                </a:tc>
                <a:tc>
                  <a:txBody>
                    <a:bodyPr/>
                    <a:lstStyle/>
                    <a:p>
                      <a:r>
                        <a:rPr lang="en-US" dirty="0"/>
                        <a:t>2001</a:t>
                      </a:r>
                    </a:p>
                  </a:txBody>
                  <a:tcPr/>
                </a:tc>
                <a:tc>
                  <a:txBody>
                    <a:bodyPr/>
                    <a:lstStyle/>
                    <a:p>
                      <a:r>
                        <a:rPr lang="en-US" dirty="0"/>
                        <a:t>11</a:t>
                      </a:r>
                    </a:p>
                  </a:txBody>
                  <a:tcPr/>
                </a:tc>
                <a:extLst>
                  <a:ext uri="{0D108BD9-81ED-4DB2-BD59-A6C34878D82A}">
                    <a16:rowId xmlns:a16="http://schemas.microsoft.com/office/drawing/2014/main" val="10002"/>
                  </a:ext>
                </a:extLst>
              </a:tr>
              <a:tr h="726337">
                <a:tc>
                  <a:txBody>
                    <a:bodyPr/>
                    <a:lstStyle/>
                    <a:p>
                      <a:r>
                        <a:rPr lang="en-US" dirty="0"/>
                        <a:t>OR</a:t>
                      </a:r>
                    </a:p>
                  </a:txBody>
                  <a:tcPr/>
                </a:tc>
                <a:tc>
                  <a:txBody>
                    <a:bodyPr/>
                    <a:lstStyle/>
                    <a:p>
                      <a:r>
                        <a:rPr lang="en-US" dirty="0"/>
                        <a:t>2000</a:t>
                      </a:r>
                    </a:p>
                  </a:txBody>
                  <a:tcPr/>
                </a:tc>
                <a:tc>
                  <a:txBody>
                    <a:bodyPr/>
                    <a:lstStyle/>
                    <a:p>
                      <a:r>
                        <a:rPr lang="en-US" dirty="0"/>
                        <a:t>14</a:t>
                      </a:r>
                    </a:p>
                  </a:txBody>
                  <a:tcPr/>
                </a:tc>
                <a:extLst>
                  <a:ext uri="{0D108BD9-81ED-4DB2-BD59-A6C34878D82A}">
                    <a16:rowId xmlns:a16="http://schemas.microsoft.com/office/drawing/2014/main" val="10003"/>
                  </a:ext>
                </a:extLst>
              </a:tr>
              <a:tr h="726337">
                <a:tc>
                  <a:txBody>
                    <a:bodyPr/>
                    <a:lstStyle/>
                    <a:p>
                      <a:r>
                        <a:rPr lang="en-US" dirty="0"/>
                        <a:t>OR</a:t>
                      </a:r>
                    </a:p>
                  </a:txBody>
                  <a:tcPr/>
                </a:tc>
                <a:tc>
                  <a:txBody>
                    <a:bodyPr/>
                    <a:lstStyle/>
                    <a:p>
                      <a:r>
                        <a:rPr lang="en-US" dirty="0"/>
                        <a:t>2001</a:t>
                      </a:r>
                    </a:p>
                  </a:txBody>
                  <a:tcPr/>
                </a:tc>
                <a:tc>
                  <a:txBody>
                    <a:bodyPr/>
                    <a:lstStyle/>
                    <a:p>
                      <a:r>
                        <a:rPr lang="en-US" dirty="0"/>
                        <a:t>16</a:t>
                      </a:r>
                    </a:p>
                  </a:txBody>
                  <a:tcPr/>
                </a:tc>
                <a:extLst>
                  <a:ext uri="{0D108BD9-81ED-4DB2-BD59-A6C34878D82A}">
                    <a16:rowId xmlns:a16="http://schemas.microsoft.com/office/drawing/2014/main" val="10004"/>
                  </a:ext>
                </a:extLst>
              </a:tr>
              <a:tr h="726337">
                <a:tc>
                  <a:txBody>
                    <a:bodyPr/>
                    <a:lstStyle/>
                    <a:p>
                      <a:r>
                        <a:rPr lang="en-US" dirty="0"/>
                        <a:t>OR </a:t>
                      </a:r>
                    </a:p>
                  </a:txBody>
                  <a:tcPr/>
                </a:tc>
                <a:tc>
                  <a:txBody>
                    <a:bodyPr/>
                    <a:lstStyle/>
                    <a:p>
                      <a:r>
                        <a:rPr lang="en-US" dirty="0"/>
                        <a:t>2002</a:t>
                      </a:r>
                    </a:p>
                  </a:txBody>
                  <a:tcPr/>
                </a:tc>
                <a:tc>
                  <a:txBody>
                    <a:bodyPr/>
                    <a:lstStyle/>
                    <a:p>
                      <a:r>
                        <a:rPr lang="en-US" dirty="0"/>
                        <a:t>15</a:t>
                      </a:r>
                    </a:p>
                  </a:txBody>
                  <a:tcPr/>
                </a:tc>
                <a:extLst>
                  <a:ext uri="{0D108BD9-81ED-4DB2-BD59-A6C34878D82A}">
                    <a16:rowId xmlns:a16="http://schemas.microsoft.com/office/drawing/2014/main" val="5424316"/>
                  </a:ext>
                </a:extLst>
              </a:tr>
            </a:tbl>
          </a:graphicData>
        </a:graphic>
      </p:graphicFrame>
      <p:graphicFrame>
        <p:nvGraphicFramePr>
          <p:cNvPr id="6" name="Table 5"/>
          <p:cNvGraphicFramePr>
            <a:graphicFrameLocks noGrp="1"/>
          </p:cNvGraphicFramePr>
          <p:nvPr/>
        </p:nvGraphicFramePr>
        <p:xfrm>
          <a:off x="6735488" y="1500188"/>
          <a:ext cx="4352236" cy="5246185"/>
        </p:xfrm>
        <a:graphic>
          <a:graphicData uri="http://schemas.openxmlformats.org/drawingml/2006/table">
            <a:tbl>
              <a:tblPr firstRow="1" bandRow="1">
                <a:tableStyleId>{5C22544A-7EE6-4342-B048-85BDC9FD1C3A}</a:tableStyleId>
              </a:tblPr>
              <a:tblGrid>
                <a:gridCol w="1088059">
                  <a:extLst>
                    <a:ext uri="{9D8B030D-6E8A-4147-A177-3AD203B41FA5}">
                      <a16:colId xmlns:a16="http://schemas.microsoft.com/office/drawing/2014/main" val="20000"/>
                    </a:ext>
                  </a:extLst>
                </a:gridCol>
                <a:gridCol w="1088059">
                  <a:extLst>
                    <a:ext uri="{9D8B030D-6E8A-4147-A177-3AD203B41FA5}">
                      <a16:colId xmlns:a16="http://schemas.microsoft.com/office/drawing/2014/main" val="20001"/>
                    </a:ext>
                  </a:extLst>
                </a:gridCol>
                <a:gridCol w="1088059">
                  <a:extLst>
                    <a:ext uri="{9D8B030D-6E8A-4147-A177-3AD203B41FA5}">
                      <a16:colId xmlns:a16="http://schemas.microsoft.com/office/drawing/2014/main" val="20002"/>
                    </a:ext>
                  </a:extLst>
                </a:gridCol>
                <a:gridCol w="1088059">
                  <a:extLst>
                    <a:ext uri="{9D8B030D-6E8A-4147-A177-3AD203B41FA5}">
                      <a16:colId xmlns:a16="http://schemas.microsoft.com/office/drawing/2014/main" val="20003"/>
                    </a:ext>
                  </a:extLst>
                </a:gridCol>
              </a:tblGrid>
              <a:tr h="701719">
                <a:tc>
                  <a:txBody>
                    <a:bodyPr/>
                    <a:lstStyle/>
                    <a:p>
                      <a:r>
                        <a:rPr lang="en-US" dirty="0"/>
                        <a:t>State</a:t>
                      </a:r>
                    </a:p>
                  </a:txBody>
                  <a:tcPr/>
                </a:tc>
                <a:tc>
                  <a:txBody>
                    <a:bodyPr/>
                    <a:lstStyle/>
                    <a:p>
                      <a:r>
                        <a:rPr lang="en-US" dirty="0"/>
                        <a:t>Year</a:t>
                      </a:r>
                    </a:p>
                  </a:txBody>
                  <a:tcPr/>
                </a:tc>
                <a:tc>
                  <a:txBody>
                    <a:bodyPr/>
                    <a:lstStyle/>
                    <a:p>
                      <a:r>
                        <a:rPr lang="en-US" dirty="0" err="1"/>
                        <a:t>CrimeRate</a:t>
                      </a:r>
                      <a:endParaRPr lang="en-US" dirty="0"/>
                    </a:p>
                  </a:txBody>
                  <a:tcPr/>
                </a:tc>
                <a:tc>
                  <a:txBody>
                    <a:bodyPr/>
                    <a:lstStyle/>
                    <a:p>
                      <a:r>
                        <a:rPr lang="en-US" dirty="0"/>
                        <a:t>Drug Use</a:t>
                      </a:r>
                    </a:p>
                  </a:txBody>
                  <a:tcPr/>
                </a:tc>
                <a:extLst>
                  <a:ext uri="{0D108BD9-81ED-4DB2-BD59-A6C34878D82A}">
                    <a16:rowId xmlns:a16="http://schemas.microsoft.com/office/drawing/2014/main" val="10000"/>
                  </a:ext>
                </a:extLst>
              </a:tr>
              <a:tr h="757411">
                <a:tc>
                  <a:txBody>
                    <a:bodyPr/>
                    <a:lstStyle/>
                    <a:p>
                      <a:r>
                        <a:rPr lang="en-US" dirty="0"/>
                        <a:t>CA</a:t>
                      </a:r>
                    </a:p>
                  </a:txBody>
                  <a:tcPr/>
                </a:tc>
                <a:tc>
                  <a:txBody>
                    <a:bodyPr/>
                    <a:lstStyle/>
                    <a:p>
                      <a:r>
                        <a:rPr lang="en-US" dirty="0"/>
                        <a:t>2000</a:t>
                      </a:r>
                    </a:p>
                  </a:txBody>
                  <a:tcPr/>
                </a:tc>
                <a:tc>
                  <a:txBody>
                    <a:bodyPr/>
                    <a:lstStyle/>
                    <a:p>
                      <a:r>
                        <a:rPr lang="en-US" dirty="0"/>
                        <a:t>0.15</a:t>
                      </a:r>
                    </a:p>
                  </a:txBody>
                  <a:tcPr/>
                </a:tc>
                <a:tc>
                  <a:txBody>
                    <a:bodyPr/>
                    <a:lstStyle/>
                    <a:p>
                      <a:r>
                        <a:rPr lang="en-US" dirty="0"/>
                        <a:t>12</a:t>
                      </a:r>
                    </a:p>
                  </a:txBody>
                  <a:tcPr/>
                </a:tc>
                <a:extLst>
                  <a:ext uri="{0D108BD9-81ED-4DB2-BD59-A6C34878D82A}">
                    <a16:rowId xmlns:a16="http://schemas.microsoft.com/office/drawing/2014/main" val="10001"/>
                  </a:ext>
                </a:extLst>
              </a:tr>
              <a:tr h="757411">
                <a:tc>
                  <a:txBody>
                    <a:bodyPr/>
                    <a:lstStyle/>
                    <a:p>
                      <a:r>
                        <a:rPr lang="en-US" dirty="0"/>
                        <a:t>CA</a:t>
                      </a:r>
                    </a:p>
                  </a:txBody>
                  <a:tcPr/>
                </a:tc>
                <a:tc>
                  <a:txBody>
                    <a:bodyPr/>
                    <a:lstStyle/>
                    <a:p>
                      <a:r>
                        <a:rPr lang="en-US" dirty="0"/>
                        <a:t>2001</a:t>
                      </a:r>
                    </a:p>
                  </a:txBody>
                  <a:tcPr/>
                </a:tc>
                <a:tc>
                  <a:txBody>
                    <a:bodyPr/>
                    <a:lstStyle/>
                    <a:p>
                      <a:r>
                        <a:rPr lang="en-US" dirty="0"/>
                        <a:t>0.18</a:t>
                      </a:r>
                    </a:p>
                  </a:txBody>
                  <a:tcPr/>
                </a:tc>
                <a:tc>
                  <a:txBody>
                    <a:bodyPr/>
                    <a:lstStyle/>
                    <a:p>
                      <a:r>
                        <a:rPr lang="en-US" dirty="0"/>
                        <a:t>11</a:t>
                      </a:r>
                    </a:p>
                  </a:txBody>
                  <a:tcPr/>
                </a:tc>
                <a:extLst>
                  <a:ext uri="{0D108BD9-81ED-4DB2-BD59-A6C34878D82A}">
                    <a16:rowId xmlns:a16="http://schemas.microsoft.com/office/drawing/2014/main" val="10002"/>
                  </a:ext>
                </a:extLst>
              </a:tr>
              <a:tr h="757411">
                <a:tc>
                  <a:txBody>
                    <a:bodyPr/>
                    <a:lstStyle/>
                    <a:p>
                      <a:r>
                        <a:rPr lang="en-US" dirty="0"/>
                        <a:t>CA</a:t>
                      </a:r>
                    </a:p>
                  </a:txBody>
                  <a:tcPr/>
                </a:tc>
                <a:tc>
                  <a:txBody>
                    <a:bodyPr/>
                    <a:lstStyle/>
                    <a:p>
                      <a:r>
                        <a:rPr lang="en-US" dirty="0"/>
                        <a:t>2002</a:t>
                      </a:r>
                    </a:p>
                  </a:txBody>
                  <a:tcPr/>
                </a:tc>
                <a:tc>
                  <a:txBody>
                    <a:bodyPr/>
                    <a:lstStyle/>
                    <a:p>
                      <a:r>
                        <a:rPr lang="en-US" dirty="0"/>
                        <a:t>0.16</a:t>
                      </a:r>
                    </a:p>
                  </a:txBody>
                  <a:tcPr/>
                </a:tc>
                <a:tc>
                  <a:txBody>
                    <a:bodyPr/>
                    <a:lstStyle/>
                    <a:p>
                      <a:r>
                        <a:rPr lang="en-US" dirty="0"/>
                        <a:t>nan</a:t>
                      </a:r>
                    </a:p>
                  </a:txBody>
                  <a:tcPr/>
                </a:tc>
                <a:extLst>
                  <a:ext uri="{0D108BD9-81ED-4DB2-BD59-A6C34878D82A}">
                    <a16:rowId xmlns:a16="http://schemas.microsoft.com/office/drawing/2014/main" val="252375462"/>
                  </a:ext>
                </a:extLst>
              </a:tr>
              <a:tr h="757411">
                <a:tc>
                  <a:txBody>
                    <a:bodyPr/>
                    <a:lstStyle/>
                    <a:p>
                      <a:r>
                        <a:rPr lang="en-US" dirty="0"/>
                        <a:t>OR</a:t>
                      </a:r>
                    </a:p>
                  </a:txBody>
                  <a:tcPr/>
                </a:tc>
                <a:tc>
                  <a:txBody>
                    <a:bodyPr/>
                    <a:lstStyle/>
                    <a:p>
                      <a:r>
                        <a:rPr lang="en-US" dirty="0"/>
                        <a:t>2000</a:t>
                      </a:r>
                    </a:p>
                  </a:txBody>
                  <a:tcPr/>
                </a:tc>
                <a:tc>
                  <a:txBody>
                    <a:bodyPr/>
                    <a:lstStyle/>
                    <a:p>
                      <a:r>
                        <a:rPr lang="en-US" dirty="0"/>
                        <a:t>0.09</a:t>
                      </a:r>
                    </a:p>
                  </a:txBody>
                  <a:tcPr/>
                </a:tc>
                <a:tc>
                  <a:txBody>
                    <a:bodyPr/>
                    <a:lstStyle/>
                    <a:p>
                      <a:r>
                        <a:rPr lang="en-US" dirty="0"/>
                        <a:t>14</a:t>
                      </a:r>
                    </a:p>
                  </a:txBody>
                  <a:tcPr/>
                </a:tc>
                <a:extLst>
                  <a:ext uri="{0D108BD9-81ED-4DB2-BD59-A6C34878D82A}">
                    <a16:rowId xmlns:a16="http://schemas.microsoft.com/office/drawing/2014/main" val="10003"/>
                  </a:ext>
                </a:extLst>
              </a:tr>
              <a:tr h="757411">
                <a:tc>
                  <a:txBody>
                    <a:bodyPr/>
                    <a:lstStyle/>
                    <a:p>
                      <a:r>
                        <a:rPr lang="en-US" dirty="0"/>
                        <a:t>OR</a:t>
                      </a:r>
                    </a:p>
                  </a:txBody>
                  <a:tcPr/>
                </a:tc>
                <a:tc>
                  <a:txBody>
                    <a:bodyPr/>
                    <a:lstStyle/>
                    <a:p>
                      <a:r>
                        <a:rPr lang="en-US" dirty="0"/>
                        <a:t>2001</a:t>
                      </a:r>
                    </a:p>
                  </a:txBody>
                  <a:tcPr/>
                </a:tc>
                <a:tc>
                  <a:txBody>
                    <a:bodyPr/>
                    <a:lstStyle/>
                    <a:p>
                      <a:r>
                        <a:rPr lang="en-US" dirty="0"/>
                        <a:t>0.10</a:t>
                      </a:r>
                    </a:p>
                  </a:txBody>
                  <a:tcPr/>
                </a:tc>
                <a:tc>
                  <a:txBody>
                    <a:bodyPr/>
                    <a:lstStyle/>
                    <a:p>
                      <a:r>
                        <a:rPr lang="en-US" dirty="0"/>
                        <a:t>16</a:t>
                      </a:r>
                    </a:p>
                  </a:txBody>
                  <a:tcPr/>
                </a:tc>
                <a:extLst>
                  <a:ext uri="{0D108BD9-81ED-4DB2-BD59-A6C34878D82A}">
                    <a16:rowId xmlns:a16="http://schemas.microsoft.com/office/drawing/2014/main" val="10004"/>
                  </a:ext>
                </a:extLst>
              </a:tr>
              <a:tr h="757411">
                <a:tc>
                  <a:txBody>
                    <a:bodyPr/>
                    <a:lstStyle/>
                    <a:p>
                      <a:r>
                        <a:rPr lang="en-US" dirty="0"/>
                        <a:t>OR</a:t>
                      </a:r>
                    </a:p>
                  </a:txBody>
                  <a:tcPr/>
                </a:tc>
                <a:tc>
                  <a:txBody>
                    <a:bodyPr/>
                    <a:lstStyle/>
                    <a:p>
                      <a:r>
                        <a:rPr lang="en-US" dirty="0"/>
                        <a:t>2002</a:t>
                      </a:r>
                    </a:p>
                  </a:txBody>
                  <a:tcPr/>
                </a:tc>
                <a:tc>
                  <a:txBody>
                    <a:bodyPr/>
                    <a:lstStyle/>
                    <a:p>
                      <a:r>
                        <a:rPr lang="en-US" dirty="0"/>
                        <a:t>nan</a:t>
                      </a:r>
                    </a:p>
                  </a:txBody>
                  <a:tcPr/>
                </a:tc>
                <a:tc>
                  <a:txBody>
                    <a:bodyPr/>
                    <a:lstStyle/>
                    <a:p>
                      <a:r>
                        <a:rPr lang="en-US" dirty="0"/>
                        <a:t>15</a:t>
                      </a:r>
                    </a:p>
                  </a:txBody>
                  <a:tcPr/>
                </a:tc>
                <a:extLst>
                  <a:ext uri="{0D108BD9-81ED-4DB2-BD59-A6C34878D82A}">
                    <a16:rowId xmlns:a16="http://schemas.microsoft.com/office/drawing/2014/main" val="322671723"/>
                  </a:ext>
                </a:extLst>
              </a:tr>
            </a:tbl>
          </a:graphicData>
        </a:graphic>
      </p:graphicFrame>
      <p:sp>
        <p:nvSpPr>
          <p:cNvPr id="2" name="TextBox 1">
            <a:extLst>
              <a:ext uri="{FF2B5EF4-FFF2-40B4-BE49-F238E27FC236}">
                <a16:creationId xmlns:a16="http://schemas.microsoft.com/office/drawing/2014/main" id="{BDE957B5-73B3-44AD-BCFE-4990E52FE9CB}"/>
              </a:ext>
            </a:extLst>
          </p:cNvPr>
          <p:cNvSpPr txBox="1"/>
          <p:nvPr/>
        </p:nvSpPr>
        <p:spPr>
          <a:xfrm>
            <a:off x="282715" y="385763"/>
            <a:ext cx="2974835" cy="646331"/>
          </a:xfrm>
          <a:prstGeom prst="rect">
            <a:avLst/>
          </a:prstGeom>
          <a:noFill/>
        </p:spPr>
        <p:txBody>
          <a:bodyPr wrap="square" rtlCol="0">
            <a:spAutoFit/>
          </a:bodyPr>
          <a:lstStyle/>
          <a:p>
            <a:r>
              <a:rPr lang="en-US" sz="3600" b="1" dirty="0"/>
              <a:t>Outer Join</a:t>
            </a:r>
          </a:p>
        </p:txBody>
      </p:sp>
    </p:spTree>
    <p:extLst>
      <p:ext uri="{BB962C8B-B14F-4D97-AF65-F5344CB8AC3E}">
        <p14:creationId xmlns:p14="http://schemas.microsoft.com/office/powerpoint/2010/main" val="16649801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nvGraphicFramePr>
        <p:xfrm>
          <a:off x="282715" y="2171699"/>
          <a:ext cx="2713935" cy="4358022"/>
        </p:xfrm>
        <a:graphic>
          <a:graphicData uri="http://schemas.openxmlformats.org/drawingml/2006/table">
            <a:tbl>
              <a:tblPr firstRow="1" bandRow="1">
                <a:tableStyleId>{5C22544A-7EE6-4342-B048-85BDC9FD1C3A}</a:tableStyleId>
              </a:tblPr>
              <a:tblGrid>
                <a:gridCol w="904645">
                  <a:extLst>
                    <a:ext uri="{9D8B030D-6E8A-4147-A177-3AD203B41FA5}">
                      <a16:colId xmlns:a16="http://schemas.microsoft.com/office/drawing/2014/main" val="20000"/>
                    </a:ext>
                  </a:extLst>
                </a:gridCol>
                <a:gridCol w="904645">
                  <a:extLst>
                    <a:ext uri="{9D8B030D-6E8A-4147-A177-3AD203B41FA5}">
                      <a16:colId xmlns:a16="http://schemas.microsoft.com/office/drawing/2014/main" val="20001"/>
                    </a:ext>
                  </a:extLst>
                </a:gridCol>
                <a:gridCol w="904645">
                  <a:extLst>
                    <a:ext uri="{9D8B030D-6E8A-4147-A177-3AD203B41FA5}">
                      <a16:colId xmlns:a16="http://schemas.microsoft.com/office/drawing/2014/main" val="20002"/>
                    </a:ext>
                  </a:extLst>
                </a:gridCol>
              </a:tblGrid>
              <a:tr h="726337">
                <a:tc>
                  <a:txBody>
                    <a:bodyPr/>
                    <a:lstStyle/>
                    <a:p>
                      <a:r>
                        <a:rPr lang="en-US" dirty="0"/>
                        <a:t>State</a:t>
                      </a:r>
                    </a:p>
                  </a:txBody>
                  <a:tcPr/>
                </a:tc>
                <a:tc>
                  <a:txBody>
                    <a:bodyPr/>
                    <a:lstStyle/>
                    <a:p>
                      <a:r>
                        <a:rPr lang="en-US" dirty="0"/>
                        <a:t>Year</a:t>
                      </a:r>
                    </a:p>
                  </a:txBody>
                  <a:tcPr/>
                </a:tc>
                <a:tc>
                  <a:txBody>
                    <a:bodyPr/>
                    <a:lstStyle/>
                    <a:p>
                      <a:r>
                        <a:rPr lang="en-US" dirty="0" err="1"/>
                        <a:t>CrimeRate</a:t>
                      </a:r>
                      <a:endParaRPr lang="en-US" dirty="0"/>
                    </a:p>
                  </a:txBody>
                  <a:tcPr/>
                </a:tc>
                <a:extLst>
                  <a:ext uri="{0D108BD9-81ED-4DB2-BD59-A6C34878D82A}">
                    <a16:rowId xmlns:a16="http://schemas.microsoft.com/office/drawing/2014/main" val="10000"/>
                  </a:ext>
                </a:extLst>
              </a:tr>
              <a:tr h="726337">
                <a:tc>
                  <a:txBody>
                    <a:bodyPr/>
                    <a:lstStyle/>
                    <a:p>
                      <a:r>
                        <a:rPr lang="en-US" dirty="0"/>
                        <a:t>CA</a:t>
                      </a:r>
                    </a:p>
                  </a:txBody>
                  <a:tcPr/>
                </a:tc>
                <a:tc>
                  <a:txBody>
                    <a:bodyPr/>
                    <a:lstStyle/>
                    <a:p>
                      <a:r>
                        <a:rPr lang="en-US" dirty="0"/>
                        <a:t>2000</a:t>
                      </a:r>
                    </a:p>
                  </a:txBody>
                  <a:tcPr/>
                </a:tc>
                <a:tc>
                  <a:txBody>
                    <a:bodyPr/>
                    <a:lstStyle/>
                    <a:p>
                      <a:r>
                        <a:rPr lang="en-US" dirty="0"/>
                        <a:t>0.15</a:t>
                      </a:r>
                    </a:p>
                  </a:txBody>
                  <a:tcPr/>
                </a:tc>
                <a:extLst>
                  <a:ext uri="{0D108BD9-81ED-4DB2-BD59-A6C34878D82A}">
                    <a16:rowId xmlns:a16="http://schemas.microsoft.com/office/drawing/2014/main" val="10001"/>
                  </a:ext>
                </a:extLst>
              </a:tr>
              <a:tr h="726337">
                <a:tc>
                  <a:txBody>
                    <a:bodyPr/>
                    <a:lstStyle/>
                    <a:p>
                      <a:r>
                        <a:rPr lang="en-US" dirty="0"/>
                        <a:t>CA</a:t>
                      </a:r>
                    </a:p>
                  </a:txBody>
                  <a:tcPr/>
                </a:tc>
                <a:tc>
                  <a:txBody>
                    <a:bodyPr/>
                    <a:lstStyle/>
                    <a:p>
                      <a:r>
                        <a:rPr lang="en-US" dirty="0"/>
                        <a:t>2001</a:t>
                      </a:r>
                    </a:p>
                  </a:txBody>
                  <a:tcPr/>
                </a:tc>
                <a:tc>
                  <a:txBody>
                    <a:bodyPr/>
                    <a:lstStyle/>
                    <a:p>
                      <a:r>
                        <a:rPr lang="en-US" dirty="0"/>
                        <a:t>0.18</a:t>
                      </a:r>
                    </a:p>
                  </a:txBody>
                  <a:tcPr/>
                </a:tc>
                <a:extLst>
                  <a:ext uri="{0D108BD9-81ED-4DB2-BD59-A6C34878D82A}">
                    <a16:rowId xmlns:a16="http://schemas.microsoft.com/office/drawing/2014/main" val="10002"/>
                  </a:ext>
                </a:extLst>
              </a:tr>
              <a:tr h="726337">
                <a:tc>
                  <a:txBody>
                    <a:bodyPr/>
                    <a:lstStyle/>
                    <a:p>
                      <a:r>
                        <a:rPr lang="en-US" dirty="0"/>
                        <a:t>CA</a:t>
                      </a:r>
                    </a:p>
                  </a:txBody>
                  <a:tcPr/>
                </a:tc>
                <a:tc>
                  <a:txBody>
                    <a:bodyPr/>
                    <a:lstStyle/>
                    <a:p>
                      <a:r>
                        <a:rPr lang="en-US" dirty="0"/>
                        <a:t>2002</a:t>
                      </a:r>
                    </a:p>
                  </a:txBody>
                  <a:tcPr/>
                </a:tc>
                <a:tc>
                  <a:txBody>
                    <a:bodyPr/>
                    <a:lstStyle/>
                    <a:p>
                      <a:r>
                        <a:rPr lang="en-US" dirty="0"/>
                        <a:t>0.16</a:t>
                      </a:r>
                    </a:p>
                  </a:txBody>
                  <a:tcPr/>
                </a:tc>
                <a:extLst>
                  <a:ext uri="{0D108BD9-81ED-4DB2-BD59-A6C34878D82A}">
                    <a16:rowId xmlns:a16="http://schemas.microsoft.com/office/drawing/2014/main" val="587791061"/>
                  </a:ext>
                </a:extLst>
              </a:tr>
              <a:tr h="726337">
                <a:tc>
                  <a:txBody>
                    <a:bodyPr/>
                    <a:lstStyle/>
                    <a:p>
                      <a:r>
                        <a:rPr lang="en-US" dirty="0"/>
                        <a:t>OR</a:t>
                      </a:r>
                    </a:p>
                  </a:txBody>
                  <a:tcPr/>
                </a:tc>
                <a:tc>
                  <a:txBody>
                    <a:bodyPr/>
                    <a:lstStyle/>
                    <a:p>
                      <a:r>
                        <a:rPr lang="en-US" dirty="0"/>
                        <a:t>2000</a:t>
                      </a:r>
                    </a:p>
                  </a:txBody>
                  <a:tcPr/>
                </a:tc>
                <a:tc>
                  <a:txBody>
                    <a:bodyPr/>
                    <a:lstStyle/>
                    <a:p>
                      <a:r>
                        <a:rPr lang="en-US" dirty="0"/>
                        <a:t>0.09</a:t>
                      </a:r>
                    </a:p>
                  </a:txBody>
                  <a:tcPr/>
                </a:tc>
                <a:extLst>
                  <a:ext uri="{0D108BD9-81ED-4DB2-BD59-A6C34878D82A}">
                    <a16:rowId xmlns:a16="http://schemas.microsoft.com/office/drawing/2014/main" val="10003"/>
                  </a:ext>
                </a:extLst>
              </a:tr>
              <a:tr h="726337">
                <a:tc>
                  <a:txBody>
                    <a:bodyPr/>
                    <a:lstStyle/>
                    <a:p>
                      <a:r>
                        <a:rPr lang="en-US" dirty="0"/>
                        <a:t>OR</a:t>
                      </a:r>
                    </a:p>
                  </a:txBody>
                  <a:tcPr/>
                </a:tc>
                <a:tc>
                  <a:txBody>
                    <a:bodyPr/>
                    <a:lstStyle/>
                    <a:p>
                      <a:r>
                        <a:rPr lang="en-US" dirty="0"/>
                        <a:t>2001</a:t>
                      </a:r>
                    </a:p>
                  </a:txBody>
                  <a:tcPr/>
                </a:tc>
                <a:tc>
                  <a:txBody>
                    <a:bodyPr/>
                    <a:lstStyle/>
                    <a:p>
                      <a:r>
                        <a:rPr lang="en-US" dirty="0"/>
                        <a:t>0.10</a:t>
                      </a:r>
                    </a:p>
                  </a:txBody>
                  <a:tcPr/>
                </a:tc>
                <a:extLst>
                  <a:ext uri="{0D108BD9-81ED-4DB2-BD59-A6C34878D82A}">
                    <a16:rowId xmlns:a16="http://schemas.microsoft.com/office/drawing/2014/main" val="10004"/>
                  </a:ext>
                </a:extLst>
              </a:tr>
            </a:tbl>
          </a:graphicData>
        </a:graphic>
      </p:graphicFrame>
      <p:graphicFrame>
        <p:nvGraphicFramePr>
          <p:cNvPr id="5" name="Table 4"/>
          <p:cNvGraphicFramePr>
            <a:graphicFrameLocks noGrp="1"/>
          </p:cNvGraphicFramePr>
          <p:nvPr/>
        </p:nvGraphicFramePr>
        <p:xfrm>
          <a:off x="3421823" y="137490"/>
          <a:ext cx="2713935" cy="4358022"/>
        </p:xfrm>
        <a:graphic>
          <a:graphicData uri="http://schemas.openxmlformats.org/drawingml/2006/table">
            <a:tbl>
              <a:tblPr firstRow="1" bandRow="1">
                <a:tableStyleId>{5C22544A-7EE6-4342-B048-85BDC9FD1C3A}</a:tableStyleId>
              </a:tblPr>
              <a:tblGrid>
                <a:gridCol w="904645">
                  <a:extLst>
                    <a:ext uri="{9D8B030D-6E8A-4147-A177-3AD203B41FA5}">
                      <a16:colId xmlns:a16="http://schemas.microsoft.com/office/drawing/2014/main" val="20000"/>
                    </a:ext>
                  </a:extLst>
                </a:gridCol>
                <a:gridCol w="904645">
                  <a:extLst>
                    <a:ext uri="{9D8B030D-6E8A-4147-A177-3AD203B41FA5}">
                      <a16:colId xmlns:a16="http://schemas.microsoft.com/office/drawing/2014/main" val="20001"/>
                    </a:ext>
                  </a:extLst>
                </a:gridCol>
                <a:gridCol w="904645">
                  <a:extLst>
                    <a:ext uri="{9D8B030D-6E8A-4147-A177-3AD203B41FA5}">
                      <a16:colId xmlns:a16="http://schemas.microsoft.com/office/drawing/2014/main" val="20002"/>
                    </a:ext>
                  </a:extLst>
                </a:gridCol>
              </a:tblGrid>
              <a:tr h="726337">
                <a:tc>
                  <a:txBody>
                    <a:bodyPr/>
                    <a:lstStyle/>
                    <a:p>
                      <a:r>
                        <a:rPr lang="en-US" dirty="0"/>
                        <a:t>State</a:t>
                      </a:r>
                    </a:p>
                  </a:txBody>
                  <a:tcPr/>
                </a:tc>
                <a:tc>
                  <a:txBody>
                    <a:bodyPr/>
                    <a:lstStyle/>
                    <a:p>
                      <a:r>
                        <a:rPr lang="en-US" dirty="0"/>
                        <a:t>Year</a:t>
                      </a:r>
                    </a:p>
                  </a:txBody>
                  <a:tcPr/>
                </a:tc>
                <a:tc>
                  <a:txBody>
                    <a:bodyPr/>
                    <a:lstStyle/>
                    <a:p>
                      <a:r>
                        <a:rPr lang="en-US" dirty="0"/>
                        <a:t>Drug Use</a:t>
                      </a:r>
                    </a:p>
                  </a:txBody>
                  <a:tcPr/>
                </a:tc>
                <a:extLst>
                  <a:ext uri="{0D108BD9-81ED-4DB2-BD59-A6C34878D82A}">
                    <a16:rowId xmlns:a16="http://schemas.microsoft.com/office/drawing/2014/main" val="10000"/>
                  </a:ext>
                </a:extLst>
              </a:tr>
              <a:tr h="726337">
                <a:tc>
                  <a:txBody>
                    <a:bodyPr/>
                    <a:lstStyle/>
                    <a:p>
                      <a:r>
                        <a:rPr lang="en-US" dirty="0"/>
                        <a:t>CA</a:t>
                      </a:r>
                    </a:p>
                  </a:txBody>
                  <a:tcPr/>
                </a:tc>
                <a:tc>
                  <a:txBody>
                    <a:bodyPr/>
                    <a:lstStyle/>
                    <a:p>
                      <a:r>
                        <a:rPr lang="en-US" dirty="0"/>
                        <a:t>2000</a:t>
                      </a:r>
                    </a:p>
                  </a:txBody>
                  <a:tcPr/>
                </a:tc>
                <a:tc>
                  <a:txBody>
                    <a:bodyPr/>
                    <a:lstStyle/>
                    <a:p>
                      <a:r>
                        <a:rPr lang="en-US" dirty="0"/>
                        <a:t>12</a:t>
                      </a:r>
                    </a:p>
                  </a:txBody>
                  <a:tcPr/>
                </a:tc>
                <a:extLst>
                  <a:ext uri="{0D108BD9-81ED-4DB2-BD59-A6C34878D82A}">
                    <a16:rowId xmlns:a16="http://schemas.microsoft.com/office/drawing/2014/main" val="10001"/>
                  </a:ext>
                </a:extLst>
              </a:tr>
              <a:tr h="726337">
                <a:tc>
                  <a:txBody>
                    <a:bodyPr/>
                    <a:lstStyle/>
                    <a:p>
                      <a:r>
                        <a:rPr lang="en-US" dirty="0"/>
                        <a:t>CA</a:t>
                      </a:r>
                    </a:p>
                  </a:txBody>
                  <a:tcPr/>
                </a:tc>
                <a:tc>
                  <a:txBody>
                    <a:bodyPr/>
                    <a:lstStyle/>
                    <a:p>
                      <a:r>
                        <a:rPr lang="en-US" dirty="0"/>
                        <a:t>2001</a:t>
                      </a:r>
                    </a:p>
                  </a:txBody>
                  <a:tcPr/>
                </a:tc>
                <a:tc>
                  <a:txBody>
                    <a:bodyPr/>
                    <a:lstStyle/>
                    <a:p>
                      <a:r>
                        <a:rPr lang="en-US" dirty="0"/>
                        <a:t>11</a:t>
                      </a:r>
                    </a:p>
                  </a:txBody>
                  <a:tcPr/>
                </a:tc>
                <a:extLst>
                  <a:ext uri="{0D108BD9-81ED-4DB2-BD59-A6C34878D82A}">
                    <a16:rowId xmlns:a16="http://schemas.microsoft.com/office/drawing/2014/main" val="10002"/>
                  </a:ext>
                </a:extLst>
              </a:tr>
              <a:tr h="726337">
                <a:tc>
                  <a:txBody>
                    <a:bodyPr/>
                    <a:lstStyle/>
                    <a:p>
                      <a:r>
                        <a:rPr lang="en-US" dirty="0"/>
                        <a:t>OR</a:t>
                      </a:r>
                    </a:p>
                  </a:txBody>
                  <a:tcPr/>
                </a:tc>
                <a:tc>
                  <a:txBody>
                    <a:bodyPr/>
                    <a:lstStyle/>
                    <a:p>
                      <a:r>
                        <a:rPr lang="en-US" dirty="0"/>
                        <a:t>2000</a:t>
                      </a:r>
                    </a:p>
                  </a:txBody>
                  <a:tcPr/>
                </a:tc>
                <a:tc>
                  <a:txBody>
                    <a:bodyPr/>
                    <a:lstStyle/>
                    <a:p>
                      <a:r>
                        <a:rPr lang="en-US" dirty="0"/>
                        <a:t>14</a:t>
                      </a:r>
                    </a:p>
                  </a:txBody>
                  <a:tcPr/>
                </a:tc>
                <a:extLst>
                  <a:ext uri="{0D108BD9-81ED-4DB2-BD59-A6C34878D82A}">
                    <a16:rowId xmlns:a16="http://schemas.microsoft.com/office/drawing/2014/main" val="10003"/>
                  </a:ext>
                </a:extLst>
              </a:tr>
              <a:tr h="726337">
                <a:tc>
                  <a:txBody>
                    <a:bodyPr/>
                    <a:lstStyle/>
                    <a:p>
                      <a:r>
                        <a:rPr lang="en-US" dirty="0"/>
                        <a:t>OR</a:t>
                      </a:r>
                    </a:p>
                  </a:txBody>
                  <a:tcPr/>
                </a:tc>
                <a:tc>
                  <a:txBody>
                    <a:bodyPr/>
                    <a:lstStyle/>
                    <a:p>
                      <a:r>
                        <a:rPr lang="en-US" dirty="0"/>
                        <a:t>2001</a:t>
                      </a:r>
                    </a:p>
                  </a:txBody>
                  <a:tcPr/>
                </a:tc>
                <a:tc>
                  <a:txBody>
                    <a:bodyPr/>
                    <a:lstStyle/>
                    <a:p>
                      <a:r>
                        <a:rPr lang="en-US" dirty="0"/>
                        <a:t>16</a:t>
                      </a:r>
                    </a:p>
                  </a:txBody>
                  <a:tcPr/>
                </a:tc>
                <a:extLst>
                  <a:ext uri="{0D108BD9-81ED-4DB2-BD59-A6C34878D82A}">
                    <a16:rowId xmlns:a16="http://schemas.microsoft.com/office/drawing/2014/main" val="10004"/>
                  </a:ext>
                </a:extLst>
              </a:tr>
              <a:tr h="726337">
                <a:tc>
                  <a:txBody>
                    <a:bodyPr/>
                    <a:lstStyle/>
                    <a:p>
                      <a:r>
                        <a:rPr lang="en-US" dirty="0"/>
                        <a:t>OR </a:t>
                      </a:r>
                    </a:p>
                  </a:txBody>
                  <a:tcPr/>
                </a:tc>
                <a:tc>
                  <a:txBody>
                    <a:bodyPr/>
                    <a:lstStyle/>
                    <a:p>
                      <a:r>
                        <a:rPr lang="en-US" dirty="0"/>
                        <a:t>2002</a:t>
                      </a:r>
                    </a:p>
                  </a:txBody>
                  <a:tcPr/>
                </a:tc>
                <a:tc>
                  <a:txBody>
                    <a:bodyPr/>
                    <a:lstStyle/>
                    <a:p>
                      <a:r>
                        <a:rPr lang="en-US" dirty="0"/>
                        <a:t>15</a:t>
                      </a:r>
                    </a:p>
                  </a:txBody>
                  <a:tcPr/>
                </a:tc>
                <a:extLst>
                  <a:ext uri="{0D108BD9-81ED-4DB2-BD59-A6C34878D82A}">
                    <a16:rowId xmlns:a16="http://schemas.microsoft.com/office/drawing/2014/main" val="5424316"/>
                  </a:ext>
                </a:extLst>
              </a:tr>
            </a:tbl>
          </a:graphicData>
        </a:graphic>
      </p:graphicFrame>
      <p:graphicFrame>
        <p:nvGraphicFramePr>
          <p:cNvPr id="6" name="Table 5"/>
          <p:cNvGraphicFramePr>
            <a:graphicFrameLocks noGrp="1"/>
          </p:cNvGraphicFramePr>
          <p:nvPr/>
        </p:nvGraphicFramePr>
        <p:xfrm>
          <a:off x="6735488" y="1500188"/>
          <a:ext cx="4352236" cy="4488774"/>
        </p:xfrm>
        <a:graphic>
          <a:graphicData uri="http://schemas.openxmlformats.org/drawingml/2006/table">
            <a:tbl>
              <a:tblPr firstRow="1" bandRow="1">
                <a:tableStyleId>{5C22544A-7EE6-4342-B048-85BDC9FD1C3A}</a:tableStyleId>
              </a:tblPr>
              <a:tblGrid>
                <a:gridCol w="1088059">
                  <a:extLst>
                    <a:ext uri="{9D8B030D-6E8A-4147-A177-3AD203B41FA5}">
                      <a16:colId xmlns:a16="http://schemas.microsoft.com/office/drawing/2014/main" val="20000"/>
                    </a:ext>
                  </a:extLst>
                </a:gridCol>
                <a:gridCol w="1088059">
                  <a:extLst>
                    <a:ext uri="{9D8B030D-6E8A-4147-A177-3AD203B41FA5}">
                      <a16:colId xmlns:a16="http://schemas.microsoft.com/office/drawing/2014/main" val="20001"/>
                    </a:ext>
                  </a:extLst>
                </a:gridCol>
                <a:gridCol w="1088059">
                  <a:extLst>
                    <a:ext uri="{9D8B030D-6E8A-4147-A177-3AD203B41FA5}">
                      <a16:colId xmlns:a16="http://schemas.microsoft.com/office/drawing/2014/main" val="20002"/>
                    </a:ext>
                  </a:extLst>
                </a:gridCol>
                <a:gridCol w="1088059">
                  <a:extLst>
                    <a:ext uri="{9D8B030D-6E8A-4147-A177-3AD203B41FA5}">
                      <a16:colId xmlns:a16="http://schemas.microsoft.com/office/drawing/2014/main" val="20003"/>
                    </a:ext>
                  </a:extLst>
                </a:gridCol>
              </a:tblGrid>
              <a:tr h="701719">
                <a:tc>
                  <a:txBody>
                    <a:bodyPr/>
                    <a:lstStyle/>
                    <a:p>
                      <a:r>
                        <a:rPr lang="en-US" dirty="0"/>
                        <a:t>State</a:t>
                      </a:r>
                    </a:p>
                  </a:txBody>
                  <a:tcPr/>
                </a:tc>
                <a:tc>
                  <a:txBody>
                    <a:bodyPr/>
                    <a:lstStyle/>
                    <a:p>
                      <a:r>
                        <a:rPr lang="en-US" dirty="0"/>
                        <a:t>Year</a:t>
                      </a:r>
                    </a:p>
                  </a:txBody>
                  <a:tcPr/>
                </a:tc>
                <a:tc>
                  <a:txBody>
                    <a:bodyPr/>
                    <a:lstStyle/>
                    <a:p>
                      <a:r>
                        <a:rPr lang="en-US" dirty="0" err="1"/>
                        <a:t>CrimeRate</a:t>
                      </a:r>
                      <a:endParaRPr lang="en-US" dirty="0"/>
                    </a:p>
                  </a:txBody>
                  <a:tcPr/>
                </a:tc>
                <a:tc>
                  <a:txBody>
                    <a:bodyPr/>
                    <a:lstStyle/>
                    <a:p>
                      <a:r>
                        <a:rPr lang="en-US" dirty="0"/>
                        <a:t>Drug Use</a:t>
                      </a:r>
                    </a:p>
                  </a:txBody>
                  <a:tcPr/>
                </a:tc>
                <a:extLst>
                  <a:ext uri="{0D108BD9-81ED-4DB2-BD59-A6C34878D82A}">
                    <a16:rowId xmlns:a16="http://schemas.microsoft.com/office/drawing/2014/main" val="10000"/>
                  </a:ext>
                </a:extLst>
              </a:tr>
              <a:tr h="757411">
                <a:tc>
                  <a:txBody>
                    <a:bodyPr/>
                    <a:lstStyle/>
                    <a:p>
                      <a:r>
                        <a:rPr lang="en-US" dirty="0"/>
                        <a:t>CA</a:t>
                      </a:r>
                    </a:p>
                  </a:txBody>
                  <a:tcPr/>
                </a:tc>
                <a:tc>
                  <a:txBody>
                    <a:bodyPr/>
                    <a:lstStyle/>
                    <a:p>
                      <a:r>
                        <a:rPr lang="en-US" dirty="0"/>
                        <a:t>2000</a:t>
                      </a:r>
                    </a:p>
                  </a:txBody>
                  <a:tcPr/>
                </a:tc>
                <a:tc>
                  <a:txBody>
                    <a:bodyPr/>
                    <a:lstStyle/>
                    <a:p>
                      <a:r>
                        <a:rPr lang="en-US" dirty="0"/>
                        <a:t>0.15</a:t>
                      </a:r>
                    </a:p>
                  </a:txBody>
                  <a:tcPr/>
                </a:tc>
                <a:tc>
                  <a:txBody>
                    <a:bodyPr/>
                    <a:lstStyle/>
                    <a:p>
                      <a:r>
                        <a:rPr lang="en-US" dirty="0"/>
                        <a:t>12</a:t>
                      </a:r>
                    </a:p>
                  </a:txBody>
                  <a:tcPr/>
                </a:tc>
                <a:extLst>
                  <a:ext uri="{0D108BD9-81ED-4DB2-BD59-A6C34878D82A}">
                    <a16:rowId xmlns:a16="http://schemas.microsoft.com/office/drawing/2014/main" val="10001"/>
                  </a:ext>
                </a:extLst>
              </a:tr>
              <a:tr h="757411">
                <a:tc>
                  <a:txBody>
                    <a:bodyPr/>
                    <a:lstStyle/>
                    <a:p>
                      <a:r>
                        <a:rPr lang="en-US" dirty="0"/>
                        <a:t>CA</a:t>
                      </a:r>
                    </a:p>
                  </a:txBody>
                  <a:tcPr/>
                </a:tc>
                <a:tc>
                  <a:txBody>
                    <a:bodyPr/>
                    <a:lstStyle/>
                    <a:p>
                      <a:r>
                        <a:rPr lang="en-US" dirty="0"/>
                        <a:t>2001</a:t>
                      </a:r>
                    </a:p>
                  </a:txBody>
                  <a:tcPr/>
                </a:tc>
                <a:tc>
                  <a:txBody>
                    <a:bodyPr/>
                    <a:lstStyle/>
                    <a:p>
                      <a:r>
                        <a:rPr lang="en-US" dirty="0"/>
                        <a:t>0.18</a:t>
                      </a:r>
                    </a:p>
                  </a:txBody>
                  <a:tcPr/>
                </a:tc>
                <a:tc>
                  <a:txBody>
                    <a:bodyPr/>
                    <a:lstStyle/>
                    <a:p>
                      <a:r>
                        <a:rPr lang="en-US" dirty="0"/>
                        <a:t>11</a:t>
                      </a:r>
                    </a:p>
                  </a:txBody>
                  <a:tcPr/>
                </a:tc>
                <a:extLst>
                  <a:ext uri="{0D108BD9-81ED-4DB2-BD59-A6C34878D82A}">
                    <a16:rowId xmlns:a16="http://schemas.microsoft.com/office/drawing/2014/main" val="10002"/>
                  </a:ext>
                </a:extLst>
              </a:tr>
              <a:tr h="757411">
                <a:tc>
                  <a:txBody>
                    <a:bodyPr/>
                    <a:lstStyle/>
                    <a:p>
                      <a:r>
                        <a:rPr lang="en-US" dirty="0"/>
                        <a:t>CA</a:t>
                      </a:r>
                    </a:p>
                  </a:txBody>
                  <a:tcPr/>
                </a:tc>
                <a:tc>
                  <a:txBody>
                    <a:bodyPr/>
                    <a:lstStyle/>
                    <a:p>
                      <a:r>
                        <a:rPr lang="en-US" dirty="0"/>
                        <a:t>2002</a:t>
                      </a:r>
                    </a:p>
                  </a:txBody>
                  <a:tcPr/>
                </a:tc>
                <a:tc>
                  <a:txBody>
                    <a:bodyPr/>
                    <a:lstStyle/>
                    <a:p>
                      <a:r>
                        <a:rPr lang="en-US" dirty="0"/>
                        <a:t>0.16</a:t>
                      </a:r>
                    </a:p>
                  </a:txBody>
                  <a:tcPr/>
                </a:tc>
                <a:tc>
                  <a:txBody>
                    <a:bodyPr/>
                    <a:lstStyle/>
                    <a:p>
                      <a:r>
                        <a:rPr lang="en-US" dirty="0"/>
                        <a:t>nan</a:t>
                      </a:r>
                    </a:p>
                  </a:txBody>
                  <a:tcPr/>
                </a:tc>
                <a:extLst>
                  <a:ext uri="{0D108BD9-81ED-4DB2-BD59-A6C34878D82A}">
                    <a16:rowId xmlns:a16="http://schemas.microsoft.com/office/drawing/2014/main" val="252375462"/>
                  </a:ext>
                </a:extLst>
              </a:tr>
              <a:tr h="757411">
                <a:tc>
                  <a:txBody>
                    <a:bodyPr/>
                    <a:lstStyle/>
                    <a:p>
                      <a:r>
                        <a:rPr lang="en-US" dirty="0"/>
                        <a:t>OR</a:t>
                      </a:r>
                    </a:p>
                  </a:txBody>
                  <a:tcPr/>
                </a:tc>
                <a:tc>
                  <a:txBody>
                    <a:bodyPr/>
                    <a:lstStyle/>
                    <a:p>
                      <a:r>
                        <a:rPr lang="en-US" dirty="0"/>
                        <a:t>2000</a:t>
                      </a:r>
                    </a:p>
                  </a:txBody>
                  <a:tcPr/>
                </a:tc>
                <a:tc>
                  <a:txBody>
                    <a:bodyPr/>
                    <a:lstStyle/>
                    <a:p>
                      <a:r>
                        <a:rPr lang="en-US" dirty="0"/>
                        <a:t>0.09</a:t>
                      </a:r>
                    </a:p>
                  </a:txBody>
                  <a:tcPr/>
                </a:tc>
                <a:tc>
                  <a:txBody>
                    <a:bodyPr/>
                    <a:lstStyle/>
                    <a:p>
                      <a:r>
                        <a:rPr lang="en-US" dirty="0"/>
                        <a:t>14</a:t>
                      </a:r>
                    </a:p>
                  </a:txBody>
                  <a:tcPr/>
                </a:tc>
                <a:extLst>
                  <a:ext uri="{0D108BD9-81ED-4DB2-BD59-A6C34878D82A}">
                    <a16:rowId xmlns:a16="http://schemas.microsoft.com/office/drawing/2014/main" val="10003"/>
                  </a:ext>
                </a:extLst>
              </a:tr>
              <a:tr h="757411">
                <a:tc>
                  <a:txBody>
                    <a:bodyPr/>
                    <a:lstStyle/>
                    <a:p>
                      <a:r>
                        <a:rPr lang="en-US" dirty="0"/>
                        <a:t>OR</a:t>
                      </a:r>
                    </a:p>
                  </a:txBody>
                  <a:tcPr/>
                </a:tc>
                <a:tc>
                  <a:txBody>
                    <a:bodyPr/>
                    <a:lstStyle/>
                    <a:p>
                      <a:r>
                        <a:rPr lang="en-US" dirty="0"/>
                        <a:t>2001</a:t>
                      </a:r>
                    </a:p>
                  </a:txBody>
                  <a:tcPr/>
                </a:tc>
                <a:tc>
                  <a:txBody>
                    <a:bodyPr/>
                    <a:lstStyle/>
                    <a:p>
                      <a:r>
                        <a:rPr lang="en-US" dirty="0"/>
                        <a:t>0.10</a:t>
                      </a:r>
                    </a:p>
                  </a:txBody>
                  <a:tcPr/>
                </a:tc>
                <a:tc>
                  <a:txBody>
                    <a:bodyPr/>
                    <a:lstStyle/>
                    <a:p>
                      <a:r>
                        <a:rPr lang="en-US" dirty="0"/>
                        <a:t>16</a:t>
                      </a:r>
                    </a:p>
                  </a:txBody>
                  <a:tcPr/>
                </a:tc>
                <a:extLst>
                  <a:ext uri="{0D108BD9-81ED-4DB2-BD59-A6C34878D82A}">
                    <a16:rowId xmlns:a16="http://schemas.microsoft.com/office/drawing/2014/main" val="10004"/>
                  </a:ext>
                </a:extLst>
              </a:tr>
            </a:tbl>
          </a:graphicData>
        </a:graphic>
      </p:graphicFrame>
      <p:sp>
        <p:nvSpPr>
          <p:cNvPr id="2" name="TextBox 1">
            <a:extLst>
              <a:ext uri="{FF2B5EF4-FFF2-40B4-BE49-F238E27FC236}">
                <a16:creationId xmlns:a16="http://schemas.microsoft.com/office/drawing/2014/main" id="{BDE957B5-73B3-44AD-BCFE-4990E52FE9CB}"/>
              </a:ext>
            </a:extLst>
          </p:cNvPr>
          <p:cNvSpPr txBox="1"/>
          <p:nvPr/>
        </p:nvSpPr>
        <p:spPr>
          <a:xfrm>
            <a:off x="282715" y="385763"/>
            <a:ext cx="2974835" cy="646331"/>
          </a:xfrm>
          <a:prstGeom prst="rect">
            <a:avLst/>
          </a:prstGeom>
          <a:noFill/>
        </p:spPr>
        <p:txBody>
          <a:bodyPr wrap="square" rtlCol="0">
            <a:spAutoFit/>
          </a:bodyPr>
          <a:lstStyle/>
          <a:p>
            <a:r>
              <a:rPr lang="en-US" sz="3600" b="1" dirty="0"/>
              <a:t>Left Join</a:t>
            </a:r>
          </a:p>
        </p:txBody>
      </p:sp>
    </p:spTree>
    <p:extLst>
      <p:ext uri="{BB962C8B-B14F-4D97-AF65-F5344CB8AC3E}">
        <p14:creationId xmlns:p14="http://schemas.microsoft.com/office/powerpoint/2010/main" val="41785161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nvGraphicFramePr>
        <p:xfrm>
          <a:off x="282715" y="2171699"/>
          <a:ext cx="2713935" cy="4358022"/>
        </p:xfrm>
        <a:graphic>
          <a:graphicData uri="http://schemas.openxmlformats.org/drawingml/2006/table">
            <a:tbl>
              <a:tblPr firstRow="1" bandRow="1">
                <a:tableStyleId>{5C22544A-7EE6-4342-B048-85BDC9FD1C3A}</a:tableStyleId>
              </a:tblPr>
              <a:tblGrid>
                <a:gridCol w="904645">
                  <a:extLst>
                    <a:ext uri="{9D8B030D-6E8A-4147-A177-3AD203B41FA5}">
                      <a16:colId xmlns:a16="http://schemas.microsoft.com/office/drawing/2014/main" val="20000"/>
                    </a:ext>
                  </a:extLst>
                </a:gridCol>
                <a:gridCol w="904645">
                  <a:extLst>
                    <a:ext uri="{9D8B030D-6E8A-4147-A177-3AD203B41FA5}">
                      <a16:colId xmlns:a16="http://schemas.microsoft.com/office/drawing/2014/main" val="20001"/>
                    </a:ext>
                  </a:extLst>
                </a:gridCol>
                <a:gridCol w="904645">
                  <a:extLst>
                    <a:ext uri="{9D8B030D-6E8A-4147-A177-3AD203B41FA5}">
                      <a16:colId xmlns:a16="http://schemas.microsoft.com/office/drawing/2014/main" val="20002"/>
                    </a:ext>
                  </a:extLst>
                </a:gridCol>
              </a:tblGrid>
              <a:tr h="726337">
                <a:tc>
                  <a:txBody>
                    <a:bodyPr/>
                    <a:lstStyle/>
                    <a:p>
                      <a:r>
                        <a:rPr lang="en-US" dirty="0"/>
                        <a:t>State</a:t>
                      </a:r>
                    </a:p>
                  </a:txBody>
                  <a:tcPr/>
                </a:tc>
                <a:tc>
                  <a:txBody>
                    <a:bodyPr/>
                    <a:lstStyle/>
                    <a:p>
                      <a:r>
                        <a:rPr lang="en-US" dirty="0"/>
                        <a:t>Year</a:t>
                      </a:r>
                    </a:p>
                  </a:txBody>
                  <a:tcPr/>
                </a:tc>
                <a:tc>
                  <a:txBody>
                    <a:bodyPr/>
                    <a:lstStyle/>
                    <a:p>
                      <a:r>
                        <a:rPr lang="en-US" dirty="0" err="1"/>
                        <a:t>CrimeRate</a:t>
                      </a:r>
                      <a:endParaRPr lang="en-US" dirty="0"/>
                    </a:p>
                  </a:txBody>
                  <a:tcPr/>
                </a:tc>
                <a:extLst>
                  <a:ext uri="{0D108BD9-81ED-4DB2-BD59-A6C34878D82A}">
                    <a16:rowId xmlns:a16="http://schemas.microsoft.com/office/drawing/2014/main" val="10000"/>
                  </a:ext>
                </a:extLst>
              </a:tr>
              <a:tr h="726337">
                <a:tc>
                  <a:txBody>
                    <a:bodyPr/>
                    <a:lstStyle/>
                    <a:p>
                      <a:r>
                        <a:rPr lang="en-US" dirty="0"/>
                        <a:t>CA</a:t>
                      </a:r>
                    </a:p>
                  </a:txBody>
                  <a:tcPr/>
                </a:tc>
                <a:tc>
                  <a:txBody>
                    <a:bodyPr/>
                    <a:lstStyle/>
                    <a:p>
                      <a:r>
                        <a:rPr lang="en-US" dirty="0"/>
                        <a:t>2000</a:t>
                      </a:r>
                    </a:p>
                  </a:txBody>
                  <a:tcPr/>
                </a:tc>
                <a:tc>
                  <a:txBody>
                    <a:bodyPr/>
                    <a:lstStyle/>
                    <a:p>
                      <a:r>
                        <a:rPr lang="en-US" dirty="0"/>
                        <a:t>0.15</a:t>
                      </a:r>
                    </a:p>
                  </a:txBody>
                  <a:tcPr/>
                </a:tc>
                <a:extLst>
                  <a:ext uri="{0D108BD9-81ED-4DB2-BD59-A6C34878D82A}">
                    <a16:rowId xmlns:a16="http://schemas.microsoft.com/office/drawing/2014/main" val="10001"/>
                  </a:ext>
                </a:extLst>
              </a:tr>
              <a:tr h="726337">
                <a:tc>
                  <a:txBody>
                    <a:bodyPr/>
                    <a:lstStyle/>
                    <a:p>
                      <a:r>
                        <a:rPr lang="en-US" dirty="0"/>
                        <a:t>CA</a:t>
                      </a:r>
                    </a:p>
                  </a:txBody>
                  <a:tcPr/>
                </a:tc>
                <a:tc>
                  <a:txBody>
                    <a:bodyPr/>
                    <a:lstStyle/>
                    <a:p>
                      <a:r>
                        <a:rPr lang="en-US" dirty="0"/>
                        <a:t>2001</a:t>
                      </a:r>
                    </a:p>
                  </a:txBody>
                  <a:tcPr/>
                </a:tc>
                <a:tc>
                  <a:txBody>
                    <a:bodyPr/>
                    <a:lstStyle/>
                    <a:p>
                      <a:r>
                        <a:rPr lang="en-US" dirty="0"/>
                        <a:t>0.18</a:t>
                      </a:r>
                    </a:p>
                  </a:txBody>
                  <a:tcPr/>
                </a:tc>
                <a:extLst>
                  <a:ext uri="{0D108BD9-81ED-4DB2-BD59-A6C34878D82A}">
                    <a16:rowId xmlns:a16="http://schemas.microsoft.com/office/drawing/2014/main" val="10002"/>
                  </a:ext>
                </a:extLst>
              </a:tr>
              <a:tr h="726337">
                <a:tc>
                  <a:txBody>
                    <a:bodyPr/>
                    <a:lstStyle/>
                    <a:p>
                      <a:r>
                        <a:rPr lang="en-US" dirty="0"/>
                        <a:t>CA</a:t>
                      </a:r>
                    </a:p>
                  </a:txBody>
                  <a:tcPr/>
                </a:tc>
                <a:tc>
                  <a:txBody>
                    <a:bodyPr/>
                    <a:lstStyle/>
                    <a:p>
                      <a:r>
                        <a:rPr lang="en-US" dirty="0"/>
                        <a:t>2002</a:t>
                      </a:r>
                    </a:p>
                  </a:txBody>
                  <a:tcPr/>
                </a:tc>
                <a:tc>
                  <a:txBody>
                    <a:bodyPr/>
                    <a:lstStyle/>
                    <a:p>
                      <a:r>
                        <a:rPr lang="en-US" dirty="0"/>
                        <a:t>0.16</a:t>
                      </a:r>
                    </a:p>
                  </a:txBody>
                  <a:tcPr/>
                </a:tc>
                <a:extLst>
                  <a:ext uri="{0D108BD9-81ED-4DB2-BD59-A6C34878D82A}">
                    <a16:rowId xmlns:a16="http://schemas.microsoft.com/office/drawing/2014/main" val="587791061"/>
                  </a:ext>
                </a:extLst>
              </a:tr>
              <a:tr h="726337">
                <a:tc>
                  <a:txBody>
                    <a:bodyPr/>
                    <a:lstStyle/>
                    <a:p>
                      <a:r>
                        <a:rPr lang="en-US" dirty="0"/>
                        <a:t>OR</a:t>
                      </a:r>
                    </a:p>
                  </a:txBody>
                  <a:tcPr/>
                </a:tc>
                <a:tc>
                  <a:txBody>
                    <a:bodyPr/>
                    <a:lstStyle/>
                    <a:p>
                      <a:r>
                        <a:rPr lang="en-US" dirty="0"/>
                        <a:t>2000</a:t>
                      </a:r>
                    </a:p>
                  </a:txBody>
                  <a:tcPr/>
                </a:tc>
                <a:tc>
                  <a:txBody>
                    <a:bodyPr/>
                    <a:lstStyle/>
                    <a:p>
                      <a:r>
                        <a:rPr lang="en-US" dirty="0"/>
                        <a:t>0.09</a:t>
                      </a:r>
                    </a:p>
                  </a:txBody>
                  <a:tcPr/>
                </a:tc>
                <a:extLst>
                  <a:ext uri="{0D108BD9-81ED-4DB2-BD59-A6C34878D82A}">
                    <a16:rowId xmlns:a16="http://schemas.microsoft.com/office/drawing/2014/main" val="10003"/>
                  </a:ext>
                </a:extLst>
              </a:tr>
              <a:tr h="726337">
                <a:tc>
                  <a:txBody>
                    <a:bodyPr/>
                    <a:lstStyle/>
                    <a:p>
                      <a:r>
                        <a:rPr lang="en-US" dirty="0"/>
                        <a:t>OR</a:t>
                      </a:r>
                    </a:p>
                  </a:txBody>
                  <a:tcPr/>
                </a:tc>
                <a:tc>
                  <a:txBody>
                    <a:bodyPr/>
                    <a:lstStyle/>
                    <a:p>
                      <a:r>
                        <a:rPr lang="en-US" dirty="0"/>
                        <a:t>2001</a:t>
                      </a:r>
                    </a:p>
                  </a:txBody>
                  <a:tcPr/>
                </a:tc>
                <a:tc>
                  <a:txBody>
                    <a:bodyPr/>
                    <a:lstStyle/>
                    <a:p>
                      <a:r>
                        <a:rPr lang="en-US" dirty="0"/>
                        <a:t>0.10</a:t>
                      </a:r>
                    </a:p>
                  </a:txBody>
                  <a:tcPr/>
                </a:tc>
                <a:extLst>
                  <a:ext uri="{0D108BD9-81ED-4DB2-BD59-A6C34878D82A}">
                    <a16:rowId xmlns:a16="http://schemas.microsoft.com/office/drawing/2014/main" val="10004"/>
                  </a:ext>
                </a:extLst>
              </a:tr>
            </a:tbl>
          </a:graphicData>
        </a:graphic>
      </p:graphicFrame>
      <p:graphicFrame>
        <p:nvGraphicFramePr>
          <p:cNvPr id="5" name="Table 4"/>
          <p:cNvGraphicFramePr>
            <a:graphicFrameLocks noGrp="1"/>
          </p:cNvGraphicFramePr>
          <p:nvPr/>
        </p:nvGraphicFramePr>
        <p:xfrm>
          <a:off x="3421823" y="137490"/>
          <a:ext cx="2713935" cy="4358022"/>
        </p:xfrm>
        <a:graphic>
          <a:graphicData uri="http://schemas.openxmlformats.org/drawingml/2006/table">
            <a:tbl>
              <a:tblPr firstRow="1" bandRow="1">
                <a:tableStyleId>{5C22544A-7EE6-4342-B048-85BDC9FD1C3A}</a:tableStyleId>
              </a:tblPr>
              <a:tblGrid>
                <a:gridCol w="904645">
                  <a:extLst>
                    <a:ext uri="{9D8B030D-6E8A-4147-A177-3AD203B41FA5}">
                      <a16:colId xmlns:a16="http://schemas.microsoft.com/office/drawing/2014/main" val="20000"/>
                    </a:ext>
                  </a:extLst>
                </a:gridCol>
                <a:gridCol w="904645">
                  <a:extLst>
                    <a:ext uri="{9D8B030D-6E8A-4147-A177-3AD203B41FA5}">
                      <a16:colId xmlns:a16="http://schemas.microsoft.com/office/drawing/2014/main" val="20001"/>
                    </a:ext>
                  </a:extLst>
                </a:gridCol>
                <a:gridCol w="904645">
                  <a:extLst>
                    <a:ext uri="{9D8B030D-6E8A-4147-A177-3AD203B41FA5}">
                      <a16:colId xmlns:a16="http://schemas.microsoft.com/office/drawing/2014/main" val="20002"/>
                    </a:ext>
                  </a:extLst>
                </a:gridCol>
              </a:tblGrid>
              <a:tr h="726337">
                <a:tc>
                  <a:txBody>
                    <a:bodyPr/>
                    <a:lstStyle/>
                    <a:p>
                      <a:r>
                        <a:rPr lang="en-US" dirty="0"/>
                        <a:t>State</a:t>
                      </a:r>
                    </a:p>
                  </a:txBody>
                  <a:tcPr/>
                </a:tc>
                <a:tc>
                  <a:txBody>
                    <a:bodyPr/>
                    <a:lstStyle/>
                    <a:p>
                      <a:r>
                        <a:rPr lang="en-US" dirty="0"/>
                        <a:t>Year</a:t>
                      </a:r>
                    </a:p>
                  </a:txBody>
                  <a:tcPr/>
                </a:tc>
                <a:tc>
                  <a:txBody>
                    <a:bodyPr/>
                    <a:lstStyle/>
                    <a:p>
                      <a:r>
                        <a:rPr lang="en-US" dirty="0"/>
                        <a:t>Drug Use</a:t>
                      </a:r>
                    </a:p>
                  </a:txBody>
                  <a:tcPr/>
                </a:tc>
                <a:extLst>
                  <a:ext uri="{0D108BD9-81ED-4DB2-BD59-A6C34878D82A}">
                    <a16:rowId xmlns:a16="http://schemas.microsoft.com/office/drawing/2014/main" val="10000"/>
                  </a:ext>
                </a:extLst>
              </a:tr>
              <a:tr h="726337">
                <a:tc>
                  <a:txBody>
                    <a:bodyPr/>
                    <a:lstStyle/>
                    <a:p>
                      <a:r>
                        <a:rPr lang="en-US" dirty="0"/>
                        <a:t>CA</a:t>
                      </a:r>
                    </a:p>
                  </a:txBody>
                  <a:tcPr/>
                </a:tc>
                <a:tc>
                  <a:txBody>
                    <a:bodyPr/>
                    <a:lstStyle/>
                    <a:p>
                      <a:r>
                        <a:rPr lang="en-US" dirty="0"/>
                        <a:t>2000</a:t>
                      </a:r>
                    </a:p>
                  </a:txBody>
                  <a:tcPr/>
                </a:tc>
                <a:tc>
                  <a:txBody>
                    <a:bodyPr/>
                    <a:lstStyle/>
                    <a:p>
                      <a:r>
                        <a:rPr lang="en-US" dirty="0"/>
                        <a:t>12</a:t>
                      </a:r>
                    </a:p>
                  </a:txBody>
                  <a:tcPr/>
                </a:tc>
                <a:extLst>
                  <a:ext uri="{0D108BD9-81ED-4DB2-BD59-A6C34878D82A}">
                    <a16:rowId xmlns:a16="http://schemas.microsoft.com/office/drawing/2014/main" val="10001"/>
                  </a:ext>
                </a:extLst>
              </a:tr>
              <a:tr h="726337">
                <a:tc>
                  <a:txBody>
                    <a:bodyPr/>
                    <a:lstStyle/>
                    <a:p>
                      <a:r>
                        <a:rPr lang="en-US" dirty="0"/>
                        <a:t>CA</a:t>
                      </a:r>
                    </a:p>
                  </a:txBody>
                  <a:tcPr/>
                </a:tc>
                <a:tc>
                  <a:txBody>
                    <a:bodyPr/>
                    <a:lstStyle/>
                    <a:p>
                      <a:r>
                        <a:rPr lang="en-US" dirty="0"/>
                        <a:t>2001</a:t>
                      </a:r>
                    </a:p>
                  </a:txBody>
                  <a:tcPr/>
                </a:tc>
                <a:tc>
                  <a:txBody>
                    <a:bodyPr/>
                    <a:lstStyle/>
                    <a:p>
                      <a:r>
                        <a:rPr lang="en-US" dirty="0"/>
                        <a:t>11</a:t>
                      </a:r>
                    </a:p>
                  </a:txBody>
                  <a:tcPr/>
                </a:tc>
                <a:extLst>
                  <a:ext uri="{0D108BD9-81ED-4DB2-BD59-A6C34878D82A}">
                    <a16:rowId xmlns:a16="http://schemas.microsoft.com/office/drawing/2014/main" val="10002"/>
                  </a:ext>
                </a:extLst>
              </a:tr>
              <a:tr h="726337">
                <a:tc>
                  <a:txBody>
                    <a:bodyPr/>
                    <a:lstStyle/>
                    <a:p>
                      <a:r>
                        <a:rPr lang="en-US" dirty="0"/>
                        <a:t>OR</a:t>
                      </a:r>
                    </a:p>
                  </a:txBody>
                  <a:tcPr/>
                </a:tc>
                <a:tc>
                  <a:txBody>
                    <a:bodyPr/>
                    <a:lstStyle/>
                    <a:p>
                      <a:r>
                        <a:rPr lang="en-US" dirty="0"/>
                        <a:t>2000</a:t>
                      </a:r>
                    </a:p>
                  </a:txBody>
                  <a:tcPr/>
                </a:tc>
                <a:tc>
                  <a:txBody>
                    <a:bodyPr/>
                    <a:lstStyle/>
                    <a:p>
                      <a:r>
                        <a:rPr lang="en-US" dirty="0"/>
                        <a:t>14</a:t>
                      </a:r>
                    </a:p>
                  </a:txBody>
                  <a:tcPr/>
                </a:tc>
                <a:extLst>
                  <a:ext uri="{0D108BD9-81ED-4DB2-BD59-A6C34878D82A}">
                    <a16:rowId xmlns:a16="http://schemas.microsoft.com/office/drawing/2014/main" val="10003"/>
                  </a:ext>
                </a:extLst>
              </a:tr>
              <a:tr h="726337">
                <a:tc>
                  <a:txBody>
                    <a:bodyPr/>
                    <a:lstStyle/>
                    <a:p>
                      <a:r>
                        <a:rPr lang="en-US" dirty="0"/>
                        <a:t>OR</a:t>
                      </a:r>
                    </a:p>
                  </a:txBody>
                  <a:tcPr/>
                </a:tc>
                <a:tc>
                  <a:txBody>
                    <a:bodyPr/>
                    <a:lstStyle/>
                    <a:p>
                      <a:r>
                        <a:rPr lang="en-US" dirty="0"/>
                        <a:t>2001</a:t>
                      </a:r>
                    </a:p>
                  </a:txBody>
                  <a:tcPr/>
                </a:tc>
                <a:tc>
                  <a:txBody>
                    <a:bodyPr/>
                    <a:lstStyle/>
                    <a:p>
                      <a:r>
                        <a:rPr lang="en-US" dirty="0"/>
                        <a:t>16</a:t>
                      </a:r>
                    </a:p>
                  </a:txBody>
                  <a:tcPr/>
                </a:tc>
                <a:extLst>
                  <a:ext uri="{0D108BD9-81ED-4DB2-BD59-A6C34878D82A}">
                    <a16:rowId xmlns:a16="http://schemas.microsoft.com/office/drawing/2014/main" val="10004"/>
                  </a:ext>
                </a:extLst>
              </a:tr>
              <a:tr h="726337">
                <a:tc>
                  <a:txBody>
                    <a:bodyPr/>
                    <a:lstStyle/>
                    <a:p>
                      <a:r>
                        <a:rPr lang="en-US" dirty="0"/>
                        <a:t>OR </a:t>
                      </a:r>
                    </a:p>
                  </a:txBody>
                  <a:tcPr/>
                </a:tc>
                <a:tc>
                  <a:txBody>
                    <a:bodyPr/>
                    <a:lstStyle/>
                    <a:p>
                      <a:r>
                        <a:rPr lang="en-US" dirty="0"/>
                        <a:t>2002</a:t>
                      </a:r>
                    </a:p>
                  </a:txBody>
                  <a:tcPr/>
                </a:tc>
                <a:tc>
                  <a:txBody>
                    <a:bodyPr/>
                    <a:lstStyle/>
                    <a:p>
                      <a:r>
                        <a:rPr lang="en-US" dirty="0"/>
                        <a:t>15</a:t>
                      </a:r>
                    </a:p>
                  </a:txBody>
                  <a:tcPr/>
                </a:tc>
                <a:extLst>
                  <a:ext uri="{0D108BD9-81ED-4DB2-BD59-A6C34878D82A}">
                    <a16:rowId xmlns:a16="http://schemas.microsoft.com/office/drawing/2014/main" val="5424316"/>
                  </a:ext>
                </a:extLst>
              </a:tr>
            </a:tbl>
          </a:graphicData>
        </a:graphic>
      </p:graphicFrame>
      <p:graphicFrame>
        <p:nvGraphicFramePr>
          <p:cNvPr id="6" name="Table 5"/>
          <p:cNvGraphicFramePr>
            <a:graphicFrameLocks noGrp="1"/>
          </p:cNvGraphicFramePr>
          <p:nvPr/>
        </p:nvGraphicFramePr>
        <p:xfrm>
          <a:off x="6735488" y="1500188"/>
          <a:ext cx="4352236" cy="4488774"/>
        </p:xfrm>
        <a:graphic>
          <a:graphicData uri="http://schemas.openxmlformats.org/drawingml/2006/table">
            <a:tbl>
              <a:tblPr firstRow="1" bandRow="1">
                <a:tableStyleId>{5C22544A-7EE6-4342-B048-85BDC9FD1C3A}</a:tableStyleId>
              </a:tblPr>
              <a:tblGrid>
                <a:gridCol w="1088059">
                  <a:extLst>
                    <a:ext uri="{9D8B030D-6E8A-4147-A177-3AD203B41FA5}">
                      <a16:colId xmlns:a16="http://schemas.microsoft.com/office/drawing/2014/main" val="20000"/>
                    </a:ext>
                  </a:extLst>
                </a:gridCol>
                <a:gridCol w="1088059">
                  <a:extLst>
                    <a:ext uri="{9D8B030D-6E8A-4147-A177-3AD203B41FA5}">
                      <a16:colId xmlns:a16="http://schemas.microsoft.com/office/drawing/2014/main" val="20001"/>
                    </a:ext>
                  </a:extLst>
                </a:gridCol>
                <a:gridCol w="1088059">
                  <a:extLst>
                    <a:ext uri="{9D8B030D-6E8A-4147-A177-3AD203B41FA5}">
                      <a16:colId xmlns:a16="http://schemas.microsoft.com/office/drawing/2014/main" val="20002"/>
                    </a:ext>
                  </a:extLst>
                </a:gridCol>
                <a:gridCol w="1088059">
                  <a:extLst>
                    <a:ext uri="{9D8B030D-6E8A-4147-A177-3AD203B41FA5}">
                      <a16:colId xmlns:a16="http://schemas.microsoft.com/office/drawing/2014/main" val="20003"/>
                    </a:ext>
                  </a:extLst>
                </a:gridCol>
              </a:tblGrid>
              <a:tr h="701719">
                <a:tc>
                  <a:txBody>
                    <a:bodyPr/>
                    <a:lstStyle/>
                    <a:p>
                      <a:r>
                        <a:rPr lang="en-US" dirty="0"/>
                        <a:t>State</a:t>
                      </a:r>
                    </a:p>
                  </a:txBody>
                  <a:tcPr/>
                </a:tc>
                <a:tc>
                  <a:txBody>
                    <a:bodyPr/>
                    <a:lstStyle/>
                    <a:p>
                      <a:r>
                        <a:rPr lang="en-US" dirty="0"/>
                        <a:t>Year</a:t>
                      </a:r>
                    </a:p>
                  </a:txBody>
                  <a:tcPr/>
                </a:tc>
                <a:tc>
                  <a:txBody>
                    <a:bodyPr/>
                    <a:lstStyle/>
                    <a:p>
                      <a:r>
                        <a:rPr lang="en-US" dirty="0" err="1"/>
                        <a:t>CrimeRate</a:t>
                      </a:r>
                      <a:endParaRPr lang="en-US" dirty="0"/>
                    </a:p>
                  </a:txBody>
                  <a:tcPr/>
                </a:tc>
                <a:tc>
                  <a:txBody>
                    <a:bodyPr/>
                    <a:lstStyle/>
                    <a:p>
                      <a:r>
                        <a:rPr lang="en-US" dirty="0"/>
                        <a:t>Drug Use</a:t>
                      </a:r>
                    </a:p>
                  </a:txBody>
                  <a:tcPr/>
                </a:tc>
                <a:extLst>
                  <a:ext uri="{0D108BD9-81ED-4DB2-BD59-A6C34878D82A}">
                    <a16:rowId xmlns:a16="http://schemas.microsoft.com/office/drawing/2014/main" val="10000"/>
                  </a:ext>
                </a:extLst>
              </a:tr>
              <a:tr h="757411">
                <a:tc>
                  <a:txBody>
                    <a:bodyPr/>
                    <a:lstStyle/>
                    <a:p>
                      <a:r>
                        <a:rPr lang="en-US" dirty="0"/>
                        <a:t>CA</a:t>
                      </a:r>
                    </a:p>
                  </a:txBody>
                  <a:tcPr/>
                </a:tc>
                <a:tc>
                  <a:txBody>
                    <a:bodyPr/>
                    <a:lstStyle/>
                    <a:p>
                      <a:r>
                        <a:rPr lang="en-US" dirty="0"/>
                        <a:t>2000</a:t>
                      </a:r>
                    </a:p>
                  </a:txBody>
                  <a:tcPr/>
                </a:tc>
                <a:tc>
                  <a:txBody>
                    <a:bodyPr/>
                    <a:lstStyle/>
                    <a:p>
                      <a:r>
                        <a:rPr lang="en-US" dirty="0"/>
                        <a:t>0.15</a:t>
                      </a:r>
                    </a:p>
                  </a:txBody>
                  <a:tcPr/>
                </a:tc>
                <a:tc>
                  <a:txBody>
                    <a:bodyPr/>
                    <a:lstStyle/>
                    <a:p>
                      <a:r>
                        <a:rPr lang="en-US" dirty="0"/>
                        <a:t>12</a:t>
                      </a:r>
                    </a:p>
                  </a:txBody>
                  <a:tcPr/>
                </a:tc>
                <a:extLst>
                  <a:ext uri="{0D108BD9-81ED-4DB2-BD59-A6C34878D82A}">
                    <a16:rowId xmlns:a16="http://schemas.microsoft.com/office/drawing/2014/main" val="10001"/>
                  </a:ext>
                </a:extLst>
              </a:tr>
              <a:tr h="757411">
                <a:tc>
                  <a:txBody>
                    <a:bodyPr/>
                    <a:lstStyle/>
                    <a:p>
                      <a:r>
                        <a:rPr lang="en-US" dirty="0"/>
                        <a:t>CA</a:t>
                      </a:r>
                    </a:p>
                  </a:txBody>
                  <a:tcPr/>
                </a:tc>
                <a:tc>
                  <a:txBody>
                    <a:bodyPr/>
                    <a:lstStyle/>
                    <a:p>
                      <a:r>
                        <a:rPr lang="en-US" dirty="0"/>
                        <a:t>2001</a:t>
                      </a:r>
                    </a:p>
                  </a:txBody>
                  <a:tcPr/>
                </a:tc>
                <a:tc>
                  <a:txBody>
                    <a:bodyPr/>
                    <a:lstStyle/>
                    <a:p>
                      <a:r>
                        <a:rPr lang="en-US" dirty="0"/>
                        <a:t>0.18</a:t>
                      </a:r>
                    </a:p>
                  </a:txBody>
                  <a:tcPr/>
                </a:tc>
                <a:tc>
                  <a:txBody>
                    <a:bodyPr/>
                    <a:lstStyle/>
                    <a:p>
                      <a:r>
                        <a:rPr lang="en-US" dirty="0"/>
                        <a:t>11</a:t>
                      </a:r>
                    </a:p>
                  </a:txBody>
                  <a:tcPr/>
                </a:tc>
                <a:extLst>
                  <a:ext uri="{0D108BD9-81ED-4DB2-BD59-A6C34878D82A}">
                    <a16:rowId xmlns:a16="http://schemas.microsoft.com/office/drawing/2014/main" val="10002"/>
                  </a:ext>
                </a:extLst>
              </a:tr>
              <a:tr h="757411">
                <a:tc>
                  <a:txBody>
                    <a:bodyPr/>
                    <a:lstStyle/>
                    <a:p>
                      <a:r>
                        <a:rPr lang="en-US" dirty="0"/>
                        <a:t>OR</a:t>
                      </a:r>
                    </a:p>
                  </a:txBody>
                  <a:tcPr/>
                </a:tc>
                <a:tc>
                  <a:txBody>
                    <a:bodyPr/>
                    <a:lstStyle/>
                    <a:p>
                      <a:r>
                        <a:rPr lang="en-US" dirty="0"/>
                        <a:t>2000</a:t>
                      </a:r>
                    </a:p>
                  </a:txBody>
                  <a:tcPr/>
                </a:tc>
                <a:tc>
                  <a:txBody>
                    <a:bodyPr/>
                    <a:lstStyle/>
                    <a:p>
                      <a:r>
                        <a:rPr lang="en-US" dirty="0"/>
                        <a:t>0.09</a:t>
                      </a:r>
                    </a:p>
                  </a:txBody>
                  <a:tcPr/>
                </a:tc>
                <a:tc>
                  <a:txBody>
                    <a:bodyPr/>
                    <a:lstStyle/>
                    <a:p>
                      <a:r>
                        <a:rPr lang="en-US" dirty="0"/>
                        <a:t>14</a:t>
                      </a:r>
                    </a:p>
                  </a:txBody>
                  <a:tcPr/>
                </a:tc>
                <a:extLst>
                  <a:ext uri="{0D108BD9-81ED-4DB2-BD59-A6C34878D82A}">
                    <a16:rowId xmlns:a16="http://schemas.microsoft.com/office/drawing/2014/main" val="10003"/>
                  </a:ext>
                </a:extLst>
              </a:tr>
              <a:tr h="757411">
                <a:tc>
                  <a:txBody>
                    <a:bodyPr/>
                    <a:lstStyle/>
                    <a:p>
                      <a:r>
                        <a:rPr lang="en-US" dirty="0"/>
                        <a:t>OR</a:t>
                      </a:r>
                    </a:p>
                  </a:txBody>
                  <a:tcPr/>
                </a:tc>
                <a:tc>
                  <a:txBody>
                    <a:bodyPr/>
                    <a:lstStyle/>
                    <a:p>
                      <a:r>
                        <a:rPr lang="en-US" dirty="0"/>
                        <a:t>2001</a:t>
                      </a:r>
                    </a:p>
                  </a:txBody>
                  <a:tcPr/>
                </a:tc>
                <a:tc>
                  <a:txBody>
                    <a:bodyPr/>
                    <a:lstStyle/>
                    <a:p>
                      <a:r>
                        <a:rPr lang="en-US" dirty="0"/>
                        <a:t>0.10</a:t>
                      </a:r>
                    </a:p>
                  </a:txBody>
                  <a:tcPr/>
                </a:tc>
                <a:tc>
                  <a:txBody>
                    <a:bodyPr/>
                    <a:lstStyle/>
                    <a:p>
                      <a:r>
                        <a:rPr lang="en-US" dirty="0"/>
                        <a:t>16</a:t>
                      </a:r>
                    </a:p>
                  </a:txBody>
                  <a:tcPr/>
                </a:tc>
                <a:extLst>
                  <a:ext uri="{0D108BD9-81ED-4DB2-BD59-A6C34878D82A}">
                    <a16:rowId xmlns:a16="http://schemas.microsoft.com/office/drawing/2014/main" val="10004"/>
                  </a:ext>
                </a:extLst>
              </a:tr>
              <a:tr h="757411">
                <a:tc>
                  <a:txBody>
                    <a:bodyPr/>
                    <a:lstStyle/>
                    <a:p>
                      <a:r>
                        <a:rPr lang="en-US" dirty="0"/>
                        <a:t>OR</a:t>
                      </a:r>
                    </a:p>
                  </a:txBody>
                  <a:tcPr/>
                </a:tc>
                <a:tc>
                  <a:txBody>
                    <a:bodyPr/>
                    <a:lstStyle/>
                    <a:p>
                      <a:r>
                        <a:rPr lang="en-US" dirty="0"/>
                        <a:t>2002</a:t>
                      </a:r>
                    </a:p>
                  </a:txBody>
                  <a:tcPr/>
                </a:tc>
                <a:tc>
                  <a:txBody>
                    <a:bodyPr/>
                    <a:lstStyle/>
                    <a:p>
                      <a:r>
                        <a:rPr lang="en-US" dirty="0"/>
                        <a:t>nan</a:t>
                      </a:r>
                    </a:p>
                  </a:txBody>
                  <a:tcPr/>
                </a:tc>
                <a:tc>
                  <a:txBody>
                    <a:bodyPr/>
                    <a:lstStyle/>
                    <a:p>
                      <a:r>
                        <a:rPr lang="en-US" dirty="0"/>
                        <a:t>15</a:t>
                      </a:r>
                    </a:p>
                  </a:txBody>
                  <a:tcPr/>
                </a:tc>
                <a:extLst>
                  <a:ext uri="{0D108BD9-81ED-4DB2-BD59-A6C34878D82A}">
                    <a16:rowId xmlns:a16="http://schemas.microsoft.com/office/drawing/2014/main" val="322671723"/>
                  </a:ext>
                </a:extLst>
              </a:tr>
            </a:tbl>
          </a:graphicData>
        </a:graphic>
      </p:graphicFrame>
      <p:sp>
        <p:nvSpPr>
          <p:cNvPr id="2" name="TextBox 1">
            <a:extLst>
              <a:ext uri="{FF2B5EF4-FFF2-40B4-BE49-F238E27FC236}">
                <a16:creationId xmlns:a16="http://schemas.microsoft.com/office/drawing/2014/main" id="{BDE957B5-73B3-44AD-BCFE-4990E52FE9CB}"/>
              </a:ext>
            </a:extLst>
          </p:cNvPr>
          <p:cNvSpPr txBox="1"/>
          <p:nvPr/>
        </p:nvSpPr>
        <p:spPr>
          <a:xfrm>
            <a:off x="282715" y="385763"/>
            <a:ext cx="2974835" cy="646331"/>
          </a:xfrm>
          <a:prstGeom prst="rect">
            <a:avLst/>
          </a:prstGeom>
          <a:noFill/>
        </p:spPr>
        <p:txBody>
          <a:bodyPr wrap="square" rtlCol="0">
            <a:spAutoFit/>
          </a:bodyPr>
          <a:lstStyle/>
          <a:p>
            <a:r>
              <a:rPr lang="en-US" sz="3600" b="1" dirty="0"/>
              <a:t>Right Join</a:t>
            </a:r>
          </a:p>
        </p:txBody>
      </p:sp>
    </p:spTree>
    <p:extLst>
      <p:ext uri="{BB962C8B-B14F-4D97-AF65-F5344CB8AC3E}">
        <p14:creationId xmlns:p14="http://schemas.microsoft.com/office/powerpoint/2010/main" val="33638917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5888A3-B6E8-446B-BA0C-4BA6A96E7496}"/>
              </a:ext>
            </a:extLst>
          </p:cNvPr>
          <p:cNvSpPr>
            <a:spLocks noGrp="1"/>
          </p:cNvSpPr>
          <p:nvPr>
            <p:ph type="title"/>
          </p:nvPr>
        </p:nvSpPr>
        <p:spPr/>
        <p:txBody>
          <a:bodyPr/>
          <a:lstStyle/>
          <a:p>
            <a:r>
              <a:rPr lang="en-US" dirty="0"/>
              <a:t>1:1 vs Many:1 vs </a:t>
            </a:r>
            <a:r>
              <a:rPr lang="en-US" dirty="0" err="1"/>
              <a:t>Many:Many</a:t>
            </a:r>
            <a:endParaRPr lang="en-US" dirty="0"/>
          </a:p>
        </p:txBody>
      </p:sp>
      <p:sp>
        <p:nvSpPr>
          <p:cNvPr id="3" name="Content Placeholder 2">
            <a:extLst>
              <a:ext uri="{FF2B5EF4-FFF2-40B4-BE49-F238E27FC236}">
                <a16:creationId xmlns:a16="http://schemas.microsoft.com/office/drawing/2014/main" id="{2E88EC0D-8DC4-482E-B9C5-B3791A217661}"/>
              </a:ext>
            </a:extLst>
          </p:cNvPr>
          <p:cNvSpPr>
            <a:spLocks noGrp="1"/>
          </p:cNvSpPr>
          <p:nvPr>
            <p:ph idx="1"/>
          </p:nvPr>
        </p:nvSpPr>
        <p:spPr/>
        <p:txBody>
          <a:bodyPr/>
          <a:lstStyle/>
          <a:p>
            <a:r>
              <a:rPr lang="en-US" dirty="0"/>
              <a:t>The examples so far involved 1:1 joins, meaning each row in one data frame corresponded to at most one row in the other data frame.</a:t>
            </a:r>
          </a:p>
          <a:p>
            <a:r>
              <a:rPr lang="en-US" dirty="0"/>
              <a:t>The only exception was when I merged the two using only State instead of State and Year.  That was a </a:t>
            </a:r>
            <a:r>
              <a:rPr lang="en-US" dirty="0" err="1"/>
              <a:t>Many:Many</a:t>
            </a:r>
            <a:r>
              <a:rPr lang="en-US" dirty="0"/>
              <a:t> join because each row in one corresponded to many rows in the other</a:t>
            </a:r>
          </a:p>
          <a:p>
            <a:endParaRPr lang="en-US" dirty="0"/>
          </a:p>
          <a:p>
            <a:r>
              <a:rPr lang="en-US" dirty="0" err="1"/>
              <a:t>pd.merge</a:t>
            </a:r>
            <a:r>
              <a:rPr lang="en-US" dirty="0"/>
              <a:t>(</a:t>
            </a:r>
            <a:r>
              <a:rPr lang="en-US" dirty="0" err="1"/>
              <a:t>crime,drug,on</a:t>
            </a:r>
            <a:r>
              <a:rPr lang="en-US" dirty="0"/>
              <a:t>=“State”)</a:t>
            </a:r>
          </a:p>
          <a:p>
            <a:endParaRPr lang="en-US" dirty="0"/>
          </a:p>
          <a:p>
            <a:endParaRPr lang="en-US" dirty="0"/>
          </a:p>
        </p:txBody>
      </p:sp>
    </p:spTree>
    <p:extLst>
      <p:ext uri="{BB962C8B-B14F-4D97-AF65-F5344CB8AC3E}">
        <p14:creationId xmlns:p14="http://schemas.microsoft.com/office/powerpoint/2010/main" val="42147064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4084730714"/>
              </p:ext>
            </p:extLst>
          </p:nvPr>
        </p:nvGraphicFramePr>
        <p:xfrm>
          <a:off x="157019" y="2171699"/>
          <a:ext cx="2839631" cy="3631685"/>
        </p:xfrm>
        <a:graphic>
          <a:graphicData uri="http://schemas.openxmlformats.org/drawingml/2006/table">
            <a:tbl>
              <a:tblPr firstRow="1" bandRow="1">
                <a:tableStyleId>{5C22544A-7EE6-4342-B048-85BDC9FD1C3A}</a:tableStyleId>
              </a:tblPr>
              <a:tblGrid>
                <a:gridCol w="751927">
                  <a:extLst>
                    <a:ext uri="{9D8B030D-6E8A-4147-A177-3AD203B41FA5}">
                      <a16:colId xmlns:a16="http://schemas.microsoft.com/office/drawing/2014/main" val="20000"/>
                    </a:ext>
                  </a:extLst>
                </a:gridCol>
                <a:gridCol w="1043852">
                  <a:extLst>
                    <a:ext uri="{9D8B030D-6E8A-4147-A177-3AD203B41FA5}">
                      <a16:colId xmlns:a16="http://schemas.microsoft.com/office/drawing/2014/main" val="20001"/>
                    </a:ext>
                  </a:extLst>
                </a:gridCol>
                <a:gridCol w="1043852">
                  <a:extLst>
                    <a:ext uri="{9D8B030D-6E8A-4147-A177-3AD203B41FA5}">
                      <a16:colId xmlns:a16="http://schemas.microsoft.com/office/drawing/2014/main" val="20002"/>
                    </a:ext>
                  </a:extLst>
                </a:gridCol>
              </a:tblGrid>
              <a:tr h="726337">
                <a:tc>
                  <a:txBody>
                    <a:bodyPr/>
                    <a:lstStyle/>
                    <a:p>
                      <a:r>
                        <a:rPr lang="en-US" dirty="0"/>
                        <a:t>State</a:t>
                      </a:r>
                    </a:p>
                  </a:txBody>
                  <a:tcPr/>
                </a:tc>
                <a:tc>
                  <a:txBody>
                    <a:bodyPr/>
                    <a:lstStyle/>
                    <a:p>
                      <a:r>
                        <a:rPr lang="en-US" dirty="0"/>
                        <a:t>Year</a:t>
                      </a:r>
                    </a:p>
                  </a:txBody>
                  <a:tcPr/>
                </a:tc>
                <a:tc>
                  <a:txBody>
                    <a:bodyPr/>
                    <a:lstStyle/>
                    <a:p>
                      <a:r>
                        <a:rPr lang="en-US" dirty="0" err="1"/>
                        <a:t>CrimeRate</a:t>
                      </a:r>
                      <a:endParaRPr lang="en-US" dirty="0"/>
                    </a:p>
                  </a:txBody>
                  <a:tcPr/>
                </a:tc>
                <a:extLst>
                  <a:ext uri="{0D108BD9-81ED-4DB2-BD59-A6C34878D82A}">
                    <a16:rowId xmlns:a16="http://schemas.microsoft.com/office/drawing/2014/main" val="10000"/>
                  </a:ext>
                </a:extLst>
              </a:tr>
              <a:tr h="726337">
                <a:tc>
                  <a:txBody>
                    <a:bodyPr/>
                    <a:lstStyle/>
                    <a:p>
                      <a:r>
                        <a:rPr lang="en-US" dirty="0"/>
                        <a:t>CA</a:t>
                      </a:r>
                    </a:p>
                  </a:txBody>
                  <a:tcPr/>
                </a:tc>
                <a:tc>
                  <a:txBody>
                    <a:bodyPr/>
                    <a:lstStyle/>
                    <a:p>
                      <a:r>
                        <a:rPr lang="en-US" dirty="0"/>
                        <a:t>2000</a:t>
                      </a:r>
                    </a:p>
                  </a:txBody>
                  <a:tcPr/>
                </a:tc>
                <a:tc>
                  <a:txBody>
                    <a:bodyPr/>
                    <a:lstStyle/>
                    <a:p>
                      <a:r>
                        <a:rPr lang="en-US" dirty="0"/>
                        <a:t>0.15</a:t>
                      </a:r>
                    </a:p>
                  </a:txBody>
                  <a:tcPr/>
                </a:tc>
                <a:extLst>
                  <a:ext uri="{0D108BD9-81ED-4DB2-BD59-A6C34878D82A}">
                    <a16:rowId xmlns:a16="http://schemas.microsoft.com/office/drawing/2014/main" val="10001"/>
                  </a:ext>
                </a:extLst>
              </a:tr>
              <a:tr h="726337">
                <a:tc>
                  <a:txBody>
                    <a:bodyPr/>
                    <a:lstStyle/>
                    <a:p>
                      <a:r>
                        <a:rPr lang="en-US" dirty="0"/>
                        <a:t>CA</a:t>
                      </a:r>
                    </a:p>
                  </a:txBody>
                  <a:tcPr/>
                </a:tc>
                <a:tc>
                  <a:txBody>
                    <a:bodyPr/>
                    <a:lstStyle/>
                    <a:p>
                      <a:r>
                        <a:rPr lang="en-US" dirty="0"/>
                        <a:t>2001</a:t>
                      </a:r>
                    </a:p>
                  </a:txBody>
                  <a:tcPr/>
                </a:tc>
                <a:tc>
                  <a:txBody>
                    <a:bodyPr/>
                    <a:lstStyle/>
                    <a:p>
                      <a:r>
                        <a:rPr lang="en-US" dirty="0"/>
                        <a:t>0.18</a:t>
                      </a:r>
                    </a:p>
                  </a:txBody>
                  <a:tcPr/>
                </a:tc>
                <a:extLst>
                  <a:ext uri="{0D108BD9-81ED-4DB2-BD59-A6C34878D82A}">
                    <a16:rowId xmlns:a16="http://schemas.microsoft.com/office/drawing/2014/main" val="10002"/>
                  </a:ext>
                </a:extLst>
              </a:tr>
              <a:tr h="726337">
                <a:tc>
                  <a:txBody>
                    <a:bodyPr/>
                    <a:lstStyle/>
                    <a:p>
                      <a:r>
                        <a:rPr lang="en-US" dirty="0"/>
                        <a:t>OR</a:t>
                      </a:r>
                    </a:p>
                  </a:txBody>
                  <a:tcPr/>
                </a:tc>
                <a:tc>
                  <a:txBody>
                    <a:bodyPr/>
                    <a:lstStyle/>
                    <a:p>
                      <a:r>
                        <a:rPr lang="en-US" dirty="0"/>
                        <a:t>2000</a:t>
                      </a:r>
                    </a:p>
                  </a:txBody>
                  <a:tcPr/>
                </a:tc>
                <a:tc>
                  <a:txBody>
                    <a:bodyPr/>
                    <a:lstStyle/>
                    <a:p>
                      <a:r>
                        <a:rPr lang="en-US" dirty="0"/>
                        <a:t>0.09</a:t>
                      </a:r>
                    </a:p>
                  </a:txBody>
                  <a:tcPr/>
                </a:tc>
                <a:extLst>
                  <a:ext uri="{0D108BD9-81ED-4DB2-BD59-A6C34878D82A}">
                    <a16:rowId xmlns:a16="http://schemas.microsoft.com/office/drawing/2014/main" val="10003"/>
                  </a:ext>
                </a:extLst>
              </a:tr>
              <a:tr h="726337">
                <a:tc>
                  <a:txBody>
                    <a:bodyPr/>
                    <a:lstStyle/>
                    <a:p>
                      <a:r>
                        <a:rPr lang="en-US" dirty="0"/>
                        <a:t>OR</a:t>
                      </a:r>
                    </a:p>
                  </a:txBody>
                  <a:tcPr/>
                </a:tc>
                <a:tc>
                  <a:txBody>
                    <a:bodyPr/>
                    <a:lstStyle/>
                    <a:p>
                      <a:r>
                        <a:rPr lang="en-US" dirty="0"/>
                        <a:t>2001</a:t>
                      </a:r>
                    </a:p>
                  </a:txBody>
                  <a:tcPr/>
                </a:tc>
                <a:tc>
                  <a:txBody>
                    <a:bodyPr/>
                    <a:lstStyle/>
                    <a:p>
                      <a:r>
                        <a:rPr lang="en-US" dirty="0"/>
                        <a:t>0.10</a:t>
                      </a:r>
                    </a:p>
                  </a:txBody>
                  <a:tcPr/>
                </a:tc>
                <a:extLst>
                  <a:ext uri="{0D108BD9-81ED-4DB2-BD59-A6C34878D82A}">
                    <a16:rowId xmlns:a16="http://schemas.microsoft.com/office/drawing/2014/main" val="10004"/>
                  </a:ext>
                </a:extLst>
              </a:tr>
            </a:tbl>
          </a:graphicData>
        </a:graphic>
      </p:graphicFrame>
      <p:graphicFrame>
        <p:nvGraphicFramePr>
          <p:cNvPr id="5" name="Table 4"/>
          <p:cNvGraphicFramePr>
            <a:graphicFrameLocks noGrp="1"/>
          </p:cNvGraphicFramePr>
          <p:nvPr/>
        </p:nvGraphicFramePr>
        <p:xfrm>
          <a:off x="3421823" y="137490"/>
          <a:ext cx="2713935" cy="3631685"/>
        </p:xfrm>
        <a:graphic>
          <a:graphicData uri="http://schemas.openxmlformats.org/drawingml/2006/table">
            <a:tbl>
              <a:tblPr firstRow="1" bandRow="1">
                <a:tableStyleId>{5C22544A-7EE6-4342-B048-85BDC9FD1C3A}</a:tableStyleId>
              </a:tblPr>
              <a:tblGrid>
                <a:gridCol w="904645">
                  <a:extLst>
                    <a:ext uri="{9D8B030D-6E8A-4147-A177-3AD203B41FA5}">
                      <a16:colId xmlns:a16="http://schemas.microsoft.com/office/drawing/2014/main" val="20000"/>
                    </a:ext>
                  </a:extLst>
                </a:gridCol>
                <a:gridCol w="904645">
                  <a:extLst>
                    <a:ext uri="{9D8B030D-6E8A-4147-A177-3AD203B41FA5}">
                      <a16:colId xmlns:a16="http://schemas.microsoft.com/office/drawing/2014/main" val="20001"/>
                    </a:ext>
                  </a:extLst>
                </a:gridCol>
                <a:gridCol w="904645">
                  <a:extLst>
                    <a:ext uri="{9D8B030D-6E8A-4147-A177-3AD203B41FA5}">
                      <a16:colId xmlns:a16="http://schemas.microsoft.com/office/drawing/2014/main" val="20002"/>
                    </a:ext>
                  </a:extLst>
                </a:gridCol>
              </a:tblGrid>
              <a:tr h="726337">
                <a:tc>
                  <a:txBody>
                    <a:bodyPr/>
                    <a:lstStyle/>
                    <a:p>
                      <a:r>
                        <a:rPr lang="en-US" dirty="0"/>
                        <a:t>State</a:t>
                      </a:r>
                    </a:p>
                  </a:txBody>
                  <a:tcPr/>
                </a:tc>
                <a:tc>
                  <a:txBody>
                    <a:bodyPr/>
                    <a:lstStyle/>
                    <a:p>
                      <a:r>
                        <a:rPr lang="en-US" dirty="0"/>
                        <a:t>Year</a:t>
                      </a:r>
                    </a:p>
                  </a:txBody>
                  <a:tcPr/>
                </a:tc>
                <a:tc>
                  <a:txBody>
                    <a:bodyPr/>
                    <a:lstStyle/>
                    <a:p>
                      <a:r>
                        <a:rPr lang="en-US" dirty="0"/>
                        <a:t>Drug Use</a:t>
                      </a:r>
                    </a:p>
                  </a:txBody>
                  <a:tcPr/>
                </a:tc>
                <a:extLst>
                  <a:ext uri="{0D108BD9-81ED-4DB2-BD59-A6C34878D82A}">
                    <a16:rowId xmlns:a16="http://schemas.microsoft.com/office/drawing/2014/main" val="10000"/>
                  </a:ext>
                </a:extLst>
              </a:tr>
              <a:tr h="726337">
                <a:tc>
                  <a:txBody>
                    <a:bodyPr/>
                    <a:lstStyle/>
                    <a:p>
                      <a:r>
                        <a:rPr lang="en-US" dirty="0"/>
                        <a:t>CA</a:t>
                      </a:r>
                    </a:p>
                  </a:txBody>
                  <a:tcPr/>
                </a:tc>
                <a:tc>
                  <a:txBody>
                    <a:bodyPr/>
                    <a:lstStyle/>
                    <a:p>
                      <a:r>
                        <a:rPr lang="en-US" dirty="0"/>
                        <a:t>2000</a:t>
                      </a:r>
                    </a:p>
                  </a:txBody>
                  <a:tcPr/>
                </a:tc>
                <a:tc>
                  <a:txBody>
                    <a:bodyPr/>
                    <a:lstStyle/>
                    <a:p>
                      <a:r>
                        <a:rPr lang="en-US" dirty="0"/>
                        <a:t>12</a:t>
                      </a:r>
                    </a:p>
                  </a:txBody>
                  <a:tcPr/>
                </a:tc>
                <a:extLst>
                  <a:ext uri="{0D108BD9-81ED-4DB2-BD59-A6C34878D82A}">
                    <a16:rowId xmlns:a16="http://schemas.microsoft.com/office/drawing/2014/main" val="10001"/>
                  </a:ext>
                </a:extLst>
              </a:tr>
              <a:tr h="726337">
                <a:tc>
                  <a:txBody>
                    <a:bodyPr/>
                    <a:lstStyle/>
                    <a:p>
                      <a:r>
                        <a:rPr lang="en-US" dirty="0"/>
                        <a:t>CA</a:t>
                      </a:r>
                    </a:p>
                  </a:txBody>
                  <a:tcPr/>
                </a:tc>
                <a:tc>
                  <a:txBody>
                    <a:bodyPr/>
                    <a:lstStyle/>
                    <a:p>
                      <a:r>
                        <a:rPr lang="en-US" dirty="0"/>
                        <a:t>2001</a:t>
                      </a:r>
                    </a:p>
                  </a:txBody>
                  <a:tcPr/>
                </a:tc>
                <a:tc>
                  <a:txBody>
                    <a:bodyPr/>
                    <a:lstStyle/>
                    <a:p>
                      <a:r>
                        <a:rPr lang="en-US" dirty="0"/>
                        <a:t>11</a:t>
                      </a:r>
                    </a:p>
                  </a:txBody>
                  <a:tcPr/>
                </a:tc>
                <a:extLst>
                  <a:ext uri="{0D108BD9-81ED-4DB2-BD59-A6C34878D82A}">
                    <a16:rowId xmlns:a16="http://schemas.microsoft.com/office/drawing/2014/main" val="10002"/>
                  </a:ext>
                </a:extLst>
              </a:tr>
              <a:tr h="726337">
                <a:tc>
                  <a:txBody>
                    <a:bodyPr/>
                    <a:lstStyle/>
                    <a:p>
                      <a:r>
                        <a:rPr lang="en-US" dirty="0"/>
                        <a:t>OR</a:t>
                      </a:r>
                    </a:p>
                  </a:txBody>
                  <a:tcPr/>
                </a:tc>
                <a:tc>
                  <a:txBody>
                    <a:bodyPr/>
                    <a:lstStyle/>
                    <a:p>
                      <a:r>
                        <a:rPr lang="en-US" dirty="0"/>
                        <a:t>2000</a:t>
                      </a:r>
                    </a:p>
                  </a:txBody>
                  <a:tcPr/>
                </a:tc>
                <a:tc>
                  <a:txBody>
                    <a:bodyPr/>
                    <a:lstStyle/>
                    <a:p>
                      <a:r>
                        <a:rPr lang="en-US" dirty="0"/>
                        <a:t>14</a:t>
                      </a:r>
                    </a:p>
                  </a:txBody>
                  <a:tcPr/>
                </a:tc>
                <a:extLst>
                  <a:ext uri="{0D108BD9-81ED-4DB2-BD59-A6C34878D82A}">
                    <a16:rowId xmlns:a16="http://schemas.microsoft.com/office/drawing/2014/main" val="10003"/>
                  </a:ext>
                </a:extLst>
              </a:tr>
              <a:tr h="726337">
                <a:tc>
                  <a:txBody>
                    <a:bodyPr/>
                    <a:lstStyle/>
                    <a:p>
                      <a:r>
                        <a:rPr lang="en-US" dirty="0"/>
                        <a:t>OR</a:t>
                      </a:r>
                    </a:p>
                  </a:txBody>
                  <a:tcPr/>
                </a:tc>
                <a:tc>
                  <a:txBody>
                    <a:bodyPr/>
                    <a:lstStyle/>
                    <a:p>
                      <a:r>
                        <a:rPr lang="en-US" dirty="0"/>
                        <a:t>2001</a:t>
                      </a:r>
                    </a:p>
                  </a:txBody>
                  <a:tcPr/>
                </a:tc>
                <a:tc>
                  <a:txBody>
                    <a:bodyPr/>
                    <a:lstStyle/>
                    <a:p>
                      <a:r>
                        <a:rPr lang="en-US" dirty="0"/>
                        <a:t>16</a:t>
                      </a:r>
                    </a:p>
                  </a:txBody>
                  <a:tcPr/>
                </a:tc>
                <a:extLst>
                  <a:ext uri="{0D108BD9-81ED-4DB2-BD59-A6C34878D82A}">
                    <a16:rowId xmlns:a16="http://schemas.microsoft.com/office/drawing/2014/main" val="10004"/>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2811821717"/>
              </p:ext>
            </p:extLst>
          </p:nvPr>
        </p:nvGraphicFramePr>
        <p:xfrm>
          <a:off x="6864075" y="137490"/>
          <a:ext cx="4352235" cy="5296805"/>
        </p:xfrm>
        <a:graphic>
          <a:graphicData uri="http://schemas.openxmlformats.org/drawingml/2006/table">
            <a:tbl>
              <a:tblPr firstRow="1" bandRow="1">
                <a:tableStyleId>{5C22544A-7EE6-4342-B048-85BDC9FD1C3A}</a:tableStyleId>
              </a:tblPr>
              <a:tblGrid>
                <a:gridCol w="870447">
                  <a:extLst>
                    <a:ext uri="{9D8B030D-6E8A-4147-A177-3AD203B41FA5}">
                      <a16:colId xmlns:a16="http://schemas.microsoft.com/office/drawing/2014/main" val="20000"/>
                    </a:ext>
                  </a:extLst>
                </a:gridCol>
                <a:gridCol w="870447">
                  <a:extLst>
                    <a:ext uri="{9D8B030D-6E8A-4147-A177-3AD203B41FA5}">
                      <a16:colId xmlns:a16="http://schemas.microsoft.com/office/drawing/2014/main" val="20001"/>
                    </a:ext>
                  </a:extLst>
                </a:gridCol>
                <a:gridCol w="870447">
                  <a:extLst>
                    <a:ext uri="{9D8B030D-6E8A-4147-A177-3AD203B41FA5}">
                      <a16:colId xmlns:a16="http://schemas.microsoft.com/office/drawing/2014/main" val="3771489031"/>
                    </a:ext>
                  </a:extLst>
                </a:gridCol>
                <a:gridCol w="870447">
                  <a:extLst>
                    <a:ext uri="{9D8B030D-6E8A-4147-A177-3AD203B41FA5}">
                      <a16:colId xmlns:a16="http://schemas.microsoft.com/office/drawing/2014/main" val="20002"/>
                    </a:ext>
                  </a:extLst>
                </a:gridCol>
                <a:gridCol w="870447">
                  <a:extLst>
                    <a:ext uri="{9D8B030D-6E8A-4147-A177-3AD203B41FA5}">
                      <a16:colId xmlns:a16="http://schemas.microsoft.com/office/drawing/2014/main" val="20003"/>
                    </a:ext>
                  </a:extLst>
                </a:gridCol>
              </a:tblGrid>
              <a:tr h="618084">
                <a:tc>
                  <a:txBody>
                    <a:bodyPr/>
                    <a:lstStyle/>
                    <a:p>
                      <a:r>
                        <a:rPr lang="en-US" dirty="0"/>
                        <a:t>State</a:t>
                      </a:r>
                    </a:p>
                  </a:txBody>
                  <a:tcPr/>
                </a:tc>
                <a:tc>
                  <a:txBody>
                    <a:bodyPr/>
                    <a:lstStyle/>
                    <a:p>
                      <a:r>
                        <a:rPr lang="en-US" dirty="0"/>
                        <a:t>Year Crime</a:t>
                      </a:r>
                    </a:p>
                  </a:txBody>
                  <a:tcPr/>
                </a:tc>
                <a:tc>
                  <a:txBody>
                    <a:bodyPr/>
                    <a:lstStyle/>
                    <a:p>
                      <a:r>
                        <a:rPr lang="en-US" dirty="0"/>
                        <a:t>Year Drug</a:t>
                      </a:r>
                    </a:p>
                  </a:txBody>
                  <a:tcPr/>
                </a:tc>
                <a:tc>
                  <a:txBody>
                    <a:bodyPr/>
                    <a:lstStyle/>
                    <a:p>
                      <a:r>
                        <a:rPr lang="en-US" dirty="0" err="1"/>
                        <a:t>CrimeRate</a:t>
                      </a:r>
                      <a:endParaRPr lang="en-US" dirty="0"/>
                    </a:p>
                  </a:txBody>
                  <a:tcPr/>
                </a:tc>
                <a:tc>
                  <a:txBody>
                    <a:bodyPr/>
                    <a:lstStyle/>
                    <a:p>
                      <a:r>
                        <a:rPr lang="en-US" dirty="0"/>
                        <a:t>Drug Use</a:t>
                      </a:r>
                    </a:p>
                  </a:txBody>
                  <a:tcPr/>
                </a:tc>
                <a:extLst>
                  <a:ext uri="{0D108BD9-81ED-4DB2-BD59-A6C34878D82A}">
                    <a16:rowId xmlns:a16="http://schemas.microsoft.com/office/drawing/2014/main" val="10000"/>
                  </a:ext>
                </a:extLst>
              </a:tr>
              <a:tr h="519770">
                <a:tc>
                  <a:txBody>
                    <a:bodyPr/>
                    <a:lstStyle/>
                    <a:p>
                      <a:r>
                        <a:rPr lang="en-US" dirty="0"/>
                        <a:t>CA</a:t>
                      </a:r>
                    </a:p>
                  </a:txBody>
                  <a:tcPr/>
                </a:tc>
                <a:tc>
                  <a:txBody>
                    <a:bodyPr/>
                    <a:lstStyle/>
                    <a:p>
                      <a:r>
                        <a:rPr lang="en-US" dirty="0"/>
                        <a:t>2000</a:t>
                      </a:r>
                    </a:p>
                  </a:txBody>
                  <a:tcPr/>
                </a:tc>
                <a:tc>
                  <a:txBody>
                    <a:bodyPr/>
                    <a:lstStyle/>
                    <a:p>
                      <a:r>
                        <a:rPr lang="en-US" dirty="0"/>
                        <a:t>2000</a:t>
                      </a:r>
                    </a:p>
                  </a:txBody>
                  <a:tcPr/>
                </a:tc>
                <a:tc>
                  <a:txBody>
                    <a:bodyPr/>
                    <a:lstStyle/>
                    <a:p>
                      <a:r>
                        <a:rPr lang="en-US" dirty="0"/>
                        <a:t>0.15</a:t>
                      </a:r>
                    </a:p>
                  </a:txBody>
                  <a:tcPr/>
                </a:tc>
                <a:tc>
                  <a:txBody>
                    <a:bodyPr/>
                    <a:lstStyle/>
                    <a:p>
                      <a:r>
                        <a:rPr lang="en-US" dirty="0"/>
                        <a:t>12</a:t>
                      </a:r>
                    </a:p>
                  </a:txBody>
                  <a:tcPr/>
                </a:tc>
                <a:extLst>
                  <a:ext uri="{0D108BD9-81ED-4DB2-BD59-A6C34878D82A}">
                    <a16:rowId xmlns:a16="http://schemas.microsoft.com/office/drawing/2014/main" val="10001"/>
                  </a:ext>
                </a:extLst>
              </a:tr>
              <a:tr h="439804">
                <a:tc>
                  <a:txBody>
                    <a:bodyPr/>
                    <a:lstStyle/>
                    <a:p>
                      <a:r>
                        <a:rPr lang="en-US" dirty="0"/>
                        <a:t>CA </a:t>
                      </a:r>
                    </a:p>
                  </a:txBody>
                  <a:tcPr/>
                </a:tc>
                <a:tc>
                  <a:txBody>
                    <a:bodyPr/>
                    <a:lstStyle/>
                    <a:p>
                      <a:r>
                        <a:rPr lang="en-US" dirty="0"/>
                        <a:t>2000</a:t>
                      </a:r>
                    </a:p>
                  </a:txBody>
                  <a:tcPr/>
                </a:tc>
                <a:tc>
                  <a:txBody>
                    <a:bodyPr/>
                    <a:lstStyle/>
                    <a:p>
                      <a:r>
                        <a:rPr lang="en-US" dirty="0"/>
                        <a:t>2001</a:t>
                      </a:r>
                    </a:p>
                  </a:txBody>
                  <a:tcPr/>
                </a:tc>
                <a:tc>
                  <a:txBody>
                    <a:bodyPr/>
                    <a:lstStyle/>
                    <a:p>
                      <a:r>
                        <a:rPr lang="en-US" dirty="0"/>
                        <a:t>0.15</a:t>
                      </a:r>
                    </a:p>
                  </a:txBody>
                  <a:tcPr/>
                </a:tc>
                <a:tc>
                  <a:txBody>
                    <a:bodyPr/>
                    <a:lstStyle/>
                    <a:p>
                      <a:r>
                        <a:rPr lang="en-US" dirty="0"/>
                        <a:t>11</a:t>
                      </a:r>
                    </a:p>
                  </a:txBody>
                  <a:tcPr/>
                </a:tc>
                <a:extLst>
                  <a:ext uri="{0D108BD9-81ED-4DB2-BD59-A6C34878D82A}">
                    <a16:rowId xmlns:a16="http://schemas.microsoft.com/office/drawing/2014/main" val="1016273374"/>
                  </a:ext>
                </a:extLst>
              </a:tr>
              <a:tr h="426477">
                <a:tc>
                  <a:txBody>
                    <a:bodyPr/>
                    <a:lstStyle/>
                    <a:p>
                      <a:r>
                        <a:rPr lang="en-US" dirty="0"/>
                        <a:t>CA</a:t>
                      </a:r>
                    </a:p>
                  </a:txBody>
                  <a:tcPr/>
                </a:tc>
                <a:tc>
                  <a:txBody>
                    <a:bodyPr/>
                    <a:lstStyle/>
                    <a:p>
                      <a:r>
                        <a:rPr lang="en-US" dirty="0"/>
                        <a:t>2001</a:t>
                      </a:r>
                    </a:p>
                  </a:txBody>
                  <a:tcPr/>
                </a:tc>
                <a:tc>
                  <a:txBody>
                    <a:bodyPr/>
                    <a:lstStyle/>
                    <a:p>
                      <a:r>
                        <a:rPr lang="en-US" dirty="0"/>
                        <a:t>2000</a:t>
                      </a:r>
                    </a:p>
                  </a:txBody>
                  <a:tcPr/>
                </a:tc>
                <a:tc>
                  <a:txBody>
                    <a:bodyPr/>
                    <a:lstStyle/>
                    <a:p>
                      <a:r>
                        <a:rPr lang="en-US" dirty="0"/>
                        <a:t>0.18</a:t>
                      </a:r>
                    </a:p>
                  </a:txBody>
                  <a:tcPr/>
                </a:tc>
                <a:tc>
                  <a:txBody>
                    <a:bodyPr/>
                    <a:lstStyle/>
                    <a:p>
                      <a:r>
                        <a:rPr lang="en-US"/>
                        <a:t>12</a:t>
                      </a:r>
                      <a:endParaRPr lang="en-US" dirty="0"/>
                    </a:p>
                  </a:txBody>
                  <a:tcPr/>
                </a:tc>
                <a:extLst>
                  <a:ext uri="{0D108BD9-81ED-4DB2-BD59-A6C34878D82A}">
                    <a16:rowId xmlns:a16="http://schemas.microsoft.com/office/drawing/2014/main" val="10002"/>
                  </a:ext>
                </a:extLst>
              </a:tr>
              <a:tr h="479787">
                <a:tc>
                  <a:txBody>
                    <a:bodyPr/>
                    <a:lstStyle/>
                    <a:p>
                      <a:r>
                        <a:rPr lang="en-US" dirty="0"/>
                        <a:t>CA </a:t>
                      </a:r>
                    </a:p>
                  </a:txBody>
                  <a:tcPr/>
                </a:tc>
                <a:tc>
                  <a:txBody>
                    <a:bodyPr/>
                    <a:lstStyle/>
                    <a:p>
                      <a:r>
                        <a:rPr lang="en-US" dirty="0"/>
                        <a:t>2001</a:t>
                      </a:r>
                    </a:p>
                  </a:txBody>
                  <a:tcPr/>
                </a:tc>
                <a:tc>
                  <a:txBody>
                    <a:bodyPr/>
                    <a:lstStyle/>
                    <a:p>
                      <a:r>
                        <a:rPr lang="en-US" dirty="0"/>
                        <a:t>2001</a:t>
                      </a:r>
                    </a:p>
                  </a:txBody>
                  <a:tcPr/>
                </a:tc>
                <a:tc>
                  <a:txBody>
                    <a:bodyPr/>
                    <a:lstStyle/>
                    <a:p>
                      <a:r>
                        <a:rPr lang="en-US" dirty="0"/>
                        <a:t>0.18</a:t>
                      </a:r>
                    </a:p>
                  </a:txBody>
                  <a:tcPr/>
                </a:tc>
                <a:tc>
                  <a:txBody>
                    <a:bodyPr/>
                    <a:lstStyle/>
                    <a:p>
                      <a:r>
                        <a:rPr lang="en-US" dirty="0"/>
                        <a:t>11</a:t>
                      </a:r>
                    </a:p>
                  </a:txBody>
                  <a:tcPr/>
                </a:tc>
                <a:extLst>
                  <a:ext uri="{0D108BD9-81ED-4DB2-BD59-A6C34878D82A}">
                    <a16:rowId xmlns:a16="http://schemas.microsoft.com/office/drawing/2014/main" val="906664942"/>
                  </a:ext>
                </a:extLst>
              </a:tr>
              <a:tr h="613061">
                <a:tc>
                  <a:txBody>
                    <a:bodyPr/>
                    <a:lstStyle/>
                    <a:p>
                      <a:r>
                        <a:rPr lang="en-US" dirty="0"/>
                        <a:t>OR</a:t>
                      </a:r>
                    </a:p>
                  </a:txBody>
                  <a:tcPr/>
                </a:tc>
                <a:tc>
                  <a:txBody>
                    <a:bodyPr/>
                    <a:lstStyle/>
                    <a:p>
                      <a:r>
                        <a:rPr lang="en-US" dirty="0"/>
                        <a:t>2000</a:t>
                      </a:r>
                    </a:p>
                  </a:txBody>
                  <a:tcPr/>
                </a:tc>
                <a:tc>
                  <a:txBody>
                    <a:bodyPr/>
                    <a:lstStyle/>
                    <a:p>
                      <a:r>
                        <a:rPr lang="en-US" dirty="0"/>
                        <a:t>2000</a:t>
                      </a:r>
                    </a:p>
                  </a:txBody>
                  <a:tcPr/>
                </a:tc>
                <a:tc>
                  <a:txBody>
                    <a:bodyPr/>
                    <a:lstStyle/>
                    <a:p>
                      <a:r>
                        <a:rPr lang="en-US" dirty="0"/>
                        <a:t>0.09</a:t>
                      </a:r>
                    </a:p>
                  </a:txBody>
                  <a:tcPr/>
                </a:tc>
                <a:tc>
                  <a:txBody>
                    <a:bodyPr/>
                    <a:lstStyle/>
                    <a:p>
                      <a:r>
                        <a:rPr lang="en-US" dirty="0"/>
                        <a:t>14</a:t>
                      </a:r>
                    </a:p>
                  </a:txBody>
                  <a:tcPr/>
                </a:tc>
                <a:extLst>
                  <a:ext uri="{0D108BD9-81ED-4DB2-BD59-A6C34878D82A}">
                    <a16:rowId xmlns:a16="http://schemas.microsoft.com/office/drawing/2014/main" val="10003"/>
                  </a:ext>
                </a:extLst>
              </a:tr>
              <a:tr h="613061">
                <a:tc>
                  <a:txBody>
                    <a:bodyPr/>
                    <a:lstStyle/>
                    <a:p>
                      <a:r>
                        <a:rPr lang="en-US" dirty="0"/>
                        <a:t>OR</a:t>
                      </a:r>
                    </a:p>
                  </a:txBody>
                  <a:tcPr/>
                </a:tc>
                <a:tc>
                  <a:txBody>
                    <a:bodyPr/>
                    <a:lstStyle/>
                    <a:p>
                      <a:r>
                        <a:rPr lang="en-US" dirty="0"/>
                        <a:t>2000</a:t>
                      </a:r>
                    </a:p>
                  </a:txBody>
                  <a:tcPr/>
                </a:tc>
                <a:tc>
                  <a:txBody>
                    <a:bodyPr/>
                    <a:lstStyle/>
                    <a:p>
                      <a:r>
                        <a:rPr lang="en-US" dirty="0"/>
                        <a:t>2001</a:t>
                      </a:r>
                    </a:p>
                  </a:txBody>
                  <a:tcPr/>
                </a:tc>
                <a:tc>
                  <a:txBody>
                    <a:bodyPr/>
                    <a:lstStyle/>
                    <a:p>
                      <a:r>
                        <a:rPr lang="en-US" dirty="0"/>
                        <a:t>0.09</a:t>
                      </a:r>
                    </a:p>
                  </a:txBody>
                  <a:tcPr/>
                </a:tc>
                <a:tc>
                  <a:txBody>
                    <a:bodyPr/>
                    <a:lstStyle/>
                    <a:p>
                      <a:r>
                        <a:rPr lang="en-US" dirty="0"/>
                        <a:t>16</a:t>
                      </a:r>
                    </a:p>
                  </a:txBody>
                  <a:tcPr/>
                </a:tc>
                <a:extLst>
                  <a:ext uri="{0D108BD9-81ED-4DB2-BD59-A6C34878D82A}">
                    <a16:rowId xmlns:a16="http://schemas.microsoft.com/office/drawing/2014/main" val="4031944658"/>
                  </a:ext>
                </a:extLst>
              </a:tr>
              <a:tr h="459583">
                <a:tc>
                  <a:txBody>
                    <a:bodyPr/>
                    <a:lstStyle/>
                    <a:p>
                      <a:r>
                        <a:rPr lang="en-US" dirty="0"/>
                        <a:t>OR</a:t>
                      </a:r>
                    </a:p>
                  </a:txBody>
                  <a:tcPr/>
                </a:tc>
                <a:tc>
                  <a:txBody>
                    <a:bodyPr/>
                    <a:lstStyle/>
                    <a:p>
                      <a:r>
                        <a:rPr lang="en-US" dirty="0"/>
                        <a:t>2001</a:t>
                      </a:r>
                    </a:p>
                  </a:txBody>
                  <a:tcPr/>
                </a:tc>
                <a:tc>
                  <a:txBody>
                    <a:bodyPr/>
                    <a:lstStyle/>
                    <a:p>
                      <a:r>
                        <a:rPr lang="en-US" dirty="0"/>
                        <a:t>2000</a:t>
                      </a:r>
                    </a:p>
                  </a:txBody>
                  <a:tcPr/>
                </a:tc>
                <a:tc>
                  <a:txBody>
                    <a:bodyPr/>
                    <a:lstStyle/>
                    <a:p>
                      <a:r>
                        <a:rPr lang="en-US" dirty="0"/>
                        <a:t>0.10</a:t>
                      </a:r>
                    </a:p>
                  </a:txBody>
                  <a:tcPr/>
                </a:tc>
                <a:tc>
                  <a:txBody>
                    <a:bodyPr/>
                    <a:lstStyle/>
                    <a:p>
                      <a:r>
                        <a:rPr lang="en-US" dirty="0"/>
                        <a:t>14</a:t>
                      </a:r>
                    </a:p>
                  </a:txBody>
                  <a:tcPr/>
                </a:tc>
                <a:extLst>
                  <a:ext uri="{0D108BD9-81ED-4DB2-BD59-A6C34878D82A}">
                    <a16:rowId xmlns:a16="http://schemas.microsoft.com/office/drawing/2014/main" val="10004"/>
                  </a:ext>
                </a:extLst>
              </a:tr>
              <a:tr h="1105182">
                <a:tc>
                  <a:txBody>
                    <a:bodyPr/>
                    <a:lstStyle/>
                    <a:p>
                      <a:r>
                        <a:rPr lang="en-US" dirty="0"/>
                        <a:t>OR</a:t>
                      </a:r>
                    </a:p>
                  </a:txBody>
                  <a:tcPr/>
                </a:tc>
                <a:tc>
                  <a:txBody>
                    <a:bodyPr/>
                    <a:lstStyle/>
                    <a:p>
                      <a:r>
                        <a:rPr lang="en-US" dirty="0"/>
                        <a:t>2001</a:t>
                      </a:r>
                    </a:p>
                  </a:txBody>
                  <a:tcPr/>
                </a:tc>
                <a:tc>
                  <a:txBody>
                    <a:bodyPr/>
                    <a:lstStyle/>
                    <a:p>
                      <a:r>
                        <a:rPr lang="en-US" dirty="0"/>
                        <a:t>2001</a:t>
                      </a:r>
                    </a:p>
                  </a:txBody>
                  <a:tcPr/>
                </a:tc>
                <a:tc>
                  <a:txBody>
                    <a:bodyPr/>
                    <a:lstStyle/>
                    <a:p>
                      <a:r>
                        <a:rPr lang="en-US" dirty="0"/>
                        <a:t>0.10</a:t>
                      </a:r>
                    </a:p>
                  </a:txBody>
                  <a:tcPr/>
                </a:tc>
                <a:tc>
                  <a:txBody>
                    <a:bodyPr/>
                    <a:lstStyle/>
                    <a:p>
                      <a:r>
                        <a:rPr lang="en-US" dirty="0"/>
                        <a:t>16</a:t>
                      </a:r>
                    </a:p>
                  </a:txBody>
                  <a:tcPr/>
                </a:tc>
                <a:extLst>
                  <a:ext uri="{0D108BD9-81ED-4DB2-BD59-A6C34878D82A}">
                    <a16:rowId xmlns:a16="http://schemas.microsoft.com/office/drawing/2014/main" val="2750568338"/>
                  </a:ext>
                </a:extLst>
              </a:tr>
            </a:tbl>
          </a:graphicData>
        </a:graphic>
      </p:graphicFrame>
    </p:spTree>
    <p:extLst>
      <p:ext uri="{BB962C8B-B14F-4D97-AF65-F5344CB8AC3E}">
        <p14:creationId xmlns:p14="http://schemas.microsoft.com/office/powerpoint/2010/main" val="23389388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5888A3-B6E8-446B-BA0C-4BA6A96E7496}"/>
              </a:ext>
            </a:extLst>
          </p:cNvPr>
          <p:cNvSpPr>
            <a:spLocks noGrp="1"/>
          </p:cNvSpPr>
          <p:nvPr>
            <p:ph type="title"/>
          </p:nvPr>
        </p:nvSpPr>
        <p:spPr/>
        <p:txBody>
          <a:bodyPr/>
          <a:lstStyle/>
          <a:p>
            <a:r>
              <a:rPr lang="en-US" dirty="0"/>
              <a:t>1:1 vs Many:1 vs </a:t>
            </a:r>
            <a:r>
              <a:rPr lang="en-US" dirty="0" err="1"/>
              <a:t>Many:Many</a:t>
            </a:r>
            <a:endParaRPr lang="en-US" dirty="0"/>
          </a:p>
        </p:txBody>
      </p:sp>
      <p:sp>
        <p:nvSpPr>
          <p:cNvPr id="3" name="Content Placeholder 2">
            <a:extLst>
              <a:ext uri="{FF2B5EF4-FFF2-40B4-BE49-F238E27FC236}">
                <a16:creationId xmlns:a16="http://schemas.microsoft.com/office/drawing/2014/main" id="{2E88EC0D-8DC4-482E-B9C5-B3791A217661}"/>
              </a:ext>
            </a:extLst>
          </p:cNvPr>
          <p:cNvSpPr>
            <a:spLocks noGrp="1"/>
          </p:cNvSpPr>
          <p:nvPr>
            <p:ph idx="1"/>
          </p:nvPr>
        </p:nvSpPr>
        <p:spPr/>
        <p:txBody>
          <a:bodyPr/>
          <a:lstStyle/>
          <a:p>
            <a:r>
              <a:rPr lang="en-US" dirty="0" err="1"/>
              <a:t>Many:Many</a:t>
            </a:r>
            <a:r>
              <a:rPr lang="en-US" dirty="0"/>
              <a:t> not that common in practice but Many:1 are.</a:t>
            </a:r>
          </a:p>
          <a:p>
            <a:r>
              <a:rPr lang="en-US" dirty="0"/>
              <a:t>For example, suppose you are merging panel data with data that has permanent characteristics of the cross-sectional variable.  </a:t>
            </a:r>
          </a:p>
          <a:p>
            <a:r>
              <a:rPr lang="en-US" dirty="0"/>
              <a:t>For example, an experiment where subjects made choices over time merged with demographic data on the subjects.  There is one observation per subject in the demographic data set but many observations in the experiment data set.</a:t>
            </a:r>
          </a:p>
          <a:p>
            <a:r>
              <a:rPr lang="en-US" dirty="0"/>
              <a:t>The merged data will be the same length as experimental data set with demographic data repeated.</a:t>
            </a:r>
          </a:p>
          <a:p>
            <a:endParaRPr lang="en-US" dirty="0"/>
          </a:p>
        </p:txBody>
      </p:sp>
    </p:spTree>
    <p:extLst>
      <p:ext uri="{BB962C8B-B14F-4D97-AF65-F5344CB8AC3E}">
        <p14:creationId xmlns:p14="http://schemas.microsoft.com/office/powerpoint/2010/main" val="34359857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544678914"/>
              </p:ext>
            </p:extLst>
          </p:nvPr>
        </p:nvGraphicFramePr>
        <p:xfrm>
          <a:off x="282715" y="2171699"/>
          <a:ext cx="2713935" cy="3631685"/>
        </p:xfrm>
        <a:graphic>
          <a:graphicData uri="http://schemas.openxmlformats.org/drawingml/2006/table">
            <a:tbl>
              <a:tblPr firstRow="1" bandRow="1">
                <a:tableStyleId>{5C22544A-7EE6-4342-B048-85BDC9FD1C3A}</a:tableStyleId>
              </a:tblPr>
              <a:tblGrid>
                <a:gridCol w="904645">
                  <a:extLst>
                    <a:ext uri="{9D8B030D-6E8A-4147-A177-3AD203B41FA5}">
                      <a16:colId xmlns:a16="http://schemas.microsoft.com/office/drawing/2014/main" val="20000"/>
                    </a:ext>
                  </a:extLst>
                </a:gridCol>
                <a:gridCol w="904645">
                  <a:extLst>
                    <a:ext uri="{9D8B030D-6E8A-4147-A177-3AD203B41FA5}">
                      <a16:colId xmlns:a16="http://schemas.microsoft.com/office/drawing/2014/main" val="20001"/>
                    </a:ext>
                  </a:extLst>
                </a:gridCol>
                <a:gridCol w="904645">
                  <a:extLst>
                    <a:ext uri="{9D8B030D-6E8A-4147-A177-3AD203B41FA5}">
                      <a16:colId xmlns:a16="http://schemas.microsoft.com/office/drawing/2014/main" val="20002"/>
                    </a:ext>
                  </a:extLst>
                </a:gridCol>
              </a:tblGrid>
              <a:tr h="726337">
                <a:tc>
                  <a:txBody>
                    <a:bodyPr/>
                    <a:lstStyle/>
                    <a:p>
                      <a:r>
                        <a:rPr lang="en-US" dirty="0"/>
                        <a:t>Subject</a:t>
                      </a:r>
                    </a:p>
                  </a:txBody>
                  <a:tcPr/>
                </a:tc>
                <a:tc>
                  <a:txBody>
                    <a:bodyPr/>
                    <a:lstStyle/>
                    <a:p>
                      <a:r>
                        <a:rPr lang="en-US" dirty="0"/>
                        <a:t>Round</a:t>
                      </a:r>
                    </a:p>
                  </a:txBody>
                  <a:tcPr/>
                </a:tc>
                <a:tc>
                  <a:txBody>
                    <a:bodyPr/>
                    <a:lstStyle/>
                    <a:p>
                      <a:r>
                        <a:rPr lang="en-US" dirty="0"/>
                        <a:t>Choice</a:t>
                      </a:r>
                    </a:p>
                  </a:txBody>
                  <a:tcPr/>
                </a:tc>
                <a:extLst>
                  <a:ext uri="{0D108BD9-81ED-4DB2-BD59-A6C34878D82A}">
                    <a16:rowId xmlns:a16="http://schemas.microsoft.com/office/drawing/2014/main" val="10000"/>
                  </a:ext>
                </a:extLst>
              </a:tr>
              <a:tr h="726337">
                <a:tc>
                  <a:txBody>
                    <a:bodyPr/>
                    <a:lstStyle/>
                    <a:p>
                      <a:r>
                        <a:rPr lang="en-US" dirty="0"/>
                        <a:t>1</a:t>
                      </a:r>
                    </a:p>
                  </a:txBody>
                  <a:tcPr/>
                </a:tc>
                <a:tc>
                  <a:txBody>
                    <a:bodyPr/>
                    <a:lstStyle/>
                    <a:p>
                      <a:r>
                        <a:rPr lang="en-US" dirty="0"/>
                        <a:t>1</a:t>
                      </a:r>
                    </a:p>
                  </a:txBody>
                  <a:tcPr/>
                </a:tc>
                <a:tc>
                  <a:txBody>
                    <a:bodyPr/>
                    <a:lstStyle/>
                    <a:p>
                      <a:r>
                        <a:rPr lang="en-US" dirty="0"/>
                        <a:t>4</a:t>
                      </a:r>
                    </a:p>
                  </a:txBody>
                  <a:tcPr/>
                </a:tc>
                <a:extLst>
                  <a:ext uri="{0D108BD9-81ED-4DB2-BD59-A6C34878D82A}">
                    <a16:rowId xmlns:a16="http://schemas.microsoft.com/office/drawing/2014/main" val="10001"/>
                  </a:ext>
                </a:extLst>
              </a:tr>
              <a:tr h="726337">
                <a:tc>
                  <a:txBody>
                    <a:bodyPr/>
                    <a:lstStyle/>
                    <a:p>
                      <a:r>
                        <a:rPr lang="en-US" dirty="0"/>
                        <a:t>1</a:t>
                      </a:r>
                    </a:p>
                  </a:txBody>
                  <a:tcPr/>
                </a:tc>
                <a:tc>
                  <a:txBody>
                    <a:bodyPr/>
                    <a:lstStyle/>
                    <a:p>
                      <a:r>
                        <a:rPr lang="en-US" dirty="0"/>
                        <a:t>2</a:t>
                      </a:r>
                    </a:p>
                  </a:txBody>
                  <a:tcPr/>
                </a:tc>
                <a:tc>
                  <a:txBody>
                    <a:bodyPr/>
                    <a:lstStyle/>
                    <a:p>
                      <a:r>
                        <a:rPr lang="en-US" dirty="0"/>
                        <a:t>3</a:t>
                      </a:r>
                    </a:p>
                  </a:txBody>
                  <a:tcPr/>
                </a:tc>
                <a:extLst>
                  <a:ext uri="{0D108BD9-81ED-4DB2-BD59-A6C34878D82A}">
                    <a16:rowId xmlns:a16="http://schemas.microsoft.com/office/drawing/2014/main" val="10002"/>
                  </a:ext>
                </a:extLst>
              </a:tr>
              <a:tr h="726337">
                <a:tc>
                  <a:txBody>
                    <a:bodyPr/>
                    <a:lstStyle/>
                    <a:p>
                      <a:r>
                        <a:rPr lang="en-US" dirty="0"/>
                        <a:t>2</a:t>
                      </a:r>
                    </a:p>
                  </a:txBody>
                  <a:tcPr/>
                </a:tc>
                <a:tc>
                  <a:txBody>
                    <a:bodyPr/>
                    <a:lstStyle/>
                    <a:p>
                      <a:r>
                        <a:rPr lang="en-US" dirty="0"/>
                        <a:t>1</a:t>
                      </a:r>
                    </a:p>
                  </a:txBody>
                  <a:tcPr/>
                </a:tc>
                <a:tc>
                  <a:txBody>
                    <a:bodyPr/>
                    <a:lstStyle/>
                    <a:p>
                      <a:r>
                        <a:rPr lang="en-US" dirty="0"/>
                        <a:t>2</a:t>
                      </a:r>
                    </a:p>
                  </a:txBody>
                  <a:tcPr/>
                </a:tc>
                <a:extLst>
                  <a:ext uri="{0D108BD9-81ED-4DB2-BD59-A6C34878D82A}">
                    <a16:rowId xmlns:a16="http://schemas.microsoft.com/office/drawing/2014/main" val="10003"/>
                  </a:ext>
                </a:extLst>
              </a:tr>
              <a:tr h="726337">
                <a:tc>
                  <a:txBody>
                    <a:bodyPr/>
                    <a:lstStyle/>
                    <a:p>
                      <a:r>
                        <a:rPr lang="en-US" dirty="0"/>
                        <a:t>2</a:t>
                      </a:r>
                    </a:p>
                  </a:txBody>
                  <a:tcPr/>
                </a:tc>
                <a:tc>
                  <a:txBody>
                    <a:bodyPr/>
                    <a:lstStyle/>
                    <a:p>
                      <a:r>
                        <a:rPr lang="en-US" dirty="0"/>
                        <a:t>2</a:t>
                      </a:r>
                    </a:p>
                  </a:txBody>
                  <a:tcPr/>
                </a:tc>
                <a:tc>
                  <a:txBody>
                    <a:bodyPr/>
                    <a:lstStyle/>
                    <a:p>
                      <a:r>
                        <a:rPr lang="en-US" dirty="0"/>
                        <a:t>4</a:t>
                      </a:r>
                    </a:p>
                  </a:txBody>
                  <a:tcPr/>
                </a:tc>
                <a:extLst>
                  <a:ext uri="{0D108BD9-81ED-4DB2-BD59-A6C34878D82A}">
                    <a16:rowId xmlns:a16="http://schemas.microsoft.com/office/drawing/2014/main" val="10004"/>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2814257784"/>
              </p:ext>
            </p:extLst>
          </p:nvPr>
        </p:nvGraphicFramePr>
        <p:xfrm>
          <a:off x="3421823" y="137490"/>
          <a:ext cx="2713935" cy="2179011"/>
        </p:xfrm>
        <a:graphic>
          <a:graphicData uri="http://schemas.openxmlformats.org/drawingml/2006/table">
            <a:tbl>
              <a:tblPr firstRow="1" bandRow="1">
                <a:tableStyleId>{5C22544A-7EE6-4342-B048-85BDC9FD1C3A}</a:tableStyleId>
              </a:tblPr>
              <a:tblGrid>
                <a:gridCol w="904645">
                  <a:extLst>
                    <a:ext uri="{9D8B030D-6E8A-4147-A177-3AD203B41FA5}">
                      <a16:colId xmlns:a16="http://schemas.microsoft.com/office/drawing/2014/main" val="20000"/>
                    </a:ext>
                  </a:extLst>
                </a:gridCol>
                <a:gridCol w="904645">
                  <a:extLst>
                    <a:ext uri="{9D8B030D-6E8A-4147-A177-3AD203B41FA5}">
                      <a16:colId xmlns:a16="http://schemas.microsoft.com/office/drawing/2014/main" val="20001"/>
                    </a:ext>
                  </a:extLst>
                </a:gridCol>
                <a:gridCol w="904645">
                  <a:extLst>
                    <a:ext uri="{9D8B030D-6E8A-4147-A177-3AD203B41FA5}">
                      <a16:colId xmlns:a16="http://schemas.microsoft.com/office/drawing/2014/main" val="20002"/>
                    </a:ext>
                  </a:extLst>
                </a:gridCol>
              </a:tblGrid>
              <a:tr h="726337">
                <a:tc>
                  <a:txBody>
                    <a:bodyPr/>
                    <a:lstStyle/>
                    <a:p>
                      <a:r>
                        <a:rPr lang="en-US" dirty="0"/>
                        <a:t>Subject</a:t>
                      </a:r>
                    </a:p>
                  </a:txBody>
                  <a:tcPr/>
                </a:tc>
                <a:tc>
                  <a:txBody>
                    <a:bodyPr/>
                    <a:lstStyle/>
                    <a:p>
                      <a:r>
                        <a:rPr lang="en-US" dirty="0"/>
                        <a:t>Gender</a:t>
                      </a:r>
                    </a:p>
                  </a:txBody>
                  <a:tcPr/>
                </a:tc>
                <a:tc>
                  <a:txBody>
                    <a:bodyPr/>
                    <a:lstStyle/>
                    <a:p>
                      <a:r>
                        <a:rPr lang="en-US" dirty="0"/>
                        <a:t>Age</a:t>
                      </a:r>
                    </a:p>
                  </a:txBody>
                  <a:tcPr/>
                </a:tc>
                <a:extLst>
                  <a:ext uri="{0D108BD9-81ED-4DB2-BD59-A6C34878D82A}">
                    <a16:rowId xmlns:a16="http://schemas.microsoft.com/office/drawing/2014/main" val="10000"/>
                  </a:ext>
                </a:extLst>
              </a:tr>
              <a:tr h="726337">
                <a:tc>
                  <a:txBody>
                    <a:bodyPr/>
                    <a:lstStyle/>
                    <a:p>
                      <a:r>
                        <a:rPr lang="en-US" dirty="0"/>
                        <a:t>1</a:t>
                      </a:r>
                    </a:p>
                  </a:txBody>
                  <a:tcPr/>
                </a:tc>
                <a:tc>
                  <a:txBody>
                    <a:bodyPr/>
                    <a:lstStyle/>
                    <a:p>
                      <a:r>
                        <a:rPr lang="en-US" dirty="0"/>
                        <a:t>0</a:t>
                      </a:r>
                    </a:p>
                  </a:txBody>
                  <a:tcPr/>
                </a:tc>
                <a:tc>
                  <a:txBody>
                    <a:bodyPr/>
                    <a:lstStyle/>
                    <a:p>
                      <a:r>
                        <a:rPr lang="en-US" dirty="0"/>
                        <a:t>20</a:t>
                      </a:r>
                    </a:p>
                  </a:txBody>
                  <a:tcPr/>
                </a:tc>
                <a:extLst>
                  <a:ext uri="{0D108BD9-81ED-4DB2-BD59-A6C34878D82A}">
                    <a16:rowId xmlns:a16="http://schemas.microsoft.com/office/drawing/2014/main" val="10001"/>
                  </a:ext>
                </a:extLst>
              </a:tr>
              <a:tr h="726337">
                <a:tc>
                  <a:txBody>
                    <a:bodyPr/>
                    <a:lstStyle/>
                    <a:p>
                      <a:r>
                        <a:rPr lang="en-US" dirty="0"/>
                        <a:t>2</a:t>
                      </a:r>
                    </a:p>
                  </a:txBody>
                  <a:tcPr/>
                </a:tc>
                <a:tc>
                  <a:txBody>
                    <a:bodyPr/>
                    <a:lstStyle/>
                    <a:p>
                      <a:r>
                        <a:rPr lang="en-US" dirty="0"/>
                        <a:t>1</a:t>
                      </a:r>
                    </a:p>
                  </a:txBody>
                  <a:tcPr/>
                </a:tc>
                <a:tc>
                  <a:txBody>
                    <a:bodyPr/>
                    <a:lstStyle/>
                    <a:p>
                      <a:r>
                        <a:rPr lang="en-US" dirty="0"/>
                        <a:t>19</a:t>
                      </a:r>
                    </a:p>
                  </a:txBody>
                  <a:tcPr/>
                </a:tc>
                <a:extLst>
                  <a:ext uri="{0D108BD9-81ED-4DB2-BD59-A6C34878D82A}">
                    <a16:rowId xmlns:a16="http://schemas.microsoft.com/office/drawing/2014/main" val="10002"/>
                  </a:ext>
                </a:extLst>
              </a:tr>
            </a:tbl>
          </a:graphicData>
        </a:graphic>
      </p:graphicFrame>
      <p:graphicFrame>
        <p:nvGraphicFramePr>
          <p:cNvPr id="2" name="Table 1">
            <a:extLst>
              <a:ext uri="{FF2B5EF4-FFF2-40B4-BE49-F238E27FC236}">
                <a16:creationId xmlns:a16="http://schemas.microsoft.com/office/drawing/2014/main" id="{5DE33196-B2B6-4A42-9836-A84B5665A14F}"/>
              </a:ext>
            </a:extLst>
          </p:cNvPr>
          <p:cNvGraphicFramePr>
            <a:graphicFrameLocks noGrp="1"/>
          </p:cNvGraphicFramePr>
          <p:nvPr>
            <p:extLst>
              <p:ext uri="{D42A27DB-BD31-4B8C-83A1-F6EECF244321}">
                <p14:modId xmlns:p14="http://schemas.microsoft.com/office/powerpoint/2010/main" val="1812238419"/>
              </p:ext>
            </p:extLst>
          </p:nvPr>
        </p:nvGraphicFramePr>
        <p:xfrm>
          <a:off x="6259444" y="2544930"/>
          <a:ext cx="5413445" cy="3631685"/>
        </p:xfrm>
        <a:graphic>
          <a:graphicData uri="http://schemas.openxmlformats.org/drawingml/2006/table">
            <a:tbl>
              <a:tblPr firstRow="1" bandRow="1">
                <a:tableStyleId>{5C22544A-7EE6-4342-B048-85BDC9FD1C3A}</a:tableStyleId>
              </a:tblPr>
              <a:tblGrid>
                <a:gridCol w="1082689">
                  <a:extLst>
                    <a:ext uri="{9D8B030D-6E8A-4147-A177-3AD203B41FA5}">
                      <a16:colId xmlns:a16="http://schemas.microsoft.com/office/drawing/2014/main" val="20000"/>
                    </a:ext>
                  </a:extLst>
                </a:gridCol>
                <a:gridCol w="1082689">
                  <a:extLst>
                    <a:ext uri="{9D8B030D-6E8A-4147-A177-3AD203B41FA5}">
                      <a16:colId xmlns:a16="http://schemas.microsoft.com/office/drawing/2014/main" val="20001"/>
                    </a:ext>
                  </a:extLst>
                </a:gridCol>
                <a:gridCol w="1082689">
                  <a:extLst>
                    <a:ext uri="{9D8B030D-6E8A-4147-A177-3AD203B41FA5}">
                      <a16:colId xmlns:a16="http://schemas.microsoft.com/office/drawing/2014/main" val="20002"/>
                    </a:ext>
                  </a:extLst>
                </a:gridCol>
                <a:gridCol w="1082689">
                  <a:extLst>
                    <a:ext uri="{9D8B030D-6E8A-4147-A177-3AD203B41FA5}">
                      <a16:colId xmlns:a16="http://schemas.microsoft.com/office/drawing/2014/main" val="1460915492"/>
                    </a:ext>
                  </a:extLst>
                </a:gridCol>
                <a:gridCol w="1082689">
                  <a:extLst>
                    <a:ext uri="{9D8B030D-6E8A-4147-A177-3AD203B41FA5}">
                      <a16:colId xmlns:a16="http://schemas.microsoft.com/office/drawing/2014/main" val="1367076155"/>
                    </a:ext>
                  </a:extLst>
                </a:gridCol>
              </a:tblGrid>
              <a:tr h="726337">
                <a:tc>
                  <a:txBody>
                    <a:bodyPr/>
                    <a:lstStyle/>
                    <a:p>
                      <a:r>
                        <a:rPr lang="en-US" dirty="0"/>
                        <a:t>Subject</a:t>
                      </a:r>
                    </a:p>
                  </a:txBody>
                  <a:tcPr/>
                </a:tc>
                <a:tc>
                  <a:txBody>
                    <a:bodyPr/>
                    <a:lstStyle/>
                    <a:p>
                      <a:r>
                        <a:rPr lang="en-US" dirty="0"/>
                        <a:t>Round</a:t>
                      </a:r>
                    </a:p>
                  </a:txBody>
                  <a:tcPr/>
                </a:tc>
                <a:tc>
                  <a:txBody>
                    <a:bodyPr/>
                    <a:lstStyle/>
                    <a:p>
                      <a:r>
                        <a:rPr lang="en-US" dirty="0"/>
                        <a:t>Choice</a:t>
                      </a:r>
                    </a:p>
                  </a:txBody>
                  <a:tcPr/>
                </a:tc>
                <a:tc>
                  <a:txBody>
                    <a:bodyPr/>
                    <a:lstStyle/>
                    <a:p>
                      <a:r>
                        <a:rPr lang="en-US" dirty="0"/>
                        <a:t>Gender</a:t>
                      </a:r>
                    </a:p>
                  </a:txBody>
                  <a:tcPr/>
                </a:tc>
                <a:tc>
                  <a:txBody>
                    <a:bodyPr/>
                    <a:lstStyle/>
                    <a:p>
                      <a:r>
                        <a:rPr lang="en-US" dirty="0"/>
                        <a:t>Age</a:t>
                      </a:r>
                    </a:p>
                  </a:txBody>
                  <a:tcPr/>
                </a:tc>
                <a:extLst>
                  <a:ext uri="{0D108BD9-81ED-4DB2-BD59-A6C34878D82A}">
                    <a16:rowId xmlns:a16="http://schemas.microsoft.com/office/drawing/2014/main" val="10000"/>
                  </a:ext>
                </a:extLst>
              </a:tr>
              <a:tr h="726337">
                <a:tc>
                  <a:txBody>
                    <a:bodyPr/>
                    <a:lstStyle/>
                    <a:p>
                      <a:r>
                        <a:rPr lang="en-US" dirty="0"/>
                        <a:t>1</a:t>
                      </a:r>
                    </a:p>
                  </a:txBody>
                  <a:tcPr/>
                </a:tc>
                <a:tc>
                  <a:txBody>
                    <a:bodyPr/>
                    <a:lstStyle/>
                    <a:p>
                      <a:r>
                        <a:rPr lang="en-US" dirty="0"/>
                        <a:t>1</a:t>
                      </a:r>
                    </a:p>
                  </a:txBody>
                  <a:tcPr/>
                </a:tc>
                <a:tc>
                  <a:txBody>
                    <a:bodyPr/>
                    <a:lstStyle/>
                    <a:p>
                      <a:r>
                        <a:rPr lang="en-US" dirty="0"/>
                        <a:t>4</a:t>
                      </a:r>
                    </a:p>
                  </a:txBody>
                  <a:tcPr/>
                </a:tc>
                <a:tc>
                  <a:txBody>
                    <a:bodyPr/>
                    <a:lstStyle/>
                    <a:p>
                      <a:r>
                        <a:rPr lang="en-US" dirty="0"/>
                        <a:t>0</a:t>
                      </a:r>
                    </a:p>
                  </a:txBody>
                  <a:tcPr/>
                </a:tc>
                <a:tc>
                  <a:txBody>
                    <a:bodyPr/>
                    <a:lstStyle/>
                    <a:p>
                      <a:r>
                        <a:rPr lang="en-US" dirty="0"/>
                        <a:t>20</a:t>
                      </a:r>
                    </a:p>
                  </a:txBody>
                  <a:tcPr/>
                </a:tc>
                <a:extLst>
                  <a:ext uri="{0D108BD9-81ED-4DB2-BD59-A6C34878D82A}">
                    <a16:rowId xmlns:a16="http://schemas.microsoft.com/office/drawing/2014/main" val="10001"/>
                  </a:ext>
                </a:extLst>
              </a:tr>
              <a:tr h="726337">
                <a:tc>
                  <a:txBody>
                    <a:bodyPr/>
                    <a:lstStyle/>
                    <a:p>
                      <a:r>
                        <a:rPr lang="en-US" dirty="0"/>
                        <a:t>1</a:t>
                      </a:r>
                    </a:p>
                  </a:txBody>
                  <a:tcPr/>
                </a:tc>
                <a:tc>
                  <a:txBody>
                    <a:bodyPr/>
                    <a:lstStyle/>
                    <a:p>
                      <a:r>
                        <a:rPr lang="en-US" dirty="0"/>
                        <a:t>2</a:t>
                      </a:r>
                    </a:p>
                  </a:txBody>
                  <a:tcPr/>
                </a:tc>
                <a:tc>
                  <a:txBody>
                    <a:bodyPr/>
                    <a:lstStyle/>
                    <a:p>
                      <a:r>
                        <a:rPr lang="en-US" dirty="0"/>
                        <a:t>3</a:t>
                      </a:r>
                    </a:p>
                  </a:txBody>
                  <a:tcPr/>
                </a:tc>
                <a:tc>
                  <a:txBody>
                    <a:bodyPr/>
                    <a:lstStyle/>
                    <a:p>
                      <a:r>
                        <a:rPr lang="en-US" dirty="0"/>
                        <a:t>0</a:t>
                      </a:r>
                    </a:p>
                  </a:txBody>
                  <a:tcPr/>
                </a:tc>
                <a:tc>
                  <a:txBody>
                    <a:bodyPr/>
                    <a:lstStyle/>
                    <a:p>
                      <a:r>
                        <a:rPr lang="en-US" dirty="0"/>
                        <a:t>20</a:t>
                      </a:r>
                    </a:p>
                  </a:txBody>
                  <a:tcPr/>
                </a:tc>
                <a:extLst>
                  <a:ext uri="{0D108BD9-81ED-4DB2-BD59-A6C34878D82A}">
                    <a16:rowId xmlns:a16="http://schemas.microsoft.com/office/drawing/2014/main" val="10002"/>
                  </a:ext>
                </a:extLst>
              </a:tr>
              <a:tr h="726337">
                <a:tc>
                  <a:txBody>
                    <a:bodyPr/>
                    <a:lstStyle/>
                    <a:p>
                      <a:r>
                        <a:rPr lang="en-US" dirty="0"/>
                        <a:t>2</a:t>
                      </a:r>
                    </a:p>
                  </a:txBody>
                  <a:tcPr/>
                </a:tc>
                <a:tc>
                  <a:txBody>
                    <a:bodyPr/>
                    <a:lstStyle/>
                    <a:p>
                      <a:r>
                        <a:rPr lang="en-US" dirty="0"/>
                        <a:t>1</a:t>
                      </a:r>
                    </a:p>
                  </a:txBody>
                  <a:tcPr/>
                </a:tc>
                <a:tc>
                  <a:txBody>
                    <a:bodyPr/>
                    <a:lstStyle/>
                    <a:p>
                      <a:r>
                        <a:rPr lang="en-US" dirty="0"/>
                        <a:t>2</a:t>
                      </a:r>
                    </a:p>
                  </a:txBody>
                  <a:tcPr/>
                </a:tc>
                <a:tc>
                  <a:txBody>
                    <a:bodyPr/>
                    <a:lstStyle/>
                    <a:p>
                      <a:r>
                        <a:rPr lang="en-US" dirty="0"/>
                        <a:t>1</a:t>
                      </a:r>
                    </a:p>
                  </a:txBody>
                  <a:tcPr/>
                </a:tc>
                <a:tc>
                  <a:txBody>
                    <a:bodyPr/>
                    <a:lstStyle/>
                    <a:p>
                      <a:r>
                        <a:rPr lang="en-US" dirty="0"/>
                        <a:t>19</a:t>
                      </a:r>
                    </a:p>
                  </a:txBody>
                  <a:tcPr/>
                </a:tc>
                <a:extLst>
                  <a:ext uri="{0D108BD9-81ED-4DB2-BD59-A6C34878D82A}">
                    <a16:rowId xmlns:a16="http://schemas.microsoft.com/office/drawing/2014/main" val="10003"/>
                  </a:ext>
                </a:extLst>
              </a:tr>
              <a:tr h="726337">
                <a:tc>
                  <a:txBody>
                    <a:bodyPr/>
                    <a:lstStyle/>
                    <a:p>
                      <a:r>
                        <a:rPr lang="en-US" dirty="0"/>
                        <a:t>2</a:t>
                      </a:r>
                    </a:p>
                  </a:txBody>
                  <a:tcPr/>
                </a:tc>
                <a:tc>
                  <a:txBody>
                    <a:bodyPr/>
                    <a:lstStyle/>
                    <a:p>
                      <a:r>
                        <a:rPr lang="en-US" dirty="0"/>
                        <a:t>2</a:t>
                      </a:r>
                    </a:p>
                  </a:txBody>
                  <a:tcPr/>
                </a:tc>
                <a:tc>
                  <a:txBody>
                    <a:bodyPr/>
                    <a:lstStyle/>
                    <a:p>
                      <a:r>
                        <a:rPr lang="en-US" dirty="0"/>
                        <a:t>4</a:t>
                      </a:r>
                    </a:p>
                  </a:txBody>
                  <a:tcPr/>
                </a:tc>
                <a:tc>
                  <a:txBody>
                    <a:bodyPr/>
                    <a:lstStyle/>
                    <a:p>
                      <a:r>
                        <a:rPr lang="en-US" dirty="0"/>
                        <a:t>1</a:t>
                      </a:r>
                    </a:p>
                  </a:txBody>
                  <a:tcPr/>
                </a:tc>
                <a:tc>
                  <a:txBody>
                    <a:bodyPr/>
                    <a:lstStyle/>
                    <a:p>
                      <a:r>
                        <a:rPr lang="en-US" dirty="0"/>
                        <a:t>19</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0341217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10502E-0745-48E9-8227-28D9834F7A6E}"/>
              </a:ext>
            </a:extLst>
          </p:cNvPr>
          <p:cNvSpPr>
            <a:spLocks noGrp="1"/>
          </p:cNvSpPr>
          <p:nvPr>
            <p:ph type="title"/>
          </p:nvPr>
        </p:nvSpPr>
        <p:spPr/>
        <p:txBody>
          <a:bodyPr/>
          <a:lstStyle/>
          <a:p>
            <a:r>
              <a:rPr lang="en-US" dirty="0"/>
              <a:t>Example python code (datawrangling.py)</a:t>
            </a:r>
          </a:p>
        </p:txBody>
      </p:sp>
      <p:sp>
        <p:nvSpPr>
          <p:cNvPr id="3" name="Content Placeholder 2">
            <a:extLst>
              <a:ext uri="{FF2B5EF4-FFF2-40B4-BE49-F238E27FC236}">
                <a16:creationId xmlns:a16="http://schemas.microsoft.com/office/drawing/2014/main" id="{3A9E59B3-7077-4B28-AB17-D9D246932B8C}"/>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42895394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reshape</a:t>
            </a:r>
          </a:p>
        </p:txBody>
      </p:sp>
      <p:sp>
        <p:nvSpPr>
          <p:cNvPr id="3" name="Content Placeholder 2"/>
          <p:cNvSpPr>
            <a:spLocks noGrp="1"/>
          </p:cNvSpPr>
          <p:nvPr>
            <p:ph idx="1"/>
          </p:nvPr>
        </p:nvSpPr>
        <p:spPr/>
        <p:txBody>
          <a:bodyPr/>
          <a:lstStyle/>
          <a:p>
            <a:pPr marL="0" indent="0">
              <a:buNone/>
            </a:pPr>
            <a:r>
              <a:rPr lang="en-US" dirty="0"/>
              <a:t>With panel data (and other data too), it is common to need to switch between wide and long form.</a:t>
            </a:r>
          </a:p>
          <a:p>
            <a:pPr marL="0" indent="0">
              <a:buNone/>
            </a:pPr>
            <a:r>
              <a:rPr lang="en-US" dirty="0"/>
              <a:t>In wide form, multiple values for a single entity are stored in one observation.</a:t>
            </a:r>
          </a:p>
          <a:p>
            <a:pPr marL="0" indent="0">
              <a:buNone/>
            </a:pPr>
            <a:r>
              <a:rPr lang="en-US" dirty="0"/>
              <a:t>In long form, there are multiple observations for a single entity.</a:t>
            </a:r>
          </a:p>
          <a:p>
            <a:pPr marL="0" indent="0">
              <a:buNone/>
            </a:pPr>
            <a:r>
              <a:rPr lang="en-US" dirty="0"/>
              <a:t>I will show examples using </a:t>
            </a:r>
            <a:r>
              <a:rPr lang="en-US" dirty="0" err="1"/>
              <a:t>wide_to_long</a:t>
            </a:r>
            <a:r>
              <a:rPr lang="en-US" dirty="0"/>
              <a:t> and </a:t>
            </a:r>
            <a:r>
              <a:rPr lang="en-US" dirty="0" err="1"/>
              <a:t>pivot_table</a:t>
            </a:r>
            <a:r>
              <a:rPr lang="en-US" dirty="0"/>
              <a:t>.</a:t>
            </a:r>
          </a:p>
          <a:p>
            <a:pPr marL="0" indent="0">
              <a:buNone/>
            </a:pPr>
            <a:endParaRPr lang="en-US" dirty="0"/>
          </a:p>
          <a:p>
            <a:pPr marL="0" indent="0">
              <a:buNone/>
            </a:pPr>
            <a:r>
              <a:rPr lang="en-US" dirty="0"/>
              <a:t>See also:  melt (more general version of </a:t>
            </a:r>
            <a:r>
              <a:rPr lang="en-US" dirty="0" err="1"/>
              <a:t>wide_to_long</a:t>
            </a:r>
            <a:r>
              <a:rPr lang="en-US" dirty="0"/>
              <a:t>) </a:t>
            </a:r>
          </a:p>
          <a:p>
            <a:pPr marL="0" indent="0">
              <a:buNone/>
            </a:pPr>
            <a:r>
              <a:rPr lang="en-US" dirty="0"/>
              <a:t>See also: pivot, stack (other reshaping functions)</a:t>
            </a:r>
          </a:p>
        </p:txBody>
      </p:sp>
    </p:spTree>
    <p:extLst>
      <p:ext uri="{BB962C8B-B14F-4D97-AF65-F5344CB8AC3E}">
        <p14:creationId xmlns:p14="http://schemas.microsoft.com/office/powerpoint/2010/main" val="13274450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3573291008"/>
              </p:ext>
            </p:extLst>
          </p:nvPr>
        </p:nvGraphicFramePr>
        <p:xfrm>
          <a:off x="877078" y="2042491"/>
          <a:ext cx="3267818" cy="3545428"/>
        </p:xfrm>
        <a:graphic>
          <a:graphicData uri="http://schemas.openxmlformats.org/drawingml/2006/table">
            <a:tbl>
              <a:tblPr firstRow="1" bandRow="1">
                <a:tableStyleId>{5C22544A-7EE6-4342-B048-85BDC9FD1C3A}</a:tableStyleId>
              </a:tblPr>
              <a:tblGrid>
                <a:gridCol w="1091700">
                  <a:extLst>
                    <a:ext uri="{9D8B030D-6E8A-4147-A177-3AD203B41FA5}">
                      <a16:colId xmlns:a16="http://schemas.microsoft.com/office/drawing/2014/main" val="20000"/>
                    </a:ext>
                  </a:extLst>
                </a:gridCol>
                <a:gridCol w="1088059">
                  <a:extLst>
                    <a:ext uri="{9D8B030D-6E8A-4147-A177-3AD203B41FA5}">
                      <a16:colId xmlns:a16="http://schemas.microsoft.com/office/drawing/2014/main" val="20001"/>
                    </a:ext>
                  </a:extLst>
                </a:gridCol>
                <a:gridCol w="1088059">
                  <a:extLst>
                    <a:ext uri="{9D8B030D-6E8A-4147-A177-3AD203B41FA5}">
                      <a16:colId xmlns:a16="http://schemas.microsoft.com/office/drawing/2014/main" val="20002"/>
                    </a:ext>
                  </a:extLst>
                </a:gridCol>
              </a:tblGrid>
              <a:tr h="610157">
                <a:tc>
                  <a:txBody>
                    <a:bodyPr/>
                    <a:lstStyle/>
                    <a:p>
                      <a:r>
                        <a:rPr lang="en-US" dirty="0"/>
                        <a:t>State</a:t>
                      </a:r>
                    </a:p>
                  </a:txBody>
                  <a:tcPr/>
                </a:tc>
                <a:tc>
                  <a:txBody>
                    <a:bodyPr/>
                    <a:lstStyle/>
                    <a:p>
                      <a:r>
                        <a:rPr lang="en-US" dirty="0"/>
                        <a:t>Year</a:t>
                      </a:r>
                    </a:p>
                  </a:txBody>
                  <a:tcPr/>
                </a:tc>
                <a:tc>
                  <a:txBody>
                    <a:bodyPr/>
                    <a:lstStyle/>
                    <a:p>
                      <a:r>
                        <a:rPr lang="en-US" dirty="0" err="1"/>
                        <a:t>CrimeRate</a:t>
                      </a:r>
                      <a:endParaRPr lang="en-US" dirty="0"/>
                    </a:p>
                  </a:txBody>
                  <a:tcPr/>
                </a:tc>
                <a:extLst>
                  <a:ext uri="{0D108BD9-81ED-4DB2-BD59-A6C34878D82A}">
                    <a16:rowId xmlns:a16="http://schemas.microsoft.com/office/drawing/2014/main" val="10000"/>
                  </a:ext>
                </a:extLst>
              </a:tr>
              <a:tr h="726337">
                <a:tc>
                  <a:txBody>
                    <a:bodyPr/>
                    <a:lstStyle/>
                    <a:p>
                      <a:r>
                        <a:rPr lang="en-US" dirty="0"/>
                        <a:t>CA</a:t>
                      </a:r>
                    </a:p>
                  </a:txBody>
                  <a:tcPr/>
                </a:tc>
                <a:tc>
                  <a:txBody>
                    <a:bodyPr/>
                    <a:lstStyle/>
                    <a:p>
                      <a:r>
                        <a:rPr lang="en-US" dirty="0"/>
                        <a:t>2000</a:t>
                      </a:r>
                    </a:p>
                  </a:txBody>
                  <a:tcPr/>
                </a:tc>
                <a:tc>
                  <a:txBody>
                    <a:bodyPr/>
                    <a:lstStyle/>
                    <a:p>
                      <a:r>
                        <a:rPr lang="en-US" dirty="0"/>
                        <a:t>0.15</a:t>
                      </a:r>
                    </a:p>
                  </a:txBody>
                  <a:tcPr/>
                </a:tc>
                <a:extLst>
                  <a:ext uri="{0D108BD9-81ED-4DB2-BD59-A6C34878D82A}">
                    <a16:rowId xmlns:a16="http://schemas.microsoft.com/office/drawing/2014/main" val="10001"/>
                  </a:ext>
                </a:extLst>
              </a:tr>
              <a:tr h="726337">
                <a:tc>
                  <a:txBody>
                    <a:bodyPr/>
                    <a:lstStyle/>
                    <a:p>
                      <a:r>
                        <a:rPr lang="en-US" dirty="0"/>
                        <a:t>CA</a:t>
                      </a:r>
                    </a:p>
                  </a:txBody>
                  <a:tcPr/>
                </a:tc>
                <a:tc>
                  <a:txBody>
                    <a:bodyPr/>
                    <a:lstStyle/>
                    <a:p>
                      <a:r>
                        <a:rPr lang="en-US" dirty="0"/>
                        <a:t>2001</a:t>
                      </a:r>
                    </a:p>
                  </a:txBody>
                  <a:tcPr/>
                </a:tc>
                <a:tc>
                  <a:txBody>
                    <a:bodyPr/>
                    <a:lstStyle/>
                    <a:p>
                      <a:r>
                        <a:rPr lang="en-US" dirty="0"/>
                        <a:t>0.18</a:t>
                      </a:r>
                    </a:p>
                  </a:txBody>
                  <a:tcPr/>
                </a:tc>
                <a:extLst>
                  <a:ext uri="{0D108BD9-81ED-4DB2-BD59-A6C34878D82A}">
                    <a16:rowId xmlns:a16="http://schemas.microsoft.com/office/drawing/2014/main" val="10002"/>
                  </a:ext>
                </a:extLst>
              </a:tr>
              <a:tr h="726337">
                <a:tc>
                  <a:txBody>
                    <a:bodyPr/>
                    <a:lstStyle/>
                    <a:p>
                      <a:r>
                        <a:rPr lang="en-US" dirty="0"/>
                        <a:t>OR</a:t>
                      </a:r>
                    </a:p>
                  </a:txBody>
                  <a:tcPr/>
                </a:tc>
                <a:tc>
                  <a:txBody>
                    <a:bodyPr/>
                    <a:lstStyle/>
                    <a:p>
                      <a:r>
                        <a:rPr lang="en-US" dirty="0"/>
                        <a:t>2000</a:t>
                      </a:r>
                    </a:p>
                  </a:txBody>
                  <a:tcPr/>
                </a:tc>
                <a:tc>
                  <a:txBody>
                    <a:bodyPr/>
                    <a:lstStyle/>
                    <a:p>
                      <a:r>
                        <a:rPr lang="en-US" dirty="0"/>
                        <a:t>0.09</a:t>
                      </a:r>
                    </a:p>
                  </a:txBody>
                  <a:tcPr/>
                </a:tc>
                <a:extLst>
                  <a:ext uri="{0D108BD9-81ED-4DB2-BD59-A6C34878D82A}">
                    <a16:rowId xmlns:a16="http://schemas.microsoft.com/office/drawing/2014/main" val="10003"/>
                  </a:ext>
                </a:extLst>
              </a:tr>
              <a:tr h="726337">
                <a:tc>
                  <a:txBody>
                    <a:bodyPr/>
                    <a:lstStyle/>
                    <a:p>
                      <a:r>
                        <a:rPr lang="en-US" dirty="0"/>
                        <a:t>OR</a:t>
                      </a:r>
                    </a:p>
                  </a:txBody>
                  <a:tcPr/>
                </a:tc>
                <a:tc>
                  <a:txBody>
                    <a:bodyPr/>
                    <a:lstStyle/>
                    <a:p>
                      <a:r>
                        <a:rPr lang="en-US" dirty="0"/>
                        <a:t>2001</a:t>
                      </a:r>
                    </a:p>
                  </a:txBody>
                  <a:tcPr/>
                </a:tc>
                <a:tc>
                  <a:txBody>
                    <a:bodyPr/>
                    <a:lstStyle/>
                    <a:p>
                      <a:r>
                        <a:rPr lang="en-US" dirty="0"/>
                        <a:t>0.10</a:t>
                      </a:r>
                    </a:p>
                  </a:txBody>
                  <a:tcPr/>
                </a:tc>
                <a:extLst>
                  <a:ext uri="{0D108BD9-81ED-4DB2-BD59-A6C34878D82A}">
                    <a16:rowId xmlns:a16="http://schemas.microsoft.com/office/drawing/2014/main" val="10004"/>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921734953"/>
              </p:ext>
            </p:extLst>
          </p:nvPr>
        </p:nvGraphicFramePr>
        <p:xfrm>
          <a:off x="5371548" y="2067338"/>
          <a:ext cx="4706729" cy="2071113"/>
        </p:xfrm>
        <a:graphic>
          <a:graphicData uri="http://schemas.openxmlformats.org/drawingml/2006/table">
            <a:tbl>
              <a:tblPr firstRow="1" bandRow="1">
                <a:tableStyleId>{5C22544A-7EE6-4342-B048-85BDC9FD1C3A}</a:tableStyleId>
              </a:tblPr>
              <a:tblGrid>
                <a:gridCol w="1267681">
                  <a:extLst>
                    <a:ext uri="{9D8B030D-6E8A-4147-A177-3AD203B41FA5}">
                      <a16:colId xmlns:a16="http://schemas.microsoft.com/office/drawing/2014/main" val="20000"/>
                    </a:ext>
                  </a:extLst>
                </a:gridCol>
                <a:gridCol w="1366741">
                  <a:extLst>
                    <a:ext uri="{9D8B030D-6E8A-4147-A177-3AD203B41FA5}">
                      <a16:colId xmlns:a16="http://schemas.microsoft.com/office/drawing/2014/main" val="20001"/>
                    </a:ext>
                  </a:extLst>
                </a:gridCol>
                <a:gridCol w="2072307">
                  <a:extLst>
                    <a:ext uri="{9D8B030D-6E8A-4147-A177-3AD203B41FA5}">
                      <a16:colId xmlns:a16="http://schemas.microsoft.com/office/drawing/2014/main" val="20002"/>
                    </a:ext>
                  </a:extLst>
                </a:gridCol>
              </a:tblGrid>
              <a:tr h="618439">
                <a:tc>
                  <a:txBody>
                    <a:bodyPr/>
                    <a:lstStyle/>
                    <a:p>
                      <a:r>
                        <a:rPr lang="en-US" dirty="0"/>
                        <a:t>State</a:t>
                      </a:r>
                    </a:p>
                  </a:txBody>
                  <a:tcPr/>
                </a:tc>
                <a:tc>
                  <a:txBody>
                    <a:bodyPr/>
                    <a:lstStyle/>
                    <a:p>
                      <a:r>
                        <a:rPr lang="en-US" dirty="0"/>
                        <a:t>Crime_2000</a:t>
                      </a:r>
                    </a:p>
                  </a:txBody>
                  <a:tcPr/>
                </a:tc>
                <a:tc>
                  <a:txBody>
                    <a:bodyPr/>
                    <a:lstStyle/>
                    <a:p>
                      <a:r>
                        <a:rPr lang="en-US" dirty="0"/>
                        <a:t>Crime_2001</a:t>
                      </a:r>
                    </a:p>
                  </a:txBody>
                  <a:tcPr/>
                </a:tc>
                <a:extLst>
                  <a:ext uri="{0D108BD9-81ED-4DB2-BD59-A6C34878D82A}">
                    <a16:rowId xmlns:a16="http://schemas.microsoft.com/office/drawing/2014/main" val="10000"/>
                  </a:ext>
                </a:extLst>
              </a:tr>
              <a:tr h="726337">
                <a:tc>
                  <a:txBody>
                    <a:bodyPr/>
                    <a:lstStyle/>
                    <a:p>
                      <a:r>
                        <a:rPr lang="en-US" dirty="0"/>
                        <a:t>CA</a:t>
                      </a:r>
                    </a:p>
                  </a:txBody>
                  <a:tcPr/>
                </a:tc>
                <a:tc>
                  <a:txBody>
                    <a:bodyPr/>
                    <a:lstStyle/>
                    <a:p>
                      <a:r>
                        <a:rPr lang="en-US" dirty="0"/>
                        <a:t>0.15</a:t>
                      </a:r>
                    </a:p>
                  </a:txBody>
                  <a:tcPr/>
                </a:tc>
                <a:tc>
                  <a:txBody>
                    <a:bodyPr/>
                    <a:lstStyle/>
                    <a:p>
                      <a:r>
                        <a:rPr lang="en-US" dirty="0"/>
                        <a:t>0.18</a:t>
                      </a:r>
                    </a:p>
                  </a:txBody>
                  <a:tcPr/>
                </a:tc>
                <a:extLst>
                  <a:ext uri="{0D108BD9-81ED-4DB2-BD59-A6C34878D82A}">
                    <a16:rowId xmlns:a16="http://schemas.microsoft.com/office/drawing/2014/main" val="10001"/>
                  </a:ext>
                </a:extLst>
              </a:tr>
              <a:tr h="726337">
                <a:tc>
                  <a:txBody>
                    <a:bodyPr/>
                    <a:lstStyle/>
                    <a:p>
                      <a:r>
                        <a:rPr lang="en-US" dirty="0"/>
                        <a:t>OR</a:t>
                      </a:r>
                    </a:p>
                  </a:txBody>
                  <a:tcPr/>
                </a:tc>
                <a:tc>
                  <a:txBody>
                    <a:bodyPr/>
                    <a:lstStyle/>
                    <a:p>
                      <a:r>
                        <a:rPr lang="en-US" dirty="0"/>
                        <a:t>0.09</a:t>
                      </a:r>
                    </a:p>
                  </a:txBody>
                  <a:tcPr/>
                </a:tc>
                <a:tc>
                  <a:txBody>
                    <a:bodyPr/>
                    <a:lstStyle/>
                    <a:p>
                      <a:r>
                        <a:rPr lang="en-US" dirty="0"/>
                        <a:t>0.10</a:t>
                      </a:r>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915437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276443"/>
            <a:ext cx="10058400" cy="1450757"/>
          </a:xfrm>
        </p:spPr>
        <p:txBody>
          <a:bodyPr/>
          <a:lstStyle/>
          <a:p>
            <a:r>
              <a:rPr lang="en-US" dirty="0"/>
              <a:t>Wide to Long</a:t>
            </a:r>
          </a:p>
        </p:txBody>
      </p:sp>
      <p:sp>
        <p:nvSpPr>
          <p:cNvPr id="3" name="Content Placeholder 2"/>
          <p:cNvSpPr>
            <a:spLocks noGrp="1"/>
          </p:cNvSpPr>
          <p:nvPr>
            <p:ph idx="1"/>
          </p:nvPr>
        </p:nvSpPr>
        <p:spPr/>
        <p:txBody>
          <a:bodyPr>
            <a:normAutofit/>
          </a:bodyPr>
          <a:lstStyle/>
          <a:p>
            <a:r>
              <a:rPr lang="en-US" dirty="0"/>
              <a:t>&gt; crime = </a:t>
            </a:r>
            <a:r>
              <a:rPr lang="en-US" dirty="0" err="1"/>
              <a:t>pd.read_csv</a:t>
            </a:r>
            <a:r>
              <a:rPr lang="en-US" dirty="0"/>
              <a:t>(“crimewide.csv”)</a:t>
            </a:r>
          </a:p>
          <a:p>
            <a:r>
              <a:rPr lang="en-US" dirty="0"/>
              <a:t>&gt; long = </a:t>
            </a:r>
            <a:r>
              <a:rPr lang="en-US" dirty="0" err="1"/>
              <a:t>pd.wide_to_long</a:t>
            </a:r>
            <a:r>
              <a:rPr lang="en-US" dirty="0"/>
              <a:t>(crime, “Crime”, “State”, “Year”,</a:t>
            </a:r>
            <a:r>
              <a:rPr lang="en-US" dirty="0" err="1"/>
              <a:t>sep</a:t>
            </a:r>
            <a:r>
              <a:rPr lang="en-US" dirty="0"/>
              <a:t>=“_”) </a:t>
            </a:r>
          </a:p>
          <a:p>
            <a:r>
              <a:rPr lang="en-US" dirty="0"/>
              <a:t>First argument is data frame</a:t>
            </a:r>
          </a:p>
          <a:p>
            <a:r>
              <a:rPr lang="en-US" dirty="0"/>
              <a:t>Second argument is prefix of columns with wide data (only works if columns share common prefix)</a:t>
            </a:r>
          </a:p>
          <a:p>
            <a:r>
              <a:rPr lang="en-US" dirty="0"/>
              <a:t>Third argument is column that is the “id” column</a:t>
            </a:r>
          </a:p>
          <a:p>
            <a:r>
              <a:rPr lang="en-US" dirty="0"/>
              <a:t>Fourth argument is name of new column that has the suffix data</a:t>
            </a:r>
          </a:p>
          <a:p>
            <a:r>
              <a:rPr lang="en-US" dirty="0" err="1"/>
              <a:t>sep</a:t>
            </a:r>
            <a:r>
              <a:rPr lang="en-US" dirty="0"/>
              <a:t> = optional separator between prefix and suffix to be removed </a:t>
            </a:r>
          </a:p>
        </p:txBody>
      </p:sp>
    </p:spTree>
    <p:extLst>
      <p:ext uri="{BB962C8B-B14F-4D97-AF65-F5344CB8AC3E}">
        <p14:creationId xmlns:p14="http://schemas.microsoft.com/office/powerpoint/2010/main" val="27968659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Long to Wide: </a:t>
            </a:r>
            <a:r>
              <a:rPr lang="en-US" dirty="0" err="1"/>
              <a:t>pivot_table</a:t>
            </a:r>
            <a:endParaRPr lang="en-US" dirty="0"/>
          </a:p>
        </p:txBody>
      </p:sp>
      <p:sp>
        <p:nvSpPr>
          <p:cNvPr id="3" name="Content Placeholder 2"/>
          <p:cNvSpPr>
            <a:spLocks noGrp="1"/>
          </p:cNvSpPr>
          <p:nvPr>
            <p:ph idx="1"/>
          </p:nvPr>
        </p:nvSpPr>
        <p:spPr/>
        <p:txBody>
          <a:bodyPr>
            <a:normAutofit/>
          </a:bodyPr>
          <a:lstStyle/>
          <a:p>
            <a:r>
              <a:rPr lang="en-US" dirty="0"/>
              <a:t> crime=</a:t>
            </a:r>
            <a:r>
              <a:rPr lang="en-US" dirty="0" err="1"/>
              <a:t>pd.read_csv</a:t>
            </a:r>
            <a:r>
              <a:rPr lang="en-US" dirty="0"/>
              <a:t>(“crimelong.csv”)</a:t>
            </a:r>
          </a:p>
          <a:p>
            <a:r>
              <a:rPr lang="en-US" dirty="0"/>
              <a:t>wide = </a:t>
            </a:r>
            <a:r>
              <a:rPr lang="en-US" dirty="0" err="1"/>
              <a:t>pd.pivot_table</a:t>
            </a:r>
            <a:r>
              <a:rPr lang="en-US" dirty="0"/>
              <a:t>(crime, “State”, columns=“Year”, values=“</a:t>
            </a:r>
            <a:r>
              <a:rPr lang="en-US" dirty="0" err="1"/>
              <a:t>CrimeRate</a:t>
            </a:r>
            <a:r>
              <a:rPr lang="en-US" dirty="0"/>
              <a:t>”)</a:t>
            </a:r>
          </a:p>
          <a:p>
            <a:r>
              <a:rPr lang="en-US" dirty="0"/>
              <a:t>First argument is data frame</a:t>
            </a:r>
          </a:p>
          <a:p>
            <a:r>
              <a:rPr lang="en-US" dirty="0"/>
              <a:t>Second argument is the “id” column</a:t>
            </a:r>
          </a:p>
          <a:p>
            <a:r>
              <a:rPr lang="en-US" dirty="0"/>
              <a:t>columns=column in wide format that provides data for new columns in wide format: each value in this column will become a new column in the wide format</a:t>
            </a:r>
          </a:p>
          <a:p>
            <a:r>
              <a:rPr lang="en-US" dirty="0"/>
              <a:t>values = column that provides corresponding values</a:t>
            </a:r>
          </a:p>
          <a:p>
            <a:endParaRPr lang="en-US" dirty="0"/>
          </a:p>
        </p:txBody>
      </p:sp>
    </p:spTree>
    <p:extLst>
      <p:ext uri="{BB962C8B-B14F-4D97-AF65-F5344CB8AC3E}">
        <p14:creationId xmlns:p14="http://schemas.microsoft.com/office/powerpoint/2010/main" val="1729942942"/>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18988</TotalTime>
  <Words>1990</Words>
  <Application>Microsoft Office PowerPoint</Application>
  <PresentationFormat>Widescreen</PresentationFormat>
  <Paragraphs>585</Paragraphs>
  <Slides>30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30</vt:i4>
      </vt:variant>
    </vt:vector>
  </HeadingPairs>
  <TitlesOfParts>
    <vt:vector size="34" baseType="lpstr">
      <vt:lpstr>Calibri</vt:lpstr>
      <vt:lpstr>Calibri Light</vt:lpstr>
      <vt:lpstr>Palatino Linotype</vt:lpstr>
      <vt:lpstr>Retrospect</vt:lpstr>
      <vt:lpstr>Data Manipulation / Data Wrangling</vt:lpstr>
      <vt:lpstr>Overview</vt:lpstr>
      <vt:lpstr>groupby</vt:lpstr>
      <vt:lpstr>PowerPoint Presentation</vt:lpstr>
      <vt:lpstr>PowerPoint Presentation</vt:lpstr>
      <vt:lpstr>groupby  (with agg)</vt:lpstr>
      <vt:lpstr>PowerPoint Presentation</vt:lpstr>
      <vt:lpstr>groupby aggregation functions</vt:lpstr>
      <vt:lpstr>groupby aggregration functions</vt:lpstr>
      <vt:lpstr>Example python code</vt:lpstr>
      <vt:lpstr>merge</vt:lpstr>
      <vt:lpstr>PowerPoint Presentation</vt:lpstr>
      <vt:lpstr>merge</vt:lpstr>
      <vt:lpstr>merge with on</vt:lpstr>
      <vt:lpstr>merge (left_on and right_on)</vt:lpstr>
      <vt:lpstr>merge (left_index and right_index)</vt:lpstr>
      <vt:lpstr>Types of joins</vt:lpstr>
      <vt:lpstr>PowerPoint Presentation</vt:lpstr>
      <vt:lpstr>PowerPoint Presentation</vt:lpstr>
      <vt:lpstr>PowerPoint Presentation</vt:lpstr>
      <vt:lpstr>PowerPoint Presentation</vt:lpstr>
      <vt:lpstr>1:1 vs Many:1 vs Many:Many</vt:lpstr>
      <vt:lpstr>PowerPoint Presentation</vt:lpstr>
      <vt:lpstr>1:1 vs Many:1 vs Many:Many</vt:lpstr>
      <vt:lpstr>PowerPoint Presentation</vt:lpstr>
      <vt:lpstr>Example python code (datawrangling.py)</vt:lpstr>
      <vt:lpstr>reshape</vt:lpstr>
      <vt:lpstr>PowerPoint Presentation</vt:lpstr>
      <vt:lpstr>Wide to Long</vt:lpstr>
      <vt:lpstr>Long to Wide: pivot_table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Organization</dc:title>
  <dc:creator>Aric Shafran</dc:creator>
  <cp:lastModifiedBy>Aric P. Shafran</cp:lastModifiedBy>
  <cp:revision>39</cp:revision>
  <dcterms:created xsi:type="dcterms:W3CDTF">2014-10-15T21:42:53Z</dcterms:created>
  <dcterms:modified xsi:type="dcterms:W3CDTF">2021-10-21T18:31:06Z</dcterms:modified>
</cp:coreProperties>
</file>