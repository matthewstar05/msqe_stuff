
<file path=[Content_Types].xml><?xml version="1.0" encoding="utf-8"?>
<Types xmlns="http://schemas.openxmlformats.org/package/2006/content-types">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90" r:id="rId4"/>
    <p:sldId id="258" r:id="rId5"/>
    <p:sldId id="282" r:id="rId6"/>
    <p:sldId id="278" r:id="rId7"/>
    <p:sldId id="264" r:id="rId8"/>
    <p:sldId id="265" r:id="rId9"/>
    <p:sldId id="281" r:id="rId10"/>
    <p:sldId id="266" r:id="rId11"/>
    <p:sldId id="295" r:id="rId12"/>
    <p:sldId id="296" r:id="rId13"/>
    <p:sldId id="267" r:id="rId14"/>
    <p:sldId id="268" r:id="rId15"/>
    <p:sldId id="283" r:id="rId16"/>
    <p:sldId id="275" r:id="rId17"/>
    <p:sldId id="298" r:id="rId18"/>
    <p:sldId id="274" r:id="rId19"/>
    <p:sldId id="291" r:id="rId20"/>
    <p:sldId id="297" r:id="rId21"/>
    <p:sldId id="284" r:id="rId22"/>
    <p:sldId id="286" r:id="rId23"/>
    <p:sldId id="285" r:id="rId24"/>
    <p:sldId id="287" r:id="rId25"/>
    <p:sldId id="276" r:id="rId26"/>
    <p:sldId id="288" r:id="rId27"/>
    <p:sldId id="289" r:id="rId28"/>
    <p:sldId id="277" r:id="rId29"/>
    <p:sldId id="292" r:id="rId30"/>
    <p:sldId id="293" r:id="rId31"/>
    <p:sldId id="294"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F31DB2F-0236-40EF-B854-3095DE3A9004}" v="1" dt="2024-09-24T03:54:18.74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010" autoAdjust="0"/>
    <p:restoredTop sz="94660"/>
  </p:normalViewPr>
  <p:slideViewPr>
    <p:cSldViewPr snapToGrid="0">
      <p:cViewPr varScale="1">
        <p:scale>
          <a:sx n="71" d="100"/>
          <a:sy n="71" d="100"/>
        </p:scale>
        <p:origin x="336" y="39"/>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38"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ric P. Shafran" userId="b021f175-2a5f-4649-9d0b-6ba6b924ac79" providerId="ADAL" clId="{BF31DB2F-0236-40EF-B854-3095DE3A9004}"/>
    <pc:docChg chg="custSel addSld delSld modSld">
      <pc:chgData name="Aric P. Shafran" userId="b021f175-2a5f-4649-9d0b-6ba6b924ac79" providerId="ADAL" clId="{BF31DB2F-0236-40EF-B854-3095DE3A9004}" dt="2024-09-24T03:55:04.451" v="80" actId="313"/>
      <pc:docMkLst>
        <pc:docMk/>
      </pc:docMkLst>
      <pc:sldChg chg="del">
        <pc:chgData name="Aric P. Shafran" userId="b021f175-2a5f-4649-9d0b-6ba6b924ac79" providerId="ADAL" clId="{BF31DB2F-0236-40EF-B854-3095DE3A9004}" dt="2024-09-24T03:54:07.946" v="3" actId="2696"/>
        <pc:sldMkLst>
          <pc:docMk/>
          <pc:sldMk cId="748120310" sldId="274"/>
        </pc:sldMkLst>
      </pc:sldChg>
      <pc:sldChg chg="modSp add mod">
        <pc:chgData name="Aric P. Shafran" userId="b021f175-2a5f-4649-9d0b-6ba6b924ac79" providerId="ADAL" clId="{BF31DB2F-0236-40EF-B854-3095DE3A9004}" dt="2024-09-24T03:55:04.451" v="80" actId="313"/>
        <pc:sldMkLst>
          <pc:docMk/>
          <pc:sldMk cId="978199763" sldId="274"/>
        </pc:sldMkLst>
        <pc:spChg chg="mod">
          <ac:chgData name="Aric P. Shafran" userId="b021f175-2a5f-4649-9d0b-6ba6b924ac79" providerId="ADAL" clId="{BF31DB2F-0236-40EF-B854-3095DE3A9004}" dt="2024-09-24T03:55:04.451" v="80" actId="313"/>
          <ac:spMkLst>
            <pc:docMk/>
            <pc:sldMk cId="978199763" sldId="274"/>
            <ac:spMk id="3" creationId="{00000000-0000-0000-0000-000000000000}"/>
          </ac:spMkLst>
        </pc:spChg>
      </pc:sldChg>
      <pc:sldChg chg="modSp mod">
        <pc:chgData name="Aric P. Shafran" userId="b021f175-2a5f-4649-9d0b-6ba6b924ac79" providerId="ADAL" clId="{BF31DB2F-0236-40EF-B854-3095DE3A9004}" dt="2024-09-24T03:49:14.025" v="1" actId="20577"/>
        <pc:sldMkLst>
          <pc:docMk/>
          <pc:sldMk cId="3976912186" sldId="283"/>
        </pc:sldMkLst>
        <pc:spChg chg="mod">
          <ac:chgData name="Aric P. Shafran" userId="b021f175-2a5f-4649-9d0b-6ba6b924ac79" providerId="ADAL" clId="{BF31DB2F-0236-40EF-B854-3095DE3A9004}" dt="2024-09-24T03:49:14.025" v="1" actId="20577"/>
          <ac:spMkLst>
            <pc:docMk/>
            <pc:sldMk cId="3976912186" sldId="283"/>
            <ac:spMk id="3" creationId="{00000000-0000-0000-0000-000000000000}"/>
          </ac:spMkLst>
        </pc:spChg>
      </pc:sldChg>
      <pc:sldChg chg="modSp mod">
        <pc:chgData name="Aric P. Shafran" userId="b021f175-2a5f-4649-9d0b-6ba6b924ac79" providerId="ADAL" clId="{BF31DB2F-0236-40EF-B854-3095DE3A9004}" dt="2024-09-24T03:53:15.264" v="2" actId="20577"/>
        <pc:sldMkLst>
          <pc:docMk/>
          <pc:sldMk cId="4005608110" sldId="298"/>
        </pc:sldMkLst>
        <pc:spChg chg="mod">
          <ac:chgData name="Aric P. Shafran" userId="b021f175-2a5f-4649-9d0b-6ba6b924ac79" providerId="ADAL" clId="{BF31DB2F-0236-40EF-B854-3095DE3A9004}" dt="2024-09-24T03:53:15.264" v="2" actId="20577"/>
          <ac:spMkLst>
            <pc:docMk/>
            <pc:sldMk cId="4005608110" sldId="298"/>
            <ac:spMk id="3" creationId="{00000000-0000-0000-0000-000000000000}"/>
          </ac:spMkLst>
        </pc:spChg>
      </pc:sldChg>
    </pc:docChg>
  </pc:docChgLst>
  <pc:docChgLst>
    <pc:chgData name="Aric P. Shafran" userId="b021f175-2a5f-4649-9d0b-6ba6b924ac79" providerId="ADAL" clId="{B5F13079-CB9D-4D4F-836B-7B39942FE8B1}"/>
    <pc:docChg chg="undo custSel addSld delSld modSld">
      <pc:chgData name="Aric P. Shafran" userId="b021f175-2a5f-4649-9d0b-6ba6b924ac79" providerId="ADAL" clId="{B5F13079-CB9D-4D4F-836B-7B39942FE8B1}" dt="2024-07-12T19:12:44.405" v="3153" actId="20577"/>
      <pc:docMkLst>
        <pc:docMk/>
      </pc:docMkLst>
      <pc:sldChg chg="modSp mod">
        <pc:chgData name="Aric P. Shafran" userId="b021f175-2a5f-4649-9d0b-6ba6b924ac79" providerId="ADAL" clId="{B5F13079-CB9D-4D4F-836B-7B39942FE8B1}" dt="2024-07-12T18:32:40.646" v="470" actId="20577"/>
        <pc:sldMkLst>
          <pc:docMk/>
          <pc:sldMk cId="2875238950" sldId="264"/>
        </pc:sldMkLst>
        <pc:spChg chg="mod">
          <ac:chgData name="Aric P. Shafran" userId="b021f175-2a5f-4649-9d0b-6ba6b924ac79" providerId="ADAL" clId="{B5F13079-CB9D-4D4F-836B-7B39942FE8B1}" dt="2024-07-12T18:32:40.646" v="470" actId="20577"/>
          <ac:spMkLst>
            <pc:docMk/>
            <pc:sldMk cId="2875238950" sldId="264"/>
            <ac:spMk id="3" creationId="{00000000-0000-0000-0000-000000000000}"/>
          </ac:spMkLst>
        </pc:spChg>
      </pc:sldChg>
      <pc:sldChg chg="modSp mod">
        <pc:chgData name="Aric P. Shafran" userId="b021f175-2a5f-4649-9d0b-6ba6b924ac79" providerId="ADAL" clId="{B5F13079-CB9D-4D4F-836B-7B39942FE8B1}" dt="2024-07-12T18:49:06.158" v="1847" actId="20577"/>
        <pc:sldMkLst>
          <pc:docMk/>
          <pc:sldMk cId="3892066916" sldId="275"/>
        </pc:sldMkLst>
        <pc:spChg chg="mod">
          <ac:chgData name="Aric P. Shafran" userId="b021f175-2a5f-4649-9d0b-6ba6b924ac79" providerId="ADAL" clId="{B5F13079-CB9D-4D4F-836B-7B39942FE8B1}" dt="2024-07-12T18:47:10.550" v="1499" actId="20577"/>
          <ac:spMkLst>
            <pc:docMk/>
            <pc:sldMk cId="3892066916" sldId="275"/>
            <ac:spMk id="2" creationId="{00000000-0000-0000-0000-000000000000}"/>
          </ac:spMkLst>
        </pc:spChg>
        <pc:spChg chg="mod">
          <ac:chgData name="Aric P. Shafran" userId="b021f175-2a5f-4649-9d0b-6ba6b924ac79" providerId="ADAL" clId="{B5F13079-CB9D-4D4F-836B-7B39942FE8B1}" dt="2024-07-12T18:49:06.158" v="1847" actId="20577"/>
          <ac:spMkLst>
            <pc:docMk/>
            <pc:sldMk cId="3892066916" sldId="275"/>
            <ac:spMk id="3" creationId="{00000000-0000-0000-0000-000000000000}"/>
          </ac:spMkLst>
        </pc:spChg>
      </pc:sldChg>
      <pc:sldChg chg="modSp mod">
        <pc:chgData name="Aric P. Shafran" userId="b021f175-2a5f-4649-9d0b-6ba6b924ac79" providerId="ADAL" clId="{B5F13079-CB9D-4D4F-836B-7B39942FE8B1}" dt="2024-07-12T18:39:17.715" v="723" actId="20577"/>
        <pc:sldMkLst>
          <pc:docMk/>
          <pc:sldMk cId="3976912186" sldId="283"/>
        </pc:sldMkLst>
        <pc:spChg chg="mod">
          <ac:chgData name="Aric P. Shafran" userId="b021f175-2a5f-4649-9d0b-6ba6b924ac79" providerId="ADAL" clId="{B5F13079-CB9D-4D4F-836B-7B39942FE8B1}" dt="2024-07-12T18:39:17.715" v="723" actId="20577"/>
          <ac:spMkLst>
            <pc:docMk/>
            <pc:sldMk cId="3976912186" sldId="283"/>
            <ac:spMk id="3" creationId="{00000000-0000-0000-0000-000000000000}"/>
          </ac:spMkLst>
        </pc:spChg>
      </pc:sldChg>
      <pc:sldChg chg="modSp mod">
        <pc:chgData name="Aric P. Shafran" userId="b021f175-2a5f-4649-9d0b-6ba6b924ac79" providerId="ADAL" clId="{B5F13079-CB9D-4D4F-836B-7B39942FE8B1}" dt="2024-07-12T19:12:12.556" v="3133" actId="20577"/>
        <pc:sldMkLst>
          <pc:docMk/>
          <pc:sldMk cId="3249254385" sldId="284"/>
        </pc:sldMkLst>
        <pc:spChg chg="mod">
          <ac:chgData name="Aric P. Shafran" userId="b021f175-2a5f-4649-9d0b-6ba6b924ac79" providerId="ADAL" clId="{B5F13079-CB9D-4D4F-836B-7B39942FE8B1}" dt="2024-07-12T19:12:12.556" v="3133" actId="20577"/>
          <ac:spMkLst>
            <pc:docMk/>
            <pc:sldMk cId="3249254385" sldId="284"/>
            <ac:spMk id="3" creationId="{F66A605D-746E-4CBD-95D9-C178758EE995}"/>
          </ac:spMkLst>
        </pc:spChg>
      </pc:sldChg>
      <pc:sldChg chg="modSp mod">
        <pc:chgData name="Aric P. Shafran" userId="b021f175-2a5f-4649-9d0b-6ba6b924ac79" providerId="ADAL" clId="{B5F13079-CB9D-4D4F-836B-7B39942FE8B1}" dt="2024-07-12T19:12:44.405" v="3153" actId="20577"/>
        <pc:sldMkLst>
          <pc:docMk/>
          <pc:sldMk cId="620137602" sldId="285"/>
        </pc:sldMkLst>
        <pc:spChg chg="mod">
          <ac:chgData name="Aric P. Shafran" userId="b021f175-2a5f-4649-9d0b-6ba6b924ac79" providerId="ADAL" clId="{B5F13079-CB9D-4D4F-836B-7B39942FE8B1}" dt="2024-07-12T19:12:44.405" v="3153" actId="20577"/>
          <ac:spMkLst>
            <pc:docMk/>
            <pc:sldMk cId="620137602" sldId="285"/>
            <ac:spMk id="3" creationId="{A8585BE0-7F79-44E5-9F40-CC54A020BE7D}"/>
          </ac:spMkLst>
        </pc:spChg>
      </pc:sldChg>
      <pc:sldChg chg="modSp mod">
        <pc:chgData name="Aric P. Shafran" userId="b021f175-2a5f-4649-9d0b-6ba6b924ac79" providerId="ADAL" clId="{B5F13079-CB9D-4D4F-836B-7B39942FE8B1}" dt="2024-07-12T19:08:45.914" v="3044" actId="20577"/>
        <pc:sldMkLst>
          <pc:docMk/>
          <pc:sldMk cId="840997109" sldId="297"/>
        </pc:sldMkLst>
        <pc:spChg chg="mod">
          <ac:chgData name="Aric P. Shafran" userId="b021f175-2a5f-4649-9d0b-6ba6b924ac79" providerId="ADAL" clId="{B5F13079-CB9D-4D4F-836B-7B39942FE8B1}" dt="2024-07-12T19:08:45.914" v="3044" actId="20577"/>
          <ac:spMkLst>
            <pc:docMk/>
            <pc:sldMk cId="840997109" sldId="297"/>
            <ac:spMk id="3" creationId="{A0F1F98D-7157-4844-9DD0-EA61F0A3F89C}"/>
          </ac:spMkLst>
        </pc:spChg>
      </pc:sldChg>
      <pc:sldChg chg="modSp add mod">
        <pc:chgData name="Aric P. Shafran" userId="b021f175-2a5f-4649-9d0b-6ba6b924ac79" providerId="ADAL" clId="{B5F13079-CB9D-4D4F-836B-7B39942FE8B1}" dt="2024-07-12T19:06:11.012" v="2891" actId="20577"/>
        <pc:sldMkLst>
          <pc:docMk/>
          <pc:sldMk cId="4005608110" sldId="298"/>
        </pc:sldMkLst>
        <pc:spChg chg="mod">
          <ac:chgData name="Aric P. Shafran" userId="b021f175-2a5f-4649-9d0b-6ba6b924ac79" providerId="ADAL" clId="{B5F13079-CB9D-4D4F-836B-7B39942FE8B1}" dt="2024-07-12T19:06:11.012" v="2891" actId="20577"/>
          <ac:spMkLst>
            <pc:docMk/>
            <pc:sldMk cId="4005608110" sldId="298"/>
            <ac:spMk id="3" creationId="{00000000-0000-0000-0000-000000000000}"/>
          </ac:spMkLst>
        </pc:spChg>
      </pc:sldChg>
      <pc:sldChg chg="add del">
        <pc:chgData name="Aric P. Shafran" userId="b021f175-2a5f-4649-9d0b-6ba6b924ac79" providerId="ADAL" clId="{B5F13079-CB9D-4D4F-836B-7B39942FE8B1}" dt="2024-07-12T19:07:35.167" v="2892" actId="47"/>
        <pc:sldMkLst>
          <pc:docMk/>
          <pc:sldMk cId="2998456839" sldId="299"/>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2B33EDA-F14B-471E-9559-794546A6EFFB}" type="datetimeFigureOut">
              <a:rPr lang="en-US" smtClean="0"/>
              <a:t>9/23/2024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B1FBE2D-55B2-4B02-B437-E12C5A3D288B}"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121841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2B33EDA-F14B-471E-9559-794546A6EFFB}" type="datetimeFigureOut">
              <a:rPr lang="en-US" smtClean="0"/>
              <a:t>9/23/2024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B1FBE2D-55B2-4B02-B437-E12C5A3D288B}" type="slidenum">
              <a:rPr lang="en-US" smtClean="0"/>
              <a:t>‹#›</a:t>
            </a:fld>
            <a:endParaRPr lang="en-US"/>
          </a:p>
        </p:txBody>
      </p:sp>
    </p:spTree>
    <p:extLst>
      <p:ext uri="{BB962C8B-B14F-4D97-AF65-F5344CB8AC3E}">
        <p14:creationId xmlns:p14="http://schemas.microsoft.com/office/powerpoint/2010/main" val="26784086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2B33EDA-F14B-471E-9559-794546A6EFFB}" type="datetimeFigureOut">
              <a:rPr lang="en-US" smtClean="0"/>
              <a:t>9/23/2024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B1FBE2D-55B2-4B02-B437-E12C5A3D288B}"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60212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2B33EDA-F14B-471E-9559-794546A6EFFB}" type="datetimeFigureOut">
              <a:rPr lang="en-US" smtClean="0"/>
              <a:t>9/23/2024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B1FBE2D-55B2-4B02-B437-E12C5A3D288B}" type="slidenum">
              <a:rPr lang="en-US" smtClean="0"/>
              <a:t>‹#›</a:t>
            </a:fld>
            <a:endParaRPr lang="en-US"/>
          </a:p>
        </p:txBody>
      </p:sp>
    </p:spTree>
    <p:extLst>
      <p:ext uri="{BB962C8B-B14F-4D97-AF65-F5344CB8AC3E}">
        <p14:creationId xmlns:p14="http://schemas.microsoft.com/office/powerpoint/2010/main" val="4794545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2B33EDA-F14B-471E-9559-794546A6EFFB}" type="datetimeFigureOut">
              <a:rPr lang="en-US" smtClean="0"/>
              <a:t>9/23/2024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B1FBE2D-55B2-4B02-B437-E12C5A3D288B}" type="slidenum">
              <a:rPr lang="en-US" smtClean="0"/>
              <a:t>‹#›</a:t>
            </a:fld>
            <a:endParaRPr lang="en-US"/>
          </a:p>
        </p:txBody>
      </p:sp>
    </p:spTree>
    <p:extLst>
      <p:ext uri="{BB962C8B-B14F-4D97-AF65-F5344CB8AC3E}">
        <p14:creationId xmlns:p14="http://schemas.microsoft.com/office/powerpoint/2010/main" val="747170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2B33EDA-F14B-471E-9559-794546A6EFFB}" type="datetimeFigureOut">
              <a:rPr lang="en-US" smtClean="0"/>
              <a:t>9/23/2024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B1FBE2D-55B2-4B02-B437-E12C5A3D288B}" type="slidenum">
              <a:rPr lang="en-US" smtClean="0"/>
              <a:t>‹#›</a:t>
            </a:fld>
            <a:endParaRPr lang="en-US"/>
          </a:p>
        </p:txBody>
      </p:sp>
    </p:spTree>
    <p:extLst>
      <p:ext uri="{BB962C8B-B14F-4D97-AF65-F5344CB8AC3E}">
        <p14:creationId xmlns:p14="http://schemas.microsoft.com/office/powerpoint/2010/main" val="26693564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02B33EDA-F14B-471E-9559-794546A6EFFB}" type="datetimeFigureOut">
              <a:rPr lang="en-US" smtClean="0"/>
              <a:t>9/23/2024</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6B1FBE2D-55B2-4B02-B437-E12C5A3D288B}" type="slidenum">
              <a:rPr lang="en-US" smtClean="0"/>
              <a:t>‹#›</a:t>
            </a:fld>
            <a:endParaRPr lang="en-US"/>
          </a:p>
        </p:txBody>
      </p:sp>
    </p:spTree>
    <p:extLst>
      <p:ext uri="{BB962C8B-B14F-4D97-AF65-F5344CB8AC3E}">
        <p14:creationId xmlns:p14="http://schemas.microsoft.com/office/powerpoint/2010/main" val="7511692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02B33EDA-F14B-471E-9559-794546A6EFFB}" type="datetimeFigureOut">
              <a:rPr lang="en-US" smtClean="0"/>
              <a:t>9/23/2024</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6B1FBE2D-55B2-4B02-B437-E12C5A3D288B}" type="slidenum">
              <a:rPr lang="en-US" smtClean="0"/>
              <a:t>‹#›</a:t>
            </a:fld>
            <a:endParaRPr lang="en-US"/>
          </a:p>
        </p:txBody>
      </p:sp>
    </p:spTree>
    <p:extLst>
      <p:ext uri="{BB962C8B-B14F-4D97-AF65-F5344CB8AC3E}">
        <p14:creationId xmlns:p14="http://schemas.microsoft.com/office/powerpoint/2010/main" val="4089110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2B33EDA-F14B-471E-9559-794546A6EFFB}" type="datetimeFigureOut">
              <a:rPr lang="en-US" smtClean="0"/>
              <a:t>9/23/2024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B1FBE2D-55B2-4B02-B437-E12C5A3D288B}" type="slidenum">
              <a:rPr lang="en-US" smtClean="0"/>
              <a:t>‹#›</a:t>
            </a:fld>
            <a:endParaRPr lang="en-US"/>
          </a:p>
        </p:txBody>
      </p:sp>
    </p:spTree>
    <p:extLst>
      <p:ext uri="{BB962C8B-B14F-4D97-AF65-F5344CB8AC3E}">
        <p14:creationId xmlns:p14="http://schemas.microsoft.com/office/powerpoint/2010/main" val="38387605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2B33EDA-F14B-471E-9559-794546A6EFFB}" type="datetimeFigureOut">
              <a:rPr lang="en-US" smtClean="0"/>
              <a:t>9/23/2024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B1FBE2D-55B2-4B02-B437-E12C5A3D288B}" type="slidenum">
              <a:rPr lang="en-US" smtClean="0"/>
              <a:t>‹#›</a:t>
            </a:fld>
            <a:endParaRPr lang="en-US"/>
          </a:p>
        </p:txBody>
      </p:sp>
    </p:spTree>
    <p:extLst>
      <p:ext uri="{BB962C8B-B14F-4D97-AF65-F5344CB8AC3E}">
        <p14:creationId xmlns:p14="http://schemas.microsoft.com/office/powerpoint/2010/main" val="14648472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2B33EDA-F14B-471E-9559-794546A6EFFB}" type="datetimeFigureOut">
              <a:rPr lang="en-US" smtClean="0"/>
              <a:t>9/23/2024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B1FBE2D-55B2-4B02-B437-E12C5A3D288B}" type="slidenum">
              <a:rPr lang="en-US" smtClean="0"/>
              <a:t>‹#›</a:t>
            </a:fld>
            <a:endParaRPr lang="en-US"/>
          </a:p>
        </p:txBody>
      </p:sp>
    </p:spTree>
    <p:extLst>
      <p:ext uri="{BB962C8B-B14F-4D97-AF65-F5344CB8AC3E}">
        <p14:creationId xmlns:p14="http://schemas.microsoft.com/office/powerpoint/2010/main" val="40507892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02B33EDA-F14B-471E-9559-794546A6EFFB}" type="datetimeFigureOut">
              <a:rPr lang="en-US" smtClean="0"/>
              <a:t>9/23/2024</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6B1FBE2D-55B2-4B02-B437-E12C5A3D288B}"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1104094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hyperlink" Target="https://jupyter-notebook.readthedocs.io/en/stable/examples/Notebook/Working%20With%20Markdown%20Cells.html"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Python as a Calculator</a:t>
            </a:r>
          </a:p>
        </p:txBody>
      </p:sp>
      <p:sp>
        <p:nvSpPr>
          <p:cNvPr id="3" name="Subtitle 2"/>
          <p:cNvSpPr>
            <a:spLocks noGrp="1"/>
          </p:cNvSpPr>
          <p:nvPr>
            <p:ph type="subTitle" idx="1"/>
          </p:nvPr>
        </p:nvSpPr>
        <p:spPr/>
        <p:txBody>
          <a:bodyPr/>
          <a:lstStyle/>
          <a:p>
            <a:r>
              <a:rPr lang="en-US" dirty="0"/>
              <a:t>Econ 524</a:t>
            </a:r>
          </a:p>
        </p:txBody>
      </p:sp>
    </p:spTree>
    <p:extLst>
      <p:ext uri="{BB962C8B-B14F-4D97-AF65-F5344CB8AC3E}">
        <p14:creationId xmlns:p14="http://schemas.microsoft.com/office/powerpoint/2010/main" val="6440193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Python Command Line	</a:t>
            </a:r>
          </a:p>
        </p:txBody>
      </p:sp>
      <p:sp>
        <p:nvSpPr>
          <p:cNvPr id="3" name="Content Placeholder 2"/>
          <p:cNvSpPr>
            <a:spLocks noGrp="1"/>
          </p:cNvSpPr>
          <p:nvPr>
            <p:ph idx="1"/>
          </p:nvPr>
        </p:nvSpPr>
        <p:spPr/>
        <p:txBody>
          <a:bodyPr>
            <a:normAutofit fontScale="70000" lnSpcReduction="20000"/>
          </a:bodyPr>
          <a:lstStyle/>
          <a:p>
            <a:r>
              <a:rPr lang="en-US" dirty="0"/>
              <a:t>At the command line, you can perform a wide variety of calculations.</a:t>
            </a:r>
          </a:p>
          <a:p>
            <a:r>
              <a:rPr lang="en-US" dirty="0"/>
              <a:t>&gt; 4+2</a:t>
            </a:r>
          </a:p>
          <a:p>
            <a:r>
              <a:rPr lang="en-US" dirty="0"/>
              <a:t>6</a:t>
            </a:r>
          </a:p>
          <a:p>
            <a:r>
              <a:rPr lang="en-US" dirty="0"/>
              <a:t>&gt; 4*2</a:t>
            </a:r>
          </a:p>
          <a:p>
            <a:r>
              <a:rPr lang="en-US" dirty="0"/>
              <a:t>8</a:t>
            </a:r>
          </a:p>
          <a:p>
            <a:r>
              <a:rPr lang="en-US" dirty="0"/>
              <a:t>&gt; 4/2</a:t>
            </a:r>
          </a:p>
          <a:p>
            <a:r>
              <a:rPr lang="en-US" dirty="0"/>
              <a:t>2.0</a:t>
            </a:r>
          </a:p>
          <a:p>
            <a:r>
              <a:rPr lang="en-US" dirty="0"/>
              <a:t>&gt; 4-2</a:t>
            </a:r>
          </a:p>
          <a:p>
            <a:r>
              <a:rPr lang="en-US" dirty="0"/>
              <a:t>2</a:t>
            </a:r>
          </a:p>
          <a:p>
            <a:r>
              <a:rPr lang="en-US" dirty="0"/>
              <a:t>&gt; 4**2</a:t>
            </a:r>
          </a:p>
          <a:p>
            <a:r>
              <a:rPr lang="en-US" dirty="0"/>
              <a:t>16</a:t>
            </a:r>
          </a:p>
          <a:p>
            <a:r>
              <a:rPr lang="en-US" dirty="0"/>
              <a:t> </a:t>
            </a:r>
          </a:p>
        </p:txBody>
      </p:sp>
    </p:spTree>
    <p:extLst>
      <p:ext uri="{BB962C8B-B14F-4D97-AF65-F5344CB8AC3E}">
        <p14:creationId xmlns:p14="http://schemas.microsoft.com/office/powerpoint/2010/main" val="39518769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24810-50AC-44F5-8C39-910BF67AD296}"/>
              </a:ext>
            </a:extLst>
          </p:cNvPr>
          <p:cNvSpPr>
            <a:spLocks noGrp="1"/>
          </p:cNvSpPr>
          <p:nvPr>
            <p:ph type="title"/>
          </p:nvPr>
        </p:nvSpPr>
        <p:spPr/>
        <p:txBody>
          <a:bodyPr/>
          <a:lstStyle/>
          <a:p>
            <a:r>
              <a:rPr lang="en-US" dirty="0"/>
              <a:t>Functions</a:t>
            </a:r>
          </a:p>
        </p:txBody>
      </p:sp>
      <p:sp>
        <p:nvSpPr>
          <p:cNvPr id="3" name="Content Placeholder 2">
            <a:extLst>
              <a:ext uri="{FF2B5EF4-FFF2-40B4-BE49-F238E27FC236}">
                <a16:creationId xmlns:a16="http://schemas.microsoft.com/office/drawing/2014/main" id="{87C56345-803D-4145-97A4-169ABE1CE12B}"/>
              </a:ext>
            </a:extLst>
          </p:cNvPr>
          <p:cNvSpPr>
            <a:spLocks noGrp="1"/>
          </p:cNvSpPr>
          <p:nvPr>
            <p:ph idx="1"/>
          </p:nvPr>
        </p:nvSpPr>
        <p:spPr/>
        <p:txBody>
          <a:bodyPr/>
          <a:lstStyle/>
          <a:p>
            <a:r>
              <a:rPr lang="en-US" dirty="0"/>
              <a:t>Python has many built-in functions and also you can write your own (more on that later).</a:t>
            </a:r>
          </a:p>
          <a:p>
            <a:r>
              <a:rPr lang="en-US" dirty="0"/>
              <a:t>Functions have a name.</a:t>
            </a:r>
          </a:p>
          <a:p>
            <a:r>
              <a:rPr lang="en-US" dirty="0"/>
              <a:t>They usually take one or more inputs (although it is possible to have functions with no input).  These inputs are called “arguments”.  The arguments are provided in parentheses after the function name, separated by commas.</a:t>
            </a:r>
          </a:p>
          <a:p>
            <a:r>
              <a:rPr lang="en-US" dirty="0"/>
              <a:t>Functions typically compute something, and they have an output, also knowns as a “return value”.</a:t>
            </a:r>
          </a:p>
        </p:txBody>
      </p:sp>
    </p:spTree>
    <p:extLst>
      <p:ext uri="{BB962C8B-B14F-4D97-AF65-F5344CB8AC3E}">
        <p14:creationId xmlns:p14="http://schemas.microsoft.com/office/powerpoint/2010/main" val="30477410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96671" y="296542"/>
            <a:ext cx="10058400" cy="1450757"/>
          </a:xfrm>
        </p:spPr>
        <p:txBody>
          <a:bodyPr/>
          <a:lstStyle/>
          <a:p>
            <a:r>
              <a:rPr lang="en-US" dirty="0"/>
              <a:t>Some built-in functions</a:t>
            </a:r>
          </a:p>
        </p:txBody>
      </p:sp>
      <p:sp>
        <p:nvSpPr>
          <p:cNvPr id="3" name="Content Placeholder 2"/>
          <p:cNvSpPr>
            <a:spLocks noGrp="1"/>
          </p:cNvSpPr>
          <p:nvPr>
            <p:ph idx="1"/>
          </p:nvPr>
        </p:nvSpPr>
        <p:spPr>
          <a:xfrm>
            <a:off x="1097280" y="1845733"/>
            <a:ext cx="10058400" cy="4470583"/>
          </a:xfrm>
        </p:spPr>
        <p:txBody>
          <a:bodyPr>
            <a:normAutofit/>
          </a:bodyPr>
          <a:lstStyle/>
          <a:p>
            <a:r>
              <a:rPr lang="en-US" dirty="0"/>
              <a:t>&gt; abs(-4)</a:t>
            </a:r>
          </a:p>
          <a:p>
            <a:r>
              <a:rPr lang="en-US" dirty="0"/>
              <a:t>4</a:t>
            </a:r>
          </a:p>
          <a:p>
            <a:r>
              <a:rPr lang="en-US" dirty="0"/>
              <a:t>&gt; round(2.1)</a:t>
            </a:r>
          </a:p>
          <a:p>
            <a:r>
              <a:rPr lang="en-US" dirty="0"/>
              <a:t>2</a:t>
            </a:r>
          </a:p>
          <a:p>
            <a:r>
              <a:rPr lang="en-US" dirty="0"/>
              <a:t>&gt; min(2,5,-1,0)</a:t>
            </a:r>
          </a:p>
          <a:p>
            <a:r>
              <a:rPr lang="en-US" dirty="0"/>
              <a:t>-1</a:t>
            </a:r>
          </a:p>
          <a:p>
            <a:r>
              <a:rPr lang="en-US" dirty="0"/>
              <a:t>&gt; max(2,5,-1,0)</a:t>
            </a:r>
          </a:p>
          <a:p>
            <a:r>
              <a:rPr lang="en-US" dirty="0"/>
              <a:t>5</a:t>
            </a:r>
          </a:p>
          <a:p>
            <a:endParaRPr lang="en-US" dirty="0"/>
          </a:p>
          <a:p>
            <a:endParaRPr lang="en-US" dirty="0"/>
          </a:p>
        </p:txBody>
      </p:sp>
    </p:spTree>
    <p:extLst>
      <p:ext uri="{BB962C8B-B14F-4D97-AF65-F5344CB8AC3E}">
        <p14:creationId xmlns:p14="http://schemas.microsoft.com/office/powerpoint/2010/main" val="1736749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96671" y="296542"/>
            <a:ext cx="10557794" cy="1450757"/>
          </a:xfrm>
        </p:spPr>
        <p:txBody>
          <a:bodyPr/>
          <a:lstStyle/>
          <a:p>
            <a:r>
              <a:rPr lang="en-US" dirty="0"/>
              <a:t>More math functions (in the math module)</a:t>
            </a:r>
          </a:p>
        </p:txBody>
      </p:sp>
      <p:sp>
        <p:nvSpPr>
          <p:cNvPr id="3" name="Content Placeholder 2"/>
          <p:cNvSpPr>
            <a:spLocks noGrp="1"/>
          </p:cNvSpPr>
          <p:nvPr>
            <p:ph idx="1"/>
          </p:nvPr>
        </p:nvSpPr>
        <p:spPr>
          <a:xfrm>
            <a:off x="1097280" y="1845733"/>
            <a:ext cx="10058400" cy="4470583"/>
          </a:xfrm>
        </p:spPr>
        <p:txBody>
          <a:bodyPr>
            <a:normAutofit fontScale="77500" lnSpcReduction="20000"/>
          </a:bodyPr>
          <a:lstStyle/>
          <a:p>
            <a:r>
              <a:rPr lang="en-US" dirty="0"/>
              <a:t>&gt; import math</a:t>
            </a:r>
          </a:p>
          <a:p>
            <a:r>
              <a:rPr lang="en-US" dirty="0"/>
              <a:t>&gt; math.log(1)</a:t>
            </a:r>
          </a:p>
          <a:p>
            <a:r>
              <a:rPr lang="en-US" dirty="0"/>
              <a:t>0</a:t>
            </a:r>
          </a:p>
          <a:p>
            <a:r>
              <a:rPr lang="en-US" dirty="0"/>
              <a:t>&gt; </a:t>
            </a:r>
            <a:r>
              <a:rPr lang="en-US" dirty="0" err="1"/>
              <a:t>math.exp</a:t>
            </a:r>
            <a:r>
              <a:rPr lang="en-US" dirty="0"/>
              <a:t>(1)   </a:t>
            </a:r>
          </a:p>
          <a:p>
            <a:r>
              <a:rPr lang="en-US" dirty="0"/>
              <a:t>2.71828</a:t>
            </a:r>
          </a:p>
          <a:p>
            <a:r>
              <a:rPr lang="en-US" dirty="0"/>
              <a:t>&gt; math.log(</a:t>
            </a:r>
            <a:r>
              <a:rPr lang="en-US" dirty="0" err="1"/>
              <a:t>math.exp</a:t>
            </a:r>
            <a:r>
              <a:rPr lang="en-US" dirty="0"/>
              <a:t>(1))</a:t>
            </a:r>
          </a:p>
          <a:p>
            <a:r>
              <a:rPr lang="en-US" dirty="0"/>
              <a:t>1</a:t>
            </a:r>
          </a:p>
          <a:p>
            <a:r>
              <a:rPr lang="en-US" dirty="0"/>
              <a:t>&gt; </a:t>
            </a:r>
            <a:r>
              <a:rPr lang="en-US" dirty="0" err="1"/>
              <a:t>math.sqrt</a:t>
            </a:r>
            <a:r>
              <a:rPr lang="en-US" dirty="0"/>
              <a:t>(4)</a:t>
            </a:r>
          </a:p>
          <a:p>
            <a:r>
              <a:rPr lang="en-US" dirty="0"/>
              <a:t>2</a:t>
            </a:r>
          </a:p>
          <a:p>
            <a:r>
              <a:rPr lang="en-US" dirty="0"/>
              <a:t>&gt; </a:t>
            </a:r>
            <a:r>
              <a:rPr lang="en-US" dirty="0" err="1"/>
              <a:t>math.floor</a:t>
            </a:r>
            <a:r>
              <a:rPr lang="en-US" dirty="0"/>
              <a:t> (2.1)</a:t>
            </a:r>
          </a:p>
          <a:p>
            <a:r>
              <a:rPr lang="en-US" dirty="0"/>
              <a:t>2</a:t>
            </a:r>
          </a:p>
          <a:p>
            <a:r>
              <a:rPr lang="en-US" dirty="0"/>
              <a:t>&gt; </a:t>
            </a:r>
            <a:r>
              <a:rPr lang="en-US" dirty="0" err="1"/>
              <a:t>math.ceil</a:t>
            </a:r>
            <a:r>
              <a:rPr lang="en-US" dirty="0"/>
              <a:t> (2.1)</a:t>
            </a:r>
          </a:p>
          <a:p>
            <a:r>
              <a:rPr lang="en-US" dirty="0"/>
              <a:t>3</a:t>
            </a:r>
          </a:p>
          <a:p>
            <a:endParaRPr lang="en-US" dirty="0"/>
          </a:p>
        </p:txBody>
      </p:sp>
    </p:spTree>
    <p:extLst>
      <p:ext uri="{BB962C8B-B14F-4D97-AF65-F5344CB8AC3E}">
        <p14:creationId xmlns:p14="http://schemas.microsoft.com/office/powerpoint/2010/main" val="18755675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More arithmetic operators</a:t>
            </a:r>
          </a:p>
        </p:txBody>
      </p:sp>
      <p:sp>
        <p:nvSpPr>
          <p:cNvPr id="3" name="Content Placeholder 2"/>
          <p:cNvSpPr>
            <a:spLocks noGrp="1"/>
          </p:cNvSpPr>
          <p:nvPr>
            <p:ph idx="1"/>
          </p:nvPr>
        </p:nvSpPr>
        <p:spPr/>
        <p:txBody>
          <a:bodyPr>
            <a:normAutofit/>
          </a:bodyPr>
          <a:lstStyle/>
          <a:p>
            <a:r>
              <a:rPr lang="en-US" dirty="0"/>
              <a:t>Integer division</a:t>
            </a:r>
          </a:p>
          <a:p>
            <a:r>
              <a:rPr lang="en-US" dirty="0"/>
              <a:t>6 / 4 = 1 remainder 2</a:t>
            </a:r>
          </a:p>
          <a:p>
            <a:r>
              <a:rPr lang="en-US" dirty="0"/>
              <a:t>7 / 3 = 2 remainder 1</a:t>
            </a:r>
          </a:p>
          <a:p>
            <a:r>
              <a:rPr lang="en-US" dirty="0"/>
              <a:t>// yields the first value (integer quotient), % yields the remainder (modulo)</a:t>
            </a:r>
          </a:p>
          <a:p>
            <a:r>
              <a:rPr lang="en-US" dirty="0"/>
              <a:t>&gt; 6 // 4</a:t>
            </a:r>
          </a:p>
          <a:p>
            <a:r>
              <a:rPr lang="en-US" dirty="0"/>
              <a:t>1</a:t>
            </a:r>
          </a:p>
          <a:p>
            <a:r>
              <a:rPr lang="en-US" dirty="0"/>
              <a:t>&gt; 6 % 4</a:t>
            </a:r>
          </a:p>
          <a:p>
            <a:r>
              <a:rPr lang="en-US" dirty="0"/>
              <a:t>2</a:t>
            </a:r>
          </a:p>
        </p:txBody>
      </p:sp>
    </p:spTree>
    <p:extLst>
      <p:ext uri="{BB962C8B-B14F-4D97-AF65-F5344CB8AC3E}">
        <p14:creationId xmlns:p14="http://schemas.microsoft.com/office/powerpoint/2010/main" val="14406455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Types</a:t>
            </a:r>
          </a:p>
        </p:txBody>
      </p:sp>
      <p:sp>
        <p:nvSpPr>
          <p:cNvPr id="3" name="Content Placeholder 2"/>
          <p:cNvSpPr>
            <a:spLocks noGrp="1"/>
          </p:cNvSpPr>
          <p:nvPr>
            <p:ph idx="1"/>
          </p:nvPr>
        </p:nvSpPr>
        <p:spPr/>
        <p:txBody>
          <a:bodyPr>
            <a:normAutofit lnSpcReduction="10000"/>
          </a:bodyPr>
          <a:lstStyle/>
          <a:p>
            <a:r>
              <a:rPr lang="en-US" dirty="0"/>
              <a:t>All values in Python are “objects”  and every object has a “type”.  They type can be a primitive type (see below) or other more complex types (examples coming later).</a:t>
            </a:r>
          </a:p>
          <a:p>
            <a:r>
              <a:rPr lang="en-US" dirty="0"/>
              <a:t>These are the primitive types for objects:</a:t>
            </a:r>
          </a:p>
          <a:p>
            <a:pPr lvl="1"/>
            <a:r>
              <a:rPr lang="en-US" dirty="0"/>
              <a:t>1. int (integer number)</a:t>
            </a:r>
          </a:p>
          <a:p>
            <a:pPr lvl="1"/>
            <a:r>
              <a:rPr lang="en-US" dirty="0"/>
              <a:t>2. float  (real number)</a:t>
            </a:r>
          </a:p>
          <a:p>
            <a:pPr lvl="1"/>
            <a:r>
              <a:rPr lang="en-US" dirty="0"/>
              <a:t>3. str (text)</a:t>
            </a:r>
          </a:p>
          <a:p>
            <a:pPr lvl="1"/>
            <a:r>
              <a:rPr lang="en-US" dirty="0"/>
              <a:t>4. bool (binary, 0 or 1, true or false)</a:t>
            </a:r>
          </a:p>
          <a:p>
            <a:pPr marL="201168" lvl="1" indent="0">
              <a:buNone/>
            </a:pPr>
            <a:endParaRPr lang="en-US" dirty="0"/>
          </a:p>
          <a:p>
            <a:pPr marL="201168" lvl="1" indent="0">
              <a:buNone/>
            </a:pPr>
            <a:r>
              <a:rPr lang="en-US" dirty="0"/>
              <a:t>The function type has one argument (an object) and returns the data type of that object:</a:t>
            </a:r>
          </a:p>
          <a:p>
            <a:pPr marL="201168" lvl="1" indent="0">
              <a:buNone/>
            </a:pPr>
            <a:r>
              <a:rPr lang="en-US" dirty="0"/>
              <a:t>&gt; type(54)</a:t>
            </a:r>
          </a:p>
          <a:p>
            <a:pPr marL="201168" lvl="1" indent="0">
              <a:buNone/>
            </a:pPr>
            <a:r>
              <a:rPr lang="en-US" dirty="0"/>
              <a:t>int</a:t>
            </a:r>
          </a:p>
          <a:p>
            <a:pPr marL="201168" lvl="1" indent="0">
              <a:buNone/>
            </a:pPr>
            <a:r>
              <a:rPr lang="en-US" dirty="0"/>
              <a:t>&gt; type(54.0)</a:t>
            </a:r>
          </a:p>
          <a:p>
            <a:pPr marL="201168" lvl="1" indent="0">
              <a:buNone/>
            </a:pPr>
            <a:r>
              <a:rPr lang="en-US" dirty="0"/>
              <a:t>float</a:t>
            </a:r>
          </a:p>
          <a:p>
            <a:pPr marL="201168" lvl="1" indent="0">
              <a:buNone/>
            </a:pPr>
            <a:endParaRPr lang="en-US" dirty="0"/>
          </a:p>
          <a:p>
            <a:endParaRPr lang="en-US" dirty="0"/>
          </a:p>
        </p:txBody>
      </p:sp>
    </p:spTree>
    <p:extLst>
      <p:ext uri="{BB962C8B-B14F-4D97-AF65-F5344CB8AC3E}">
        <p14:creationId xmlns:p14="http://schemas.microsoft.com/office/powerpoint/2010/main" val="28752389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More on bool and related operators</a:t>
            </a:r>
          </a:p>
        </p:txBody>
      </p:sp>
      <p:sp>
        <p:nvSpPr>
          <p:cNvPr id="3" name="Content Placeholder 2"/>
          <p:cNvSpPr>
            <a:spLocks noGrp="1"/>
          </p:cNvSpPr>
          <p:nvPr>
            <p:ph idx="1"/>
          </p:nvPr>
        </p:nvSpPr>
        <p:spPr>
          <a:xfrm>
            <a:off x="1097280" y="1845733"/>
            <a:ext cx="10058400" cy="4540158"/>
          </a:xfrm>
        </p:spPr>
        <p:txBody>
          <a:bodyPr>
            <a:normAutofit/>
          </a:bodyPr>
          <a:lstStyle/>
          <a:p>
            <a:r>
              <a:rPr lang="en-US" dirty="0"/>
              <a:t>Two bool values:  True and False</a:t>
            </a:r>
          </a:p>
          <a:p>
            <a:r>
              <a:rPr lang="en-US" dirty="0"/>
              <a:t>== compares two values and evaluates to True if they are equal, False otherwise</a:t>
            </a:r>
          </a:p>
          <a:p>
            <a:r>
              <a:rPr lang="en-US" dirty="0"/>
              <a:t>&gt;  2 == (3-1)</a:t>
            </a:r>
          </a:p>
          <a:p>
            <a:r>
              <a:rPr lang="en-US" dirty="0"/>
              <a:t>   True</a:t>
            </a:r>
          </a:p>
          <a:p>
            <a:r>
              <a:rPr lang="en-US" dirty="0"/>
              <a:t>&gt;  2 == (3-2)</a:t>
            </a:r>
          </a:p>
          <a:p>
            <a:r>
              <a:rPr lang="en-US" dirty="0"/>
              <a:t>   False</a:t>
            </a:r>
          </a:p>
          <a:p>
            <a:r>
              <a:rPr lang="en-US" dirty="0"/>
              <a:t>!=  i.e. “not equals”, evaluates to True if the values are not equal, False otherwise</a:t>
            </a:r>
          </a:p>
          <a:p>
            <a:r>
              <a:rPr lang="en-US" dirty="0"/>
              <a:t>&gt;  2 != (3-2)</a:t>
            </a:r>
          </a:p>
          <a:p>
            <a:r>
              <a:rPr lang="en-US" dirty="0"/>
              <a:t>   True</a:t>
            </a:r>
          </a:p>
        </p:txBody>
      </p:sp>
    </p:spTree>
    <p:extLst>
      <p:ext uri="{BB962C8B-B14F-4D97-AF65-F5344CB8AC3E}">
        <p14:creationId xmlns:p14="http://schemas.microsoft.com/office/powerpoint/2010/main" val="333646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Boolean Values and Operators</a:t>
            </a:r>
          </a:p>
        </p:txBody>
      </p:sp>
      <p:sp>
        <p:nvSpPr>
          <p:cNvPr id="3" name="Content Placeholder 2"/>
          <p:cNvSpPr>
            <a:spLocks noGrp="1"/>
          </p:cNvSpPr>
          <p:nvPr>
            <p:ph idx="1"/>
          </p:nvPr>
        </p:nvSpPr>
        <p:spPr>
          <a:xfrm>
            <a:off x="1097280" y="1845733"/>
            <a:ext cx="10058400" cy="4540158"/>
          </a:xfrm>
        </p:spPr>
        <p:txBody>
          <a:bodyPr>
            <a:normAutofit/>
          </a:bodyPr>
          <a:lstStyle/>
          <a:p>
            <a:r>
              <a:rPr lang="en-US" dirty="0"/>
              <a:t>&lt;,&lt;=,&gt;,&gt;=  also take two values and return either True or False</a:t>
            </a:r>
          </a:p>
          <a:p>
            <a:r>
              <a:rPr lang="en-US" dirty="0"/>
              <a:t>&gt; 3&gt;2</a:t>
            </a:r>
          </a:p>
          <a:p>
            <a:r>
              <a:rPr lang="en-US" dirty="0"/>
              <a:t>  True</a:t>
            </a:r>
          </a:p>
          <a:p>
            <a:r>
              <a:rPr lang="en-US" dirty="0"/>
              <a:t>&gt;  3&gt;=2</a:t>
            </a:r>
          </a:p>
          <a:p>
            <a:r>
              <a:rPr lang="en-US" dirty="0"/>
              <a:t>  True</a:t>
            </a:r>
          </a:p>
          <a:p>
            <a:r>
              <a:rPr lang="en-US" dirty="0"/>
              <a:t>&gt; 3 &lt;=2</a:t>
            </a:r>
          </a:p>
          <a:p>
            <a:r>
              <a:rPr lang="en-US" dirty="0"/>
              <a:t>  False</a:t>
            </a:r>
          </a:p>
        </p:txBody>
      </p:sp>
    </p:spTree>
    <p:extLst>
      <p:ext uri="{BB962C8B-B14F-4D97-AF65-F5344CB8AC3E}">
        <p14:creationId xmlns:p14="http://schemas.microsoft.com/office/powerpoint/2010/main" val="37418222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Boolean Operators</a:t>
            </a:r>
          </a:p>
        </p:txBody>
      </p:sp>
      <p:sp>
        <p:nvSpPr>
          <p:cNvPr id="3" name="Content Placeholder 2"/>
          <p:cNvSpPr>
            <a:spLocks noGrp="1"/>
          </p:cNvSpPr>
          <p:nvPr>
            <p:ph idx="1"/>
          </p:nvPr>
        </p:nvSpPr>
        <p:spPr>
          <a:xfrm>
            <a:off x="1097280" y="1845734"/>
            <a:ext cx="10058400" cy="4346344"/>
          </a:xfrm>
        </p:spPr>
        <p:txBody>
          <a:bodyPr>
            <a:normAutofit/>
          </a:bodyPr>
          <a:lstStyle/>
          <a:p>
            <a:r>
              <a:rPr lang="en-US" dirty="0"/>
              <a:t>and</a:t>
            </a:r>
          </a:p>
          <a:p>
            <a:r>
              <a:rPr lang="en-US" dirty="0"/>
              <a:t>The and operator takes two bool values as input and evaluates to True if and only if both values are True.</a:t>
            </a:r>
          </a:p>
          <a:p>
            <a:r>
              <a:rPr lang="en-US" dirty="0"/>
              <a:t>True and True -&gt;  True</a:t>
            </a:r>
          </a:p>
          <a:p>
            <a:r>
              <a:rPr lang="en-US" dirty="0"/>
              <a:t>True and False -&gt; False</a:t>
            </a:r>
          </a:p>
          <a:p>
            <a:r>
              <a:rPr lang="en-US" dirty="0"/>
              <a:t>False and True -&gt; False</a:t>
            </a:r>
          </a:p>
          <a:p>
            <a:r>
              <a:rPr lang="en-US" dirty="0"/>
              <a:t>False and False -&gt; False</a:t>
            </a:r>
          </a:p>
          <a:p>
            <a:endParaRPr lang="en-US" dirty="0"/>
          </a:p>
          <a:p>
            <a:endParaRPr lang="en-US" dirty="0"/>
          </a:p>
        </p:txBody>
      </p:sp>
    </p:spTree>
    <p:extLst>
      <p:ext uri="{BB962C8B-B14F-4D97-AF65-F5344CB8AC3E}">
        <p14:creationId xmlns:p14="http://schemas.microsoft.com/office/powerpoint/2010/main" val="10883538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Boolean Operators</a:t>
            </a:r>
          </a:p>
        </p:txBody>
      </p:sp>
      <p:sp>
        <p:nvSpPr>
          <p:cNvPr id="3" name="Content Placeholder 2"/>
          <p:cNvSpPr>
            <a:spLocks noGrp="1"/>
          </p:cNvSpPr>
          <p:nvPr>
            <p:ph idx="1"/>
          </p:nvPr>
        </p:nvSpPr>
        <p:spPr>
          <a:xfrm>
            <a:off x="1097280" y="1845734"/>
            <a:ext cx="10058400" cy="4346344"/>
          </a:xfrm>
        </p:spPr>
        <p:txBody>
          <a:bodyPr>
            <a:normAutofit/>
          </a:bodyPr>
          <a:lstStyle/>
          <a:p>
            <a:r>
              <a:rPr lang="en-US" dirty="0"/>
              <a:t>or</a:t>
            </a:r>
          </a:p>
          <a:p>
            <a:r>
              <a:rPr lang="en-US" dirty="0"/>
              <a:t>The or operator takes two bool values as input and evaluates to True if at least one value is True.</a:t>
            </a:r>
          </a:p>
          <a:p>
            <a:r>
              <a:rPr lang="en-US" dirty="0"/>
              <a:t>True or True -&gt;  True</a:t>
            </a:r>
          </a:p>
          <a:p>
            <a:r>
              <a:rPr lang="en-US" dirty="0"/>
              <a:t>True or False -&gt; True</a:t>
            </a:r>
          </a:p>
          <a:p>
            <a:r>
              <a:rPr lang="en-US" dirty="0"/>
              <a:t>False or True -&gt; True</a:t>
            </a:r>
          </a:p>
          <a:p>
            <a:r>
              <a:rPr lang="en-US" dirty="0"/>
              <a:t>False or False -&gt; False</a:t>
            </a:r>
          </a:p>
          <a:p>
            <a:endParaRPr lang="en-US" dirty="0"/>
          </a:p>
          <a:p>
            <a:endParaRPr lang="en-US" dirty="0"/>
          </a:p>
        </p:txBody>
      </p:sp>
    </p:spTree>
    <p:extLst>
      <p:ext uri="{BB962C8B-B14F-4D97-AF65-F5344CB8AC3E}">
        <p14:creationId xmlns:p14="http://schemas.microsoft.com/office/powerpoint/2010/main" val="11944613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Boolean Operators</a:t>
            </a:r>
          </a:p>
        </p:txBody>
      </p:sp>
      <p:sp>
        <p:nvSpPr>
          <p:cNvPr id="3" name="Content Placeholder 2"/>
          <p:cNvSpPr>
            <a:spLocks noGrp="1"/>
          </p:cNvSpPr>
          <p:nvPr>
            <p:ph idx="1"/>
          </p:nvPr>
        </p:nvSpPr>
        <p:spPr>
          <a:xfrm>
            <a:off x="1097280" y="1845734"/>
            <a:ext cx="10058400" cy="4346344"/>
          </a:xfrm>
        </p:spPr>
        <p:txBody>
          <a:bodyPr>
            <a:normAutofit/>
          </a:bodyPr>
          <a:lstStyle/>
          <a:p>
            <a:r>
              <a:rPr lang="en-US" dirty="0"/>
              <a:t>not</a:t>
            </a:r>
          </a:p>
          <a:p>
            <a:r>
              <a:rPr lang="en-US" dirty="0"/>
              <a:t>The not operator takes one bool value as input and evaluates to True if the input was False and False if the input was True</a:t>
            </a:r>
          </a:p>
          <a:p>
            <a:r>
              <a:rPr lang="en-US" dirty="0"/>
              <a:t>not False -&gt;  True</a:t>
            </a:r>
          </a:p>
          <a:p>
            <a:r>
              <a:rPr lang="en-US" dirty="0"/>
              <a:t>not True -&gt; False</a:t>
            </a:r>
          </a:p>
          <a:p>
            <a:endParaRPr lang="en-US" dirty="0"/>
          </a:p>
          <a:p>
            <a:endParaRPr lang="en-US" dirty="0"/>
          </a:p>
        </p:txBody>
      </p:sp>
    </p:spTree>
    <p:extLst>
      <p:ext uri="{BB962C8B-B14F-4D97-AF65-F5344CB8AC3E}">
        <p14:creationId xmlns:p14="http://schemas.microsoft.com/office/powerpoint/2010/main" val="14756396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Boolean Operators</a:t>
            </a:r>
          </a:p>
        </p:txBody>
      </p:sp>
      <p:sp>
        <p:nvSpPr>
          <p:cNvPr id="3" name="Content Placeholder 2"/>
          <p:cNvSpPr>
            <a:spLocks noGrp="1"/>
          </p:cNvSpPr>
          <p:nvPr>
            <p:ph idx="1"/>
          </p:nvPr>
        </p:nvSpPr>
        <p:spPr/>
        <p:txBody>
          <a:bodyPr/>
          <a:lstStyle/>
          <a:p>
            <a:r>
              <a:rPr lang="en-US" dirty="0"/>
              <a:t>&gt; 2&gt;=3</a:t>
            </a:r>
          </a:p>
          <a:p>
            <a:r>
              <a:rPr lang="en-US" dirty="0"/>
              <a:t>  False</a:t>
            </a:r>
          </a:p>
          <a:p>
            <a:r>
              <a:rPr lang="en-US" dirty="0"/>
              <a:t>&gt; not (2 &gt;=3)</a:t>
            </a:r>
          </a:p>
          <a:p>
            <a:r>
              <a:rPr lang="en-US" dirty="0"/>
              <a:t>  True</a:t>
            </a:r>
          </a:p>
          <a:p>
            <a:r>
              <a:rPr lang="en-US" dirty="0"/>
              <a:t>&gt;  (2&gt;=3)  or (4 &gt;=3)</a:t>
            </a:r>
          </a:p>
          <a:p>
            <a:r>
              <a:rPr lang="en-US" dirty="0"/>
              <a:t>  True</a:t>
            </a:r>
          </a:p>
          <a:p>
            <a:r>
              <a:rPr lang="en-US" dirty="0"/>
              <a:t>&gt;  (2&gt;=3)  and (4 &gt;=3)</a:t>
            </a:r>
          </a:p>
          <a:p>
            <a:r>
              <a:rPr lang="en-US" dirty="0"/>
              <a:t>   False</a:t>
            </a:r>
          </a:p>
        </p:txBody>
      </p:sp>
    </p:spTree>
    <p:extLst>
      <p:ext uri="{BB962C8B-B14F-4D97-AF65-F5344CB8AC3E}">
        <p14:creationId xmlns:p14="http://schemas.microsoft.com/office/powerpoint/2010/main" val="36719773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 vs float</a:t>
            </a:r>
          </a:p>
        </p:txBody>
      </p:sp>
      <p:sp>
        <p:nvSpPr>
          <p:cNvPr id="3" name="Content Placeholder 2"/>
          <p:cNvSpPr>
            <a:spLocks noGrp="1"/>
          </p:cNvSpPr>
          <p:nvPr>
            <p:ph idx="1"/>
          </p:nvPr>
        </p:nvSpPr>
        <p:spPr/>
        <p:txBody>
          <a:bodyPr>
            <a:normAutofit/>
          </a:bodyPr>
          <a:lstStyle/>
          <a:p>
            <a:r>
              <a:rPr lang="en-US" dirty="0"/>
              <a:t>Float data type are “floating point numbers”  (i.e. decimal number)  </a:t>
            </a:r>
          </a:p>
          <a:p>
            <a:r>
              <a:rPr lang="en-US" dirty="0"/>
              <a:t>Numbers can be displayed in scientific notation.</a:t>
            </a:r>
          </a:p>
          <a:p>
            <a:r>
              <a:rPr lang="en-US" dirty="0"/>
              <a:t>For example, 2.23e-12, which means 2.23 x 10^-12</a:t>
            </a:r>
          </a:p>
          <a:p>
            <a:r>
              <a:rPr lang="en-US" dirty="0"/>
              <a:t>Numbers are stored in ~64 bits.  </a:t>
            </a:r>
          </a:p>
          <a:p>
            <a:pPr lvl="1"/>
            <a:r>
              <a:rPr lang="en-US" dirty="0"/>
              <a:t>There is a limit to the precision of floating point numbers.</a:t>
            </a:r>
          </a:p>
          <a:p>
            <a:pPr lvl="1"/>
            <a:r>
              <a:rPr lang="en-US" dirty="0"/>
              <a:t>Rounding error will enter calculations.</a:t>
            </a:r>
          </a:p>
          <a:p>
            <a:pPr lvl="1"/>
            <a:r>
              <a:rPr lang="en-US" dirty="0"/>
              <a:t>This rounding error can affect calculations</a:t>
            </a:r>
          </a:p>
          <a:p>
            <a:r>
              <a:rPr lang="en-US" dirty="0"/>
              <a:t>&gt; </a:t>
            </a:r>
            <a:r>
              <a:rPr lang="en-US" dirty="0" err="1"/>
              <a:t>math.sqrt</a:t>
            </a:r>
            <a:r>
              <a:rPr lang="en-US" dirty="0"/>
              <a:t>(2)**2-2</a:t>
            </a:r>
          </a:p>
          <a:p>
            <a:r>
              <a:rPr lang="en-US" dirty="0"/>
              <a:t>4.440892098500626e-16</a:t>
            </a:r>
          </a:p>
        </p:txBody>
      </p:sp>
    </p:spTree>
    <p:extLst>
      <p:ext uri="{BB962C8B-B14F-4D97-AF65-F5344CB8AC3E}">
        <p14:creationId xmlns:p14="http://schemas.microsoft.com/office/powerpoint/2010/main" val="1244614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 vs float</a:t>
            </a:r>
          </a:p>
        </p:txBody>
      </p:sp>
      <p:sp>
        <p:nvSpPr>
          <p:cNvPr id="3" name="Content Placeholder 2"/>
          <p:cNvSpPr>
            <a:spLocks noGrp="1"/>
          </p:cNvSpPr>
          <p:nvPr>
            <p:ph idx="1"/>
          </p:nvPr>
        </p:nvSpPr>
        <p:spPr/>
        <p:txBody>
          <a:bodyPr>
            <a:normAutofit/>
          </a:bodyPr>
          <a:lstStyle/>
          <a:p>
            <a:r>
              <a:rPr lang="en-US" dirty="0"/>
              <a:t>&gt; </a:t>
            </a:r>
            <a:r>
              <a:rPr lang="en-US" dirty="0" err="1"/>
              <a:t>math.sqrt</a:t>
            </a:r>
            <a:r>
              <a:rPr lang="en-US" dirty="0"/>
              <a:t>(2)**2==2</a:t>
            </a:r>
          </a:p>
          <a:p>
            <a:r>
              <a:rPr lang="en-US" dirty="0"/>
              <a:t>False</a:t>
            </a:r>
          </a:p>
          <a:p>
            <a:r>
              <a:rPr lang="en-US" dirty="0"/>
              <a:t>Why?  2 is an integer but </a:t>
            </a:r>
            <a:r>
              <a:rPr lang="en-US" dirty="0" err="1"/>
              <a:t>math.sqrt</a:t>
            </a:r>
            <a:r>
              <a:rPr lang="en-US" dirty="0"/>
              <a:t>(2) is a float (since sqrt(2) is not an integer).</a:t>
            </a:r>
          </a:p>
          <a:p>
            <a:r>
              <a:rPr lang="en-US" dirty="0"/>
              <a:t>When we square the sqrt(2), we still have a float and it is not exactly equal to 2 because sqrt(2) is irrational and therefore the representation in Python is not exact.  So when we square it, we don’t get exactly 2.</a:t>
            </a:r>
          </a:p>
          <a:p>
            <a:r>
              <a:rPr lang="en-US" dirty="0"/>
              <a:t>Alternative:</a:t>
            </a:r>
          </a:p>
          <a:p>
            <a:r>
              <a:rPr lang="en-US" dirty="0"/>
              <a:t>&gt; abs(</a:t>
            </a:r>
            <a:r>
              <a:rPr lang="en-US" dirty="0" err="1"/>
              <a:t>math.sqrt</a:t>
            </a:r>
            <a:r>
              <a:rPr lang="en-US" dirty="0"/>
              <a:t>(2)**2-2) &lt; 1e-8</a:t>
            </a:r>
          </a:p>
          <a:p>
            <a:r>
              <a:rPr lang="en-US" dirty="0"/>
              <a:t>1e-8 is arbitrary but is chosen to be a very small number, so we are checking if sqrt(2)**2 is very close to 2, even if not exactly equal to 2.</a:t>
            </a:r>
          </a:p>
        </p:txBody>
      </p:sp>
    </p:spTree>
    <p:extLst>
      <p:ext uri="{BB962C8B-B14F-4D97-AF65-F5344CB8AC3E}">
        <p14:creationId xmlns:p14="http://schemas.microsoft.com/office/powerpoint/2010/main" val="39769121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Literals and Variables</a:t>
            </a:r>
          </a:p>
        </p:txBody>
      </p:sp>
      <p:sp>
        <p:nvSpPr>
          <p:cNvPr id="3" name="Content Placeholder 2"/>
          <p:cNvSpPr>
            <a:spLocks noGrp="1"/>
          </p:cNvSpPr>
          <p:nvPr>
            <p:ph idx="1"/>
          </p:nvPr>
        </p:nvSpPr>
        <p:spPr/>
        <p:txBody>
          <a:bodyPr>
            <a:normAutofit/>
          </a:bodyPr>
          <a:lstStyle/>
          <a:p>
            <a:r>
              <a:rPr lang="en-US" dirty="0"/>
              <a:t>So far I have been expressing all objects as “literals”.  For example,</a:t>
            </a:r>
          </a:p>
          <a:p>
            <a:pPr lvl="1"/>
            <a:r>
              <a:rPr lang="en-US" dirty="0"/>
              <a:t>2 is a literal representation of an integer</a:t>
            </a:r>
          </a:p>
          <a:p>
            <a:pPr lvl="1"/>
            <a:r>
              <a:rPr lang="en-US" dirty="0"/>
              <a:t>14.0 is a literal representation of a float, as is 3.14  </a:t>
            </a:r>
          </a:p>
          <a:p>
            <a:pPr lvl="2"/>
            <a:r>
              <a:rPr lang="en-US" dirty="0"/>
              <a:t>the inclusion of decimal point in 14.0 distinguishes the float object 14.0 from the integer object 14</a:t>
            </a:r>
          </a:p>
          <a:p>
            <a:pPr lvl="1"/>
            <a:r>
              <a:rPr lang="en-US" dirty="0"/>
              <a:t>“hello” is a literal representation of a string as is ‘hello’  </a:t>
            </a:r>
          </a:p>
          <a:p>
            <a:pPr lvl="2"/>
            <a:r>
              <a:rPr lang="en-US" dirty="0"/>
              <a:t>you can use either single quotes or double quotes but must use the same on either end</a:t>
            </a:r>
          </a:p>
          <a:p>
            <a:pPr lvl="2"/>
            <a:r>
              <a:rPr lang="en-US" dirty="0"/>
              <a:t>if your string has one kind of quote inside the string, then use the other kind to denote the string</a:t>
            </a:r>
          </a:p>
          <a:p>
            <a:pPr lvl="2"/>
            <a:r>
              <a:rPr lang="en-US" dirty="0"/>
              <a:t>if your string has both kinds of quotes, you will need to use an escape sequence (look it up)</a:t>
            </a:r>
          </a:p>
          <a:p>
            <a:pPr lvl="1"/>
            <a:r>
              <a:rPr lang="en-US" dirty="0"/>
              <a:t>True is a literal representation of a bool, as is False </a:t>
            </a:r>
          </a:p>
          <a:p>
            <a:pPr lvl="2"/>
            <a:r>
              <a:rPr lang="en-US" dirty="0"/>
              <a:t>These are the only two possible values for objects of type of bool.</a:t>
            </a:r>
          </a:p>
          <a:p>
            <a:pPr lvl="2"/>
            <a:endParaRPr lang="en-US" dirty="0"/>
          </a:p>
          <a:p>
            <a:r>
              <a:rPr lang="en-US" dirty="0"/>
              <a:t>Often when we are writing code, we want to do calculations but we don’t know the values ahead of time so we use variables instead of literals.</a:t>
            </a:r>
          </a:p>
          <a:p>
            <a:pPr marL="201168" lvl="1" indent="0">
              <a:buNone/>
            </a:pPr>
            <a:endParaRPr lang="en-US" dirty="0"/>
          </a:p>
        </p:txBody>
      </p:sp>
    </p:spTree>
    <p:extLst>
      <p:ext uri="{BB962C8B-B14F-4D97-AF65-F5344CB8AC3E}">
        <p14:creationId xmlns:p14="http://schemas.microsoft.com/office/powerpoint/2010/main" val="38920669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Variables</a:t>
            </a:r>
          </a:p>
        </p:txBody>
      </p:sp>
      <p:sp>
        <p:nvSpPr>
          <p:cNvPr id="3" name="Content Placeholder 2"/>
          <p:cNvSpPr>
            <a:spLocks noGrp="1"/>
          </p:cNvSpPr>
          <p:nvPr>
            <p:ph idx="1"/>
          </p:nvPr>
        </p:nvSpPr>
        <p:spPr>
          <a:xfrm>
            <a:off x="1097280" y="1845734"/>
            <a:ext cx="10058400" cy="4501278"/>
          </a:xfrm>
        </p:spPr>
        <p:txBody>
          <a:bodyPr>
            <a:normAutofit fontScale="92500" lnSpcReduction="20000"/>
          </a:bodyPr>
          <a:lstStyle/>
          <a:p>
            <a:r>
              <a:rPr lang="en-US" dirty="0"/>
              <a:t>Variables are names that refer to objects.  An assignment statement is used to define a variable, i.e. to map a variable name to an object.   A single = is used for an assignment statement with the variable name on the left side and the object on the right side.</a:t>
            </a:r>
          </a:p>
          <a:p>
            <a:r>
              <a:rPr lang="en-US" dirty="0"/>
              <a:t>The right side may be a literal or may be a more complex expression that evaluates to some object.</a:t>
            </a:r>
          </a:p>
          <a:p>
            <a:r>
              <a:rPr lang="en-US" dirty="0"/>
              <a:t>&gt; a = 2</a:t>
            </a:r>
          </a:p>
          <a:p>
            <a:r>
              <a:rPr lang="en-US" dirty="0"/>
              <a:t>&gt; b = a + 3</a:t>
            </a:r>
          </a:p>
          <a:p>
            <a:r>
              <a:rPr lang="en-US" dirty="0"/>
              <a:t>Now a is an object of type int with value 2 and b is an object of type int with value 5 because (a+3) is an expression that evaluates to 5 since a has value 2 and 2+3 is 5.  (Note:  the expression a+3 is evaluated to be object with value 5, so b is defined as 5, NOT as a+3).</a:t>
            </a:r>
          </a:p>
          <a:p>
            <a:r>
              <a:rPr lang="en-US" dirty="0"/>
              <a:t>&gt; a = 3</a:t>
            </a:r>
          </a:p>
          <a:p>
            <a:r>
              <a:rPr lang="en-US" dirty="0"/>
              <a:t>Now a is a different object of type int (with value 3).  But b is still the same object (5) because we haven’t changed b.</a:t>
            </a:r>
          </a:p>
          <a:p>
            <a:r>
              <a:rPr lang="en-US" dirty="0"/>
              <a:t>&gt;  </a:t>
            </a:r>
            <a:r>
              <a:rPr lang="en-US" dirty="0" err="1"/>
              <a:t>a+b</a:t>
            </a:r>
            <a:endParaRPr lang="en-US" dirty="0"/>
          </a:p>
          <a:p>
            <a:r>
              <a:rPr lang="en-US" dirty="0"/>
              <a:t>8</a:t>
            </a:r>
          </a:p>
          <a:p>
            <a:endParaRPr lang="en-US" dirty="0"/>
          </a:p>
        </p:txBody>
      </p:sp>
    </p:spTree>
    <p:extLst>
      <p:ext uri="{BB962C8B-B14F-4D97-AF65-F5344CB8AC3E}">
        <p14:creationId xmlns:p14="http://schemas.microsoft.com/office/powerpoint/2010/main" val="40056081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Variables</a:t>
            </a:r>
          </a:p>
        </p:txBody>
      </p:sp>
      <p:sp>
        <p:nvSpPr>
          <p:cNvPr id="3" name="Content Placeholder 2"/>
          <p:cNvSpPr>
            <a:spLocks noGrp="1"/>
          </p:cNvSpPr>
          <p:nvPr>
            <p:ph idx="1"/>
          </p:nvPr>
        </p:nvSpPr>
        <p:spPr/>
        <p:txBody>
          <a:bodyPr>
            <a:normAutofit/>
          </a:bodyPr>
          <a:lstStyle/>
          <a:p>
            <a:r>
              <a:rPr lang="en-US" dirty="0"/>
              <a:t>In Spyder, the variable explorer box in the upper right corner shows all currently defined variables.  If you reference a variable that is not defined, you will get an error.</a:t>
            </a:r>
          </a:p>
          <a:p>
            <a:r>
              <a:rPr lang="en-US" dirty="0"/>
              <a:t>&gt; c+2</a:t>
            </a:r>
          </a:p>
          <a:p>
            <a:r>
              <a:rPr lang="en-US" dirty="0" err="1"/>
              <a:t>NameError</a:t>
            </a:r>
            <a:r>
              <a:rPr lang="en-US" dirty="0"/>
              <a:t>: name ‘c' is not defined</a:t>
            </a:r>
          </a:p>
        </p:txBody>
      </p:sp>
    </p:spTree>
    <p:extLst>
      <p:ext uri="{BB962C8B-B14F-4D97-AF65-F5344CB8AC3E}">
        <p14:creationId xmlns:p14="http://schemas.microsoft.com/office/powerpoint/2010/main" val="97819976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Variables</a:t>
            </a:r>
          </a:p>
        </p:txBody>
      </p:sp>
      <p:sp>
        <p:nvSpPr>
          <p:cNvPr id="3" name="Content Placeholder 2"/>
          <p:cNvSpPr>
            <a:spLocks noGrp="1"/>
          </p:cNvSpPr>
          <p:nvPr>
            <p:ph idx="1"/>
          </p:nvPr>
        </p:nvSpPr>
        <p:spPr/>
        <p:txBody>
          <a:bodyPr/>
          <a:lstStyle/>
          <a:p>
            <a:r>
              <a:rPr lang="en-US" dirty="0"/>
              <a:t>Note </a:t>
            </a:r>
            <a:r>
              <a:rPr lang="en-US"/>
              <a:t>that assignment </a:t>
            </a:r>
            <a:r>
              <a:rPr lang="en-US" dirty="0"/>
              <a:t>is different from = in math</a:t>
            </a:r>
          </a:p>
          <a:p>
            <a:r>
              <a:rPr lang="en-US" dirty="0"/>
              <a:t>&gt; a=2</a:t>
            </a:r>
          </a:p>
          <a:p>
            <a:r>
              <a:rPr lang="en-US" dirty="0"/>
              <a:t>&gt; a</a:t>
            </a:r>
          </a:p>
          <a:p>
            <a:r>
              <a:rPr lang="en-US" dirty="0"/>
              <a:t>2</a:t>
            </a:r>
          </a:p>
          <a:p>
            <a:r>
              <a:rPr lang="en-US" dirty="0"/>
              <a:t>&gt; a = a +1</a:t>
            </a:r>
          </a:p>
          <a:p>
            <a:r>
              <a:rPr lang="en-US" dirty="0"/>
              <a:t>&gt; a</a:t>
            </a:r>
          </a:p>
          <a:p>
            <a:r>
              <a:rPr lang="en-US" dirty="0"/>
              <a:t>3</a:t>
            </a:r>
          </a:p>
        </p:txBody>
      </p:sp>
    </p:spTree>
    <p:extLst>
      <p:ext uri="{BB962C8B-B14F-4D97-AF65-F5344CB8AC3E}">
        <p14:creationId xmlns:p14="http://schemas.microsoft.com/office/powerpoint/2010/main" val="252884220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2D1F0D-2D47-41AB-9E84-C8EFCCB416F6}"/>
              </a:ext>
            </a:extLst>
          </p:cNvPr>
          <p:cNvSpPr>
            <a:spLocks noGrp="1"/>
          </p:cNvSpPr>
          <p:nvPr>
            <p:ph type="title"/>
          </p:nvPr>
        </p:nvSpPr>
        <p:spPr/>
        <p:txBody>
          <a:bodyPr/>
          <a:lstStyle/>
          <a:p>
            <a:r>
              <a:rPr lang="en-US" dirty="0"/>
              <a:t>Variables</a:t>
            </a:r>
          </a:p>
        </p:txBody>
      </p:sp>
      <p:sp>
        <p:nvSpPr>
          <p:cNvPr id="3" name="Content Placeholder 2">
            <a:extLst>
              <a:ext uri="{FF2B5EF4-FFF2-40B4-BE49-F238E27FC236}">
                <a16:creationId xmlns:a16="http://schemas.microsoft.com/office/drawing/2014/main" id="{A0F1F98D-7157-4844-9DD0-EA61F0A3F89C}"/>
              </a:ext>
            </a:extLst>
          </p:cNvPr>
          <p:cNvSpPr>
            <a:spLocks noGrp="1"/>
          </p:cNvSpPr>
          <p:nvPr>
            <p:ph idx="1"/>
          </p:nvPr>
        </p:nvSpPr>
        <p:spPr/>
        <p:txBody>
          <a:bodyPr/>
          <a:lstStyle/>
          <a:p>
            <a:r>
              <a:rPr lang="en-US" dirty="0"/>
              <a:t>Variables can have values of any data type (and you don’t need to specify the type in advance like in some programming languages).</a:t>
            </a:r>
          </a:p>
          <a:p>
            <a:r>
              <a:rPr lang="en-US" dirty="0"/>
              <a:t>&gt; a = “Hello”</a:t>
            </a:r>
          </a:p>
          <a:p>
            <a:r>
              <a:rPr lang="en-US" dirty="0"/>
              <a:t>&gt; a = False</a:t>
            </a:r>
          </a:p>
          <a:p>
            <a:r>
              <a:rPr lang="en-US" dirty="0"/>
              <a:t>&gt; a = 3.14</a:t>
            </a:r>
          </a:p>
          <a:p>
            <a:r>
              <a:rPr lang="en-US" dirty="0"/>
              <a:t>This first defines a as a str type, then redefines a as a bool type, then redefines a as a float</a:t>
            </a:r>
          </a:p>
          <a:p>
            <a:r>
              <a:rPr lang="en-US" dirty="0"/>
              <a:t>However, it is best practice in most situations to have type of a variable stay the same.</a:t>
            </a:r>
          </a:p>
        </p:txBody>
      </p:sp>
    </p:spTree>
    <p:extLst>
      <p:ext uri="{BB962C8B-B14F-4D97-AF65-F5344CB8AC3E}">
        <p14:creationId xmlns:p14="http://schemas.microsoft.com/office/powerpoint/2010/main" val="84099710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37920E-97DE-48E2-AD20-436ACA8F6382}"/>
              </a:ext>
            </a:extLst>
          </p:cNvPr>
          <p:cNvSpPr>
            <a:spLocks noGrp="1"/>
          </p:cNvSpPr>
          <p:nvPr>
            <p:ph type="title"/>
          </p:nvPr>
        </p:nvSpPr>
        <p:spPr/>
        <p:txBody>
          <a:bodyPr/>
          <a:lstStyle/>
          <a:p>
            <a:r>
              <a:rPr lang="en-US" dirty="0"/>
              <a:t>Variable Names</a:t>
            </a:r>
          </a:p>
        </p:txBody>
      </p:sp>
      <p:sp>
        <p:nvSpPr>
          <p:cNvPr id="3" name="Content Placeholder 2">
            <a:extLst>
              <a:ext uri="{FF2B5EF4-FFF2-40B4-BE49-F238E27FC236}">
                <a16:creationId xmlns:a16="http://schemas.microsoft.com/office/drawing/2014/main" id="{F66A605D-746E-4CBD-95D9-C178758EE995}"/>
              </a:ext>
            </a:extLst>
          </p:cNvPr>
          <p:cNvSpPr>
            <a:spLocks noGrp="1"/>
          </p:cNvSpPr>
          <p:nvPr>
            <p:ph idx="1"/>
          </p:nvPr>
        </p:nvSpPr>
        <p:spPr/>
        <p:txBody>
          <a:bodyPr/>
          <a:lstStyle/>
          <a:p>
            <a:r>
              <a:rPr lang="en-US" dirty="0"/>
              <a:t>Valid variable names include letters, numbers, and/or the underscore _.</a:t>
            </a:r>
          </a:p>
          <a:p>
            <a:r>
              <a:rPr lang="en-US" dirty="0"/>
              <a:t>Variable names cannot start with a number.</a:t>
            </a:r>
          </a:p>
          <a:p>
            <a:r>
              <a:rPr lang="en-US" dirty="0"/>
              <a:t>Variable names are case sensitive (</a:t>
            </a:r>
            <a:r>
              <a:rPr lang="en-US" dirty="0" err="1"/>
              <a:t>calpoly</a:t>
            </a:r>
            <a:r>
              <a:rPr lang="en-US" dirty="0"/>
              <a:t> is a different variable than </a:t>
            </a:r>
            <a:r>
              <a:rPr lang="en-US" dirty="0" err="1"/>
              <a:t>CalPoly</a:t>
            </a:r>
            <a:r>
              <a:rPr lang="en-US" dirty="0"/>
              <a:t>)</a:t>
            </a:r>
          </a:p>
          <a:p>
            <a:r>
              <a:rPr lang="en-US" dirty="0"/>
              <a:t>Variable name cannot exactly match certain keywords in Python (words which have another meaning in the Python language).  For example,  cannot name a variable:</a:t>
            </a:r>
          </a:p>
          <a:p>
            <a:pPr lvl="1"/>
            <a:r>
              <a:rPr lang="en-US" dirty="0"/>
              <a:t>True</a:t>
            </a:r>
          </a:p>
          <a:p>
            <a:pPr lvl="1"/>
            <a:r>
              <a:rPr lang="en-US" dirty="0"/>
              <a:t>False</a:t>
            </a:r>
          </a:p>
          <a:p>
            <a:pPr lvl="1"/>
            <a:r>
              <a:rPr lang="en-US" dirty="0"/>
              <a:t>if</a:t>
            </a:r>
          </a:p>
          <a:p>
            <a:pPr lvl="1"/>
            <a:r>
              <a:rPr lang="en-US" dirty="0"/>
              <a:t>for</a:t>
            </a:r>
          </a:p>
        </p:txBody>
      </p:sp>
    </p:spTree>
    <p:extLst>
      <p:ext uri="{BB962C8B-B14F-4D97-AF65-F5344CB8AC3E}">
        <p14:creationId xmlns:p14="http://schemas.microsoft.com/office/powerpoint/2010/main" val="324925438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C98ACE-841C-4E57-85F1-D2D30F4A097D}"/>
              </a:ext>
            </a:extLst>
          </p:cNvPr>
          <p:cNvSpPr>
            <a:spLocks noGrp="1"/>
          </p:cNvSpPr>
          <p:nvPr>
            <p:ph type="title"/>
          </p:nvPr>
        </p:nvSpPr>
        <p:spPr/>
        <p:txBody>
          <a:bodyPr/>
          <a:lstStyle/>
          <a:p>
            <a:r>
              <a:rPr lang="en-US" dirty="0"/>
              <a:t>print function</a:t>
            </a:r>
          </a:p>
        </p:txBody>
      </p:sp>
      <p:sp>
        <p:nvSpPr>
          <p:cNvPr id="3" name="Content Placeholder 2">
            <a:extLst>
              <a:ext uri="{FF2B5EF4-FFF2-40B4-BE49-F238E27FC236}">
                <a16:creationId xmlns:a16="http://schemas.microsoft.com/office/drawing/2014/main" id="{E010F82D-4D56-48F6-B454-F1F36B72E20C}"/>
              </a:ext>
            </a:extLst>
          </p:cNvPr>
          <p:cNvSpPr>
            <a:spLocks noGrp="1"/>
          </p:cNvSpPr>
          <p:nvPr>
            <p:ph idx="1"/>
          </p:nvPr>
        </p:nvSpPr>
        <p:spPr/>
        <p:txBody>
          <a:bodyPr/>
          <a:lstStyle/>
          <a:p>
            <a:r>
              <a:rPr lang="en-US" dirty="0"/>
              <a:t>Displays input to console</a:t>
            </a:r>
          </a:p>
          <a:p>
            <a:r>
              <a:rPr lang="en-US" dirty="0"/>
              <a:t>&gt; print(“Hello World”)</a:t>
            </a:r>
          </a:p>
          <a:p>
            <a:r>
              <a:rPr lang="en-US" dirty="0"/>
              <a:t>“Hello World”</a:t>
            </a:r>
          </a:p>
          <a:p>
            <a:r>
              <a:rPr lang="en-US" dirty="0"/>
              <a:t>&gt; a=3</a:t>
            </a:r>
          </a:p>
          <a:p>
            <a:r>
              <a:rPr lang="en-US" dirty="0"/>
              <a:t>&gt; print(a)</a:t>
            </a:r>
          </a:p>
          <a:p>
            <a:r>
              <a:rPr lang="en-US" dirty="0"/>
              <a:t>3</a:t>
            </a:r>
          </a:p>
        </p:txBody>
      </p:sp>
    </p:spTree>
    <p:extLst>
      <p:ext uri="{BB962C8B-B14F-4D97-AF65-F5344CB8AC3E}">
        <p14:creationId xmlns:p14="http://schemas.microsoft.com/office/powerpoint/2010/main" val="216817991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D8BDD2-5D4C-4E4F-B82F-8ABECEA02087}"/>
              </a:ext>
            </a:extLst>
          </p:cNvPr>
          <p:cNvSpPr>
            <a:spLocks noGrp="1"/>
          </p:cNvSpPr>
          <p:nvPr>
            <p:ph type="title"/>
          </p:nvPr>
        </p:nvSpPr>
        <p:spPr/>
        <p:txBody>
          <a:bodyPr/>
          <a:lstStyle/>
          <a:p>
            <a:r>
              <a:rPr lang="en-US" dirty="0"/>
              <a:t>Statement vs expression</a:t>
            </a:r>
          </a:p>
        </p:txBody>
      </p:sp>
      <p:sp>
        <p:nvSpPr>
          <p:cNvPr id="3" name="Content Placeholder 2">
            <a:extLst>
              <a:ext uri="{FF2B5EF4-FFF2-40B4-BE49-F238E27FC236}">
                <a16:creationId xmlns:a16="http://schemas.microsoft.com/office/drawing/2014/main" id="{A8585BE0-7F79-44E5-9F40-CC54A020BE7D}"/>
              </a:ext>
            </a:extLst>
          </p:cNvPr>
          <p:cNvSpPr>
            <a:spLocks noGrp="1"/>
          </p:cNvSpPr>
          <p:nvPr>
            <p:ph idx="1"/>
          </p:nvPr>
        </p:nvSpPr>
        <p:spPr/>
        <p:txBody>
          <a:bodyPr>
            <a:normAutofit fontScale="92500" lnSpcReduction="20000"/>
          </a:bodyPr>
          <a:lstStyle/>
          <a:p>
            <a:r>
              <a:rPr lang="en-US" dirty="0"/>
              <a:t>Expression: a combination of literal values, variables, operators, functions that Python evaluates to yield a value.</a:t>
            </a:r>
          </a:p>
          <a:p>
            <a:r>
              <a:rPr lang="en-US" dirty="0"/>
              <a:t>Statement:  a unit of code that does something, such as assigning a variable or displaying output.</a:t>
            </a:r>
          </a:p>
          <a:p>
            <a:r>
              <a:rPr lang="en-US" dirty="0"/>
              <a:t>These are expressions:</a:t>
            </a:r>
          </a:p>
          <a:p>
            <a:r>
              <a:rPr lang="en-US" dirty="0"/>
              <a:t>3</a:t>
            </a:r>
          </a:p>
          <a:p>
            <a:r>
              <a:rPr lang="en-US" dirty="0"/>
              <a:t>a</a:t>
            </a:r>
          </a:p>
          <a:p>
            <a:r>
              <a:rPr lang="en-US" dirty="0"/>
              <a:t>a+3</a:t>
            </a:r>
          </a:p>
          <a:p>
            <a:r>
              <a:rPr lang="en-US" dirty="0"/>
              <a:t>These are statements:</a:t>
            </a:r>
          </a:p>
          <a:p>
            <a:r>
              <a:rPr lang="en-US" dirty="0"/>
              <a:t>a=4</a:t>
            </a:r>
          </a:p>
          <a:p>
            <a:r>
              <a:rPr lang="en-US" dirty="0"/>
              <a:t>print(a)</a:t>
            </a:r>
          </a:p>
          <a:p>
            <a:r>
              <a:rPr lang="en-US" dirty="0"/>
              <a:t>Note that the statements contain expressions (i.e. 4 in the first, a in the second).</a:t>
            </a:r>
          </a:p>
        </p:txBody>
      </p:sp>
    </p:spTree>
    <p:extLst>
      <p:ext uri="{BB962C8B-B14F-4D97-AF65-F5344CB8AC3E}">
        <p14:creationId xmlns:p14="http://schemas.microsoft.com/office/powerpoint/2010/main" val="62013760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D8BDD2-5D4C-4E4F-B82F-8ABECEA02087}"/>
              </a:ext>
            </a:extLst>
          </p:cNvPr>
          <p:cNvSpPr>
            <a:spLocks noGrp="1"/>
          </p:cNvSpPr>
          <p:nvPr>
            <p:ph type="title"/>
          </p:nvPr>
        </p:nvSpPr>
        <p:spPr/>
        <p:txBody>
          <a:bodyPr/>
          <a:lstStyle/>
          <a:p>
            <a:r>
              <a:rPr lang="en-US" dirty="0"/>
              <a:t>Statement vs expression</a:t>
            </a:r>
          </a:p>
        </p:txBody>
      </p:sp>
      <p:sp>
        <p:nvSpPr>
          <p:cNvPr id="3" name="Content Placeholder 2">
            <a:extLst>
              <a:ext uri="{FF2B5EF4-FFF2-40B4-BE49-F238E27FC236}">
                <a16:creationId xmlns:a16="http://schemas.microsoft.com/office/drawing/2014/main" id="{A8585BE0-7F79-44E5-9F40-CC54A020BE7D}"/>
              </a:ext>
            </a:extLst>
          </p:cNvPr>
          <p:cNvSpPr>
            <a:spLocks noGrp="1"/>
          </p:cNvSpPr>
          <p:nvPr>
            <p:ph idx="1"/>
          </p:nvPr>
        </p:nvSpPr>
        <p:spPr/>
        <p:txBody>
          <a:bodyPr>
            <a:normAutofit/>
          </a:bodyPr>
          <a:lstStyle/>
          <a:p>
            <a:r>
              <a:rPr lang="en-US" dirty="0"/>
              <a:t>When you type an expression at the prompt in Python, the expression is evaluated and the value is displayed in the console.</a:t>
            </a:r>
          </a:p>
          <a:p>
            <a:r>
              <a:rPr lang="en-US" dirty="0"/>
              <a:t>When you type a statement at the prompt in Python, the statement is executed, meaning the requested action is taken.  </a:t>
            </a:r>
          </a:p>
          <a:p>
            <a:pPr lvl="1"/>
            <a:r>
              <a:rPr lang="en-US" dirty="0"/>
              <a:t>If the statement contains expressions, those expressions may be evaluated as part of the statement execution, however those values will not typically be displayed.  </a:t>
            </a:r>
          </a:p>
          <a:p>
            <a:pPr lvl="1"/>
            <a:r>
              <a:rPr lang="en-US" dirty="0"/>
              <a:t>Statements themselves do not typically have values.</a:t>
            </a:r>
          </a:p>
          <a:p>
            <a:pPr lvl="1"/>
            <a:r>
              <a:rPr lang="en-US" dirty="0"/>
              <a:t>For example, if you type b=a+3, the expression a+3 is evaluated first and that value is assigned to b.  The assignment statement itself has no value and nothing is displayed in the console.</a:t>
            </a:r>
          </a:p>
        </p:txBody>
      </p:sp>
    </p:spTree>
    <p:extLst>
      <p:ext uri="{BB962C8B-B14F-4D97-AF65-F5344CB8AC3E}">
        <p14:creationId xmlns:p14="http://schemas.microsoft.com/office/powerpoint/2010/main" val="8998749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Running Scripts</a:t>
            </a:r>
          </a:p>
        </p:txBody>
      </p:sp>
      <p:sp>
        <p:nvSpPr>
          <p:cNvPr id="3" name="Content Placeholder 2"/>
          <p:cNvSpPr>
            <a:spLocks noGrp="1"/>
          </p:cNvSpPr>
          <p:nvPr>
            <p:ph idx="1"/>
          </p:nvPr>
        </p:nvSpPr>
        <p:spPr/>
        <p:txBody>
          <a:bodyPr>
            <a:normAutofit/>
          </a:bodyPr>
          <a:lstStyle/>
          <a:p>
            <a:r>
              <a:rPr lang="en-US" dirty="0"/>
              <a:t>So far we have been using “interactive mode”, simply typing statements and expressions directly in the console.</a:t>
            </a:r>
          </a:p>
          <a:p>
            <a:r>
              <a:rPr lang="en-US" dirty="0"/>
              <a:t>Alternatively, we can write scripts and use Python in “script mode”.</a:t>
            </a:r>
          </a:p>
          <a:p>
            <a:r>
              <a:rPr lang="en-US" dirty="0"/>
              <a:t>A script is a sequence of Python statements to be executed in order.</a:t>
            </a:r>
          </a:p>
          <a:p>
            <a:r>
              <a:rPr lang="en-US" dirty="0"/>
              <a:t>You can open and edit scripts from within Spyder in the left panel.</a:t>
            </a:r>
          </a:p>
          <a:p>
            <a:r>
              <a:rPr lang="en-US" dirty="0"/>
              <a:t>To run a script, press the “Run” button or F5 (Windows).  Or run one or more lines of the script by selecting them and then clicking the “Run selection” button or F9.</a:t>
            </a:r>
          </a:p>
          <a:p>
            <a:r>
              <a:rPr lang="en-US" dirty="0"/>
              <a:t>To run a script from the command line, type </a:t>
            </a:r>
            <a:r>
              <a:rPr lang="en-US" dirty="0" err="1"/>
              <a:t>runfile</a:t>
            </a:r>
            <a:r>
              <a:rPr lang="en-US" dirty="0"/>
              <a:t>(“filename”) where filename is the name of your script file.  This assumes that the file is located in your current working directory.</a:t>
            </a:r>
          </a:p>
        </p:txBody>
      </p:sp>
    </p:spTree>
    <p:extLst>
      <p:ext uri="{BB962C8B-B14F-4D97-AF65-F5344CB8AC3E}">
        <p14:creationId xmlns:p14="http://schemas.microsoft.com/office/powerpoint/2010/main" val="88138307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Running Scripts</a:t>
            </a:r>
          </a:p>
        </p:txBody>
      </p:sp>
      <p:sp>
        <p:nvSpPr>
          <p:cNvPr id="3" name="Content Placeholder 2"/>
          <p:cNvSpPr>
            <a:spLocks noGrp="1"/>
          </p:cNvSpPr>
          <p:nvPr>
            <p:ph idx="1"/>
          </p:nvPr>
        </p:nvSpPr>
        <p:spPr/>
        <p:txBody>
          <a:bodyPr>
            <a:normAutofit/>
          </a:bodyPr>
          <a:lstStyle/>
          <a:p>
            <a:r>
              <a:rPr lang="en-US" dirty="0"/>
              <a:t>In Spyder, go to Tools-&gt;Preferences-&gt;Current Working Directory to set working directory on startup.</a:t>
            </a:r>
          </a:p>
          <a:p>
            <a:r>
              <a:rPr lang="en-US" dirty="0"/>
              <a:t>Or, manually change the working directory using the </a:t>
            </a:r>
            <a:r>
              <a:rPr lang="en-US" dirty="0" err="1"/>
              <a:t>os</a:t>
            </a:r>
            <a:r>
              <a:rPr lang="en-US" dirty="0"/>
              <a:t> module.</a:t>
            </a:r>
          </a:p>
          <a:p>
            <a:r>
              <a:rPr lang="en-US" dirty="0"/>
              <a:t>&gt; import </a:t>
            </a:r>
            <a:r>
              <a:rPr lang="en-US" dirty="0" err="1"/>
              <a:t>os</a:t>
            </a:r>
            <a:endParaRPr lang="en-US" dirty="0"/>
          </a:p>
          <a:p>
            <a:r>
              <a:rPr lang="en-US" dirty="0"/>
              <a:t>&gt; </a:t>
            </a:r>
            <a:r>
              <a:rPr lang="en-US" dirty="0" err="1"/>
              <a:t>os.chdir</a:t>
            </a:r>
            <a:r>
              <a:rPr lang="en-US" dirty="0"/>
              <a:t>(“&lt;…working directory path…&gt;”)</a:t>
            </a:r>
          </a:p>
          <a:p>
            <a:r>
              <a:rPr lang="en-US" dirty="0"/>
              <a:t>&gt; </a:t>
            </a:r>
            <a:r>
              <a:rPr lang="en-US" dirty="0" err="1"/>
              <a:t>os.getcwd</a:t>
            </a:r>
            <a:r>
              <a:rPr lang="en-US" dirty="0"/>
              <a:t>()  #this displays the current working directory</a:t>
            </a:r>
          </a:p>
        </p:txBody>
      </p:sp>
    </p:spTree>
    <p:extLst>
      <p:ext uri="{BB962C8B-B14F-4D97-AF65-F5344CB8AC3E}">
        <p14:creationId xmlns:p14="http://schemas.microsoft.com/office/powerpoint/2010/main" val="138315589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Running Scripts</a:t>
            </a:r>
          </a:p>
        </p:txBody>
      </p:sp>
      <p:sp>
        <p:nvSpPr>
          <p:cNvPr id="3" name="Content Placeholder 2"/>
          <p:cNvSpPr>
            <a:spLocks noGrp="1"/>
          </p:cNvSpPr>
          <p:nvPr>
            <p:ph idx="1"/>
          </p:nvPr>
        </p:nvSpPr>
        <p:spPr/>
        <p:txBody>
          <a:bodyPr>
            <a:normAutofit/>
          </a:bodyPr>
          <a:lstStyle/>
          <a:p>
            <a:r>
              <a:rPr lang="en-US" dirty="0"/>
              <a:t>A key difference between interactive mode and script mode is that, in script mode, expressions will not display anything to console.</a:t>
            </a:r>
          </a:p>
          <a:p>
            <a:r>
              <a:rPr lang="en-US" dirty="0"/>
              <a:t>When you type 5+4 at console, it displays 9.</a:t>
            </a:r>
          </a:p>
          <a:p>
            <a:r>
              <a:rPr lang="en-US" dirty="0"/>
              <a:t>If you have a line in a script that has only 5+4, Python will evaluate it (yielding the value 9) but it will not display the value 9 or do anything with it.</a:t>
            </a:r>
          </a:p>
          <a:p>
            <a:r>
              <a:rPr lang="en-US" dirty="0"/>
              <a:t>If you want to display the value 9 in script mode, put the expression in a print statement:</a:t>
            </a:r>
          </a:p>
          <a:p>
            <a:r>
              <a:rPr lang="en-US" dirty="0"/>
              <a:t>print(5+4)</a:t>
            </a:r>
          </a:p>
        </p:txBody>
      </p:sp>
    </p:spTree>
    <p:extLst>
      <p:ext uri="{BB962C8B-B14F-4D97-AF65-F5344CB8AC3E}">
        <p14:creationId xmlns:p14="http://schemas.microsoft.com/office/powerpoint/2010/main" val="153342675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Comments</a:t>
            </a:r>
          </a:p>
        </p:txBody>
      </p:sp>
      <p:sp>
        <p:nvSpPr>
          <p:cNvPr id="3" name="Content Placeholder 2"/>
          <p:cNvSpPr>
            <a:spLocks noGrp="1"/>
          </p:cNvSpPr>
          <p:nvPr>
            <p:ph idx="1"/>
          </p:nvPr>
        </p:nvSpPr>
        <p:spPr/>
        <p:txBody>
          <a:bodyPr/>
          <a:lstStyle/>
          <a:p>
            <a:r>
              <a:rPr lang="en-US" dirty="0"/>
              <a:t>Any text placed after a # on a line is a comment.  Comments are ignored by Python.</a:t>
            </a:r>
          </a:p>
          <a:p>
            <a:r>
              <a:rPr lang="en-US" dirty="0"/>
              <a:t>Comments are an important part of programming, especially in a team environment when others may have to read your code, or if you will be providing your code so that others can replicate your results.</a:t>
            </a:r>
          </a:p>
          <a:p>
            <a:r>
              <a:rPr lang="en-US" dirty="0"/>
              <a:t>You should have a comment before every block of code explaining what the purpose of the code is.</a:t>
            </a:r>
          </a:p>
          <a:p>
            <a:r>
              <a:rPr lang="en-US" dirty="0"/>
              <a:t>In some cases, you may want to comment specific lines to explain their purpose if you are doing anything that is not obvious.</a:t>
            </a:r>
          </a:p>
          <a:p>
            <a:r>
              <a:rPr lang="en-US" dirty="0"/>
              <a:t>Whenever you write a function (to be explained later), you should always include a comment explaining the inputs and outputs of the function.  (More details later.)</a:t>
            </a:r>
          </a:p>
        </p:txBody>
      </p:sp>
    </p:spTree>
    <p:extLst>
      <p:ext uri="{BB962C8B-B14F-4D97-AF65-F5344CB8AC3E}">
        <p14:creationId xmlns:p14="http://schemas.microsoft.com/office/powerpoint/2010/main" val="185237394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C9AF83-EBB6-4186-89A1-B60E622D7C4F}"/>
              </a:ext>
            </a:extLst>
          </p:cNvPr>
          <p:cNvSpPr>
            <a:spLocks noGrp="1"/>
          </p:cNvSpPr>
          <p:nvPr>
            <p:ph type="title"/>
          </p:nvPr>
        </p:nvSpPr>
        <p:spPr/>
        <p:txBody>
          <a:bodyPr/>
          <a:lstStyle/>
          <a:p>
            <a:r>
              <a:rPr lang="en-US" dirty="0"/>
              <a:t>Notebooks</a:t>
            </a:r>
          </a:p>
        </p:txBody>
      </p:sp>
      <p:sp>
        <p:nvSpPr>
          <p:cNvPr id="3" name="Content Placeholder 2">
            <a:extLst>
              <a:ext uri="{FF2B5EF4-FFF2-40B4-BE49-F238E27FC236}">
                <a16:creationId xmlns:a16="http://schemas.microsoft.com/office/drawing/2014/main" id="{606E1CB7-DA13-4BA8-997B-75300E573158}"/>
              </a:ext>
            </a:extLst>
          </p:cNvPr>
          <p:cNvSpPr>
            <a:spLocks noGrp="1"/>
          </p:cNvSpPr>
          <p:nvPr>
            <p:ph idx="1"/>
          </p:nvPr>
        </p:nvSpPr>
        <p:spPr/>
        <p:txBody>
          <a:bodyPr/>
          <a:lstStyle/>
          <a:p>
            <a:r>
              <a:rPr lang="en-US" dirty="0"/>
              <a:t>An alternative to writing scripts (with .</a:t>
            </a:r>
            <a:r>
              <a:rPr lang="en-US" dirty="0" err="1"/>
              <a:t>py</a:t>
            </a:r>
            <a:r>
              <a:rPr lang="en-US" dirty="0"/>
              <a:t> extension) that you run in an IDE (integrated development environment) like Spyder is to create notebooks.</a:t>
            </a:r>
          </a:p>
          <a:p>
            <a:r>
              <a:rPr lang="en-US" dirty="0" err="1"/>
              <a:t>Jupyter</a:t>
            </a:r>
            <a:r>
              <a:rPr lang="en-US" dirty="0"/>
              <a:t> Notebooks (with .</a:t>
            </a:r>
            <a:r>
              <a:rPr lang="en-US" dirty="0" err="1"/>
              <a:t>ipynb</a:t>
            </a:r>
            <a:r>
              <a:rPr lang="en-US" dirty="0"/>
              <a:t> extension) provide a way to integrate your code with formatted text, math formulas, plots, and more.  It is useful for creating finished documents that report results generated from your code.</a:t>
            </a:r>
          </a:p>
          <a:p>
            <a:r>
              <a:rPr lang="en-US" dirty="0"/>
              <a:t>My preference is to do initial stages of programming in traditional IDE (like Spyder) because it has features that make debugging easier (such as the variable explorer and the debugger).  Working code can then be easily copied into a notebook for generating a report.  </a:t>
            </a:r>
          </a:p>
        </p:txBody>
      </p:sp>
    </p:spTree>
    <p:extLst>
      <p:ext uri="{BB962C8B-B14F-4D97-AF65-F5344CB8AC3E}">
        <p14:creationId xmlns:p14="http://schemas.microsoft.com/office/powerpoint/2010/main" val="406119654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8DAD22-86BF-4AED-83CA-D33EA4D859D3}"/>
              </a:ext>
            </a:extLst>
          </p:cNvPr>
          <p:cNvSpPr>
            <a:spLocks noGrp="1"/>
          </p:cNvSpPr>
          <p:nvPr>
            <p:ph type="title"/>
          </p:nvPr>
        </p:nvSpPr>
        <p:spPr/>
        <p:txBody>
          <a:bodyPr/>
          <a:lstStyle/>
          <a:p>
            <a:r>
              <a:rPr lang="en-US" dirty="0" err="1"/>
              <a:t>Jupyter</a:t>
            </a:r>
            <a:r>
              <a:rPr lang="en-US" dirty="0"/>
              <a:t> Notebooks</a:t>
            </a:r>
          </a:p>
        </p:txBody>
      </p:sp>
      <p:sp>
        <p:nvSpPr>
          <p:cNvPr id="3" name="Content Placeholder 2">
            <a:extLst>
              <a:ext uri="{FF2B5EF4-FFF2-40B4-BE49-F238E27FC236}">
                <a16:creationId xmlns:a16="http://schemas.microsoft.com/office/drawing/2014/main" id="{844F00E6-B693-4357-AE6E-FBDC2DF94152}"/>
              </a:ext>
            </a:extLst>
          </p:cNvPr>
          <p:cNvSpPr>
            <a:spLocks noGrp="1"/>
          </p:cNvSpPr>
          <p:nvPr>
            <p:ph idx="1"/>
          </p:nvPr>
        </p:nvSpPr>
        <p:spPr/>
        <p:txBody>
          <a:bodyPr/>
          <a:lstStyle/>
          <a:p>
            <a:r>
              <a:rPr lang="en-US" dirty="0" err="1"/>
              <a:t>Jupter</a:t>
            </a:r>
            <a:r>
              <a:rPr lang="en-US" dirty="0"/>
              <a:t> Notebooks are made up of cells.</a:t>
            </a:r>
          </a:p>
          <a:p>
            <a:r>
              <a:rPr lang="en-US" dirty="0"/>
              <a:t>A cell can contain “code” or “markdown”.  </a:t>
            </a:r>
          </a:p>
          <a:p>
            <a:r>
              <a:rPr lang="en-US" dirty="0"/>
              <a:t>Any python code can be placed in a “code” cell.  When you “run” a cell with code, the code is evaluated and any output generated by the code is displayed.</a:t>
            </a:r>
          </a:p>
          <a:p>
            <a:r>
              <a:rPr lang="en-US" dirty="0"/>
              <a:t>“Markdown” is a language to format text.  For example, markdown has syntax for creating headings, bold, italics, bullet lists, numbered lists, math equations (using latex syntax), links, and more.   When you “run” a cell with markdown, the markdown is converted to formatted text.</a:t>
            </a:r>
          </a:p>
          <a:p>
            <a:r>
              <a:rPr lang="en-US" dirty="0"/>
              <a:t>You can convert </a:t>
            </a:r>
            <a:r>
              <a:rPr lang="en-US" dirty="0" err="1"/>
              <a:t>jupyter</a:t>
            </a:r>
            <a:r>
              <a:rPr lang="en-US" dirty="0"/>
              <a:t> notebooks to HTML or PDF, and you can also extract all code into a .</a:t>
            </a:r>
            <a:r>
              <a:rPr lang="en-US" dirty="0" err="1"/>
              <a:t>py</a:t>
            </a:r>
            <a:r>
              <a:rPr lang="en-US" dirty="0"/>
              <a:t> file.</a:t>
            </a:r>
          </a:p>
          <a:p>
            <a:endParaRPr lang="en-US" dirty="0"/>
          </a:p>
        </p:txBody>
      </p:sp>
    </p:spTree>
    <p:extLst>
      <p:ext uri="{BB962C8B-B14F-4D97-AF65-F5344CB8AC3E}">
        <p14:creationId xmlns:p14="http://schemas.microsoft.com/office/powerpoint/2010/main" val="117946824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799466-68F1-4EFB-BF30-54D518246CDB}"/>
              </a:ext>
            </a:extLst>
          </p:cNvPr>
          <p:cNvSpPr>
            <a:spLocks noGrp="1"/>
          </p:cNvSpPr>
          <p:nvPr>
            <p:ph type="title"/>
          </p:nvPr>
        </p:nvSpPr>
        <p:spPr/>
        <p:txBody>
          <a:bodyPr/>
          <a:lstStyle/>
          <a:p>
            <a:r>
              <a:rPr lang="en-US" dirty="0"/>
              <a:t>Documentation of Markdown syntax</a:t>
            </a:r>
          </a:p>
        </p:txBody>
      </p:sp>
      <p:sp>
        <p:nvSpPr>
          <p:cNvPr id="3" name="Content Placeholder 2">
            <a:extLst>
              <a:ext uri="{FF2B5EF4-FFF2-40B4-BE49-F238E27FC236}">
                <a16:creationId xmlns:a16="http://schemas.microsoft.com/office/drawing/2014/main" id="{FFC77FF5-CEB4-4732-B0C2-227B39A56DA9}"/>
              </a:ext>
            </a:extLst>
          </p:cNvPr>
          <p:cNvSpPr>
            <a:spLocks noGrp="1"/>
          </p:cNvSpPr>
          <p:nvPr>
            <p:ph idx="1"/>
          </p:nvPr>
        </p:nvSpPr>
        <p:spPr/>
        <p:txBody>
          <a:bodyPr/>
          <a:lstStyle/>
          <a:p>
            <a:r>
              <a:rPr lang="en-US" dirty="0">
                <a:hlinkClick r:id="rId2"/>
              </a:rPr>
              <a:t>https://jupyter-notebook.readthedocs.io/en/stable/examples/Notebook/Working%20With%20Markdown%20Cells.html</a:t>
            </a:r>
            <a:endParaRPr lang="en-US" dirty="0"/>
          </a:p>
          <a:p>
            <a:endParaRPr lang="en-US" dirty="0"/>
          </a:p>
          <a:p>
            <a:r>
              <a:rPr lang="en-US" dirty="0"/>
              <a:t>https://www.markdownguide.org/basic-syntax/</a:t>
            </a:r>
          </a:p>
        </p:txBody>
      </p:sp>
    </p:spTree>
    <p:extLst>
      <p:ext uri="{BB962C8B-B14F-4D97-AF65-F5344CB8AC3E}">
        <p14:creationId xmlns:p14="http://schemas.microsoft.com/office/powerpoint/2010/main" val="2715857813"/>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docProps/app.xml><?xml version="1.0" encoding="utf-8"?>
<Properties xmlns="http://schemas.openxmlformats.org/officeDocument/2006/extended-properties" xmlns:vt="http://schemas.openxmlformats.org/officeDocument/2006/docPropsVTypes">
  <Template>Retrospect</Template>
  <TotalTime>23691</TotalTime>
  <Words>2457</Words>
  <Application>Microsoft Office PowerPoint</Application>
  <PresentationFormat>Widescreen</PresentationFormat>
  <Paragraphs>243</Paragraphs>
  <Slides>31</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31</vt:i4>
      </vt:variant>
    </vt:vector>
  </HeadingPairs>
  <TitlesOfParts>
    <vt:vector size="34" baseType="lpstr">
      <vt:lpstr>Calibri</vt:lpstr>
      <vt:lpstr>Calibri Light</vt:lpstr>
      <vt:lpstr>Retrospect</vt:lpstr>
      <vt:lpstr>Python as a Calculator</vt:lpstr>
      <vt:lpstr>Python Command Line </vt:lpstr>
      <vt:lpstr>Functions</vt:lpstr>
      <vt:lpstr>Some built-in functions</vt:lpstr>
      <vt:lpstr>More math functions (in the math module)</vt:lpstr>
      <vt:lpstr>More arithmetic operators</vt:lpstr>
      <vt:lpstr>Data Types</vt:lpstr>
      <vt:lpstr>More on bool and related operators</vt:lpstr>
      <vt:lpstr>Boolean Values and Operators</vt:lpstr>
      <vt:lpstr>Boolean Operators</vt:lpstr>
      <vt:lpstr>Boolean Operators</vt:lpstr>
      <vt:lpstr>Boolean Operators</vt:lpstr>
      <vt:lpstr>Boolean Operators</vt:lpstr>
      <vt:lpstr>int vs float</vt:lpstr>
      <vt:lpstr>int vs float</vt:lpstr>
      <vt:lpstr>Literals and Variables</vt:lpstr>
      <vt:lpstr>Variables</vt:lpstr>
      <vt:lpstr>Variables</vt:lpstr>
      <vt:lpstr>Variables</vt:lpstr>
      <vt:lpstr>Variables</vt:lpstr>
      <vt:lpstr>Variable Names</vt:lpstr>
      <vt:lpstr>print function</vt:lpstr>
      <vt:lpstr>Statement vs expression</vt:lpstr>
      <vt:lpstr>Statement vs expression</vt:lpstr>
      <vt:lpstr>Running Scripts</vt:lpstr>
      <vt:lpstr>Running Scripts</vt:lpstr>
      <vt:lpstr>Running Scripts</vt:lpstr>
      <vt:lpstr>Comments</vt:lpstr>
      <vt:lpstr>Notebooks</vt:lpstr>
      <vt:lpstr>Jupyter Notebooks</vt:lpstr>
      <vt:lpstr>Documentation of Markdown syntax</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 as a Calculator</dc:title>
  <dc:creator>Aric Shafran</dc:creator>
  <cp:lastModifiedBy>Aric P. Shafran</cp:lastModifiedBy>
  <cp:revision>52</cp:revision>
  <dcterms:created xsi:type="dcterms:W3CDTF">2014-08-13T22:41:03Z</dcterms:created>
  <dcterms:modified xsi:type="dcterms:W3CDTF">2024-09-24T03:55:10Z</dcterms:modified>
</cp:coreProperties>
</file>